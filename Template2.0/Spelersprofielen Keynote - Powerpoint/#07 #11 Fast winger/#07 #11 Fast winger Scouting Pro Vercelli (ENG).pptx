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119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94" name="Shape 119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8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2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7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8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9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0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1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2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6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7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5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6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57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0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1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7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7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nel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8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8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28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87" name="Snelhei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Snelheid</a:t>
            </a:r>
          </a:p>
        </p:txBody>
      </p:sp>
      <p:sp>
        <p:nvSpPr>
          <p:cNvPr id="28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“Absolute snelheid zonder bal” “Snelheid in de acties met bal” “Startsnelheid”</a:t>
            </a:r>
          </a:p>
        </p:txBody>
      </p:sp>
      <p:sp>
        <p:nvSpPr>
          <p:cNvPr id="28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Paslengte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Grote / kleine afstanden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1e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29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9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29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0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0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5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306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307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0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lap/underl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1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1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2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23" name="Overlap/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Overlap/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Underlap</a:t>
            </a:r>
          </a:p>
        </p:txBody>
      </p:sp>
      <p:sp>
        <p:nvSpPr>
          <p:cNvPr id="324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“Ball reception after making an overlapping / underlapping run”</a:t>
            </a:r>
          </a:p>
        </p:txBody>
      </p:sp>
      <p:sp>
        <p:nvSpPr>
          <p:cNvPr id="32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Pace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2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pe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3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3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4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1" name="Speed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342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34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4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5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5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35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59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360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3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7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77" name="Flair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3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“Straalt zelfvertrouwen 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energie uit om resultaten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 behalen”</a:t>
            </a:r>
          </a:p>
        </p:txBody>
      </p:sp>
      <p:sp>
        <p:nvSpPr>
          <p:cNvPr id="37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Uitstraling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Aanwezig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Enthousiast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Extra motivatie bij druk van wedstrijd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8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8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8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396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39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3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oelgericht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0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0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1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13" name="Doel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gerichtheid</a:t>
            </a:r>
          </a:p>
        </p:txBody>
      </p:sp>
      <p:sp>
        <p:nvSpPr>
          <p:cNvPr id="414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“Doelpogingen uit kansen (voorzet, steekbal, individuele actie of spelhervatting) met hoofd of voet”</a:t>
            </a:r>
          </a:p>
        </p:txBody>
      </p:sp>
      <p:sp>
        <p:nvSpPr>
          <p:cNvPr id="415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Zone herkenning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 positie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voor de goal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Scoringskansen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Tussen de palen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Doel georiënteerd 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epte loopacties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2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2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3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31" name="Diepte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Diepte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loopacties</a:t>
            </a:r>
          </a:p>
        </p:txBody>
      </p:sp>
      <p:sp>
        <p:nvSpPr>
          <p:cNvPr id="432" name="TextBox 30"/>
          <p:cNvSpPr txBox="1"/>
          <p:nvPr/>
        </p:nvSpPr>
        <p:spPr>
          <a:xfrm>
            <a:off x="19855643" y="2185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“Herkennen van EN het vrijlopen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ruimte achter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 verdediging”</a:t>
            </a:r>
          </a:p>
        </p:txBody>
      </p:sp>
      <p:sp>
        <p:nvSpPr>
          <p:cNvPr id="4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 positie 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Opofferingsloop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bij spelen tegenstander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4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4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4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49" name="Voorbij spelen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Voorbij spelen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tegenstander</a:t>
            </a:r>
          </a:p>
        </p:txBody>
      </p:sp>
      <p:sp>
        <p:nvSpPr>
          <p:cNvPr id="450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“Pogingen om tegenstanders voorbij te spelen met een passeer actie of een 1-2 combinatie”</a:t>
            </a:r>
          </a:p>
        </p:txBody>
      </p:sp>
      <p:sp>
        <p:nvSpPr>
          <p:cNvPr id="4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Kracht of snelheid?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Binnendoor-buitenom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Combinatiespel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5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6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6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6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67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46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46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4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5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4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487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03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5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50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ep ru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1" name="Deep run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52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“Forward runs starting from a deeper position on the field, usually from midfield or defense, moving into attacking areas”</a:t>
            </a:r>
          </a:p>
        </p:txBody>
      </p:sp>
      <p:sp>
        <p:nvSpPr>
          <p:cNvPr id="523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level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Sacrifice run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ribbling past oppon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9" name="Dribbling past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Dribbling past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opponent</a:t>
            </a:r>
          </a:p>
        </p:txBody>
      </p:sp>
      <p:sp>
        <p:nvSpPr>
          <p:cNvPr id="540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5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fstandsschot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5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57" name="Afstands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Afstands-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schot</a:t>
            </a:r>
          </a:p>
        </p:txBody>
      </p:sp>
      <p:sp>
        <p:nvSpPr>
          <p:cNvPr id="558" name="TextBox 30"/>
          <p:cNvSpPr txBox="1"/>
          <p:nvPr/>
        </p:nvSpPr>
        <p:spPr>
          <a:xfrm>
            <a:off x="19855643" y="2212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“Pogingen om tegenstanders voorbij te spelen met een passeer actie of een 1-2 combinatie”</a:t>
            </a:r>
          </a:p>
        </p:txBody>
      </p:sp>
      <p:sp>
        <p:nvSpPr>
          <p:cNvPr id="5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schiet speler?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Kort of lange hoek?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Kracht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zett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7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75" name="Voorzetten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Voorzetten</a:t>
            </a:r>
          </a:p>
        </p:txBody>
      </p:sp>
      <p:sp>
        <p:nvSpPr>
          <p:cNvPr id="576" name="TextBox 30"/>
          <p:cNvSpPr txBox="1"/>
          <p:nvPr/>
        </p:nvSpPr>
        <p:spPr>
          <a:xfrm>
            <a:off x="19855643" y="2338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“Voorzetten vanaf de helft van de helft van de tegenstander”</a:t>
            </a:r>
          </a:p>
        </p:txBody>
      </p:sp>
      <p:sp>
        <p:nvSpPr>
          <p:cNvPr id="5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Overzicht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 locatie (bal)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Waarvandaan?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Soort voorzet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90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59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0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1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5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6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7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8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0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1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2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4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62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4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41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642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643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9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660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6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hooting from dista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7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677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678" name="Shooting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Shooting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distance</a:t>
            </a:r>
          </a:p>
        </p:txBody>
      </p:sp>
      <p:sp>
        <p:nvSpPr>
          <p:cNvPr id="679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680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8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rosse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89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0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1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2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93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9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696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  <p:sp>
        <p:nvSpPr>
          <p:cNvPr id="697" name="Crosse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Crosses</a:t>
            </a:r>
          </a:p>
        </p:txBody>
      </p:sp>
      <p:sp>
        <p:nvSpPr>
          <p:cNvPr id="698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“Open play pass, from outside the score box in the flank zones in the final third, into the central zone of the score box”</a:t>
            </a:r>
          </a:p>
        </p:txBody>
      </p:sp>
      <p:sp>
        <p:nvSpPr>
          <p:cNvPr id="69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Cross location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cross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?a</a:t>
            </a:r>
          </a:p>
        </p:txBody>
      </p:sp>
      <p:sp>
        <p:nvSpPr>
          <p:cNvPr id="70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70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1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1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1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5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71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71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1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ribbling past oppon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72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2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3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3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33" name="Dribbling past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Dribbling past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opponent</a:t>
            </a:r>
          </a:p>
        </p:txBody>
      </p:sp>
      <p:sp>
        <p:nvSpPr>
          <p:cNvPr id="73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73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3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48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74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6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6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6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6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6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3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4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5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6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82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8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78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1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9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93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94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95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3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06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804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805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7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08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809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810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811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8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820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821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822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823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824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825" name="H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6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827" name="Groei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8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829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830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831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832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Rechthoek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4" name="Rechthoek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5" name="Rechthoek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6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837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38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839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840" name="Lijn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1" name="Lijn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2" name="Lijn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3" name="Lijn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84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853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854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85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856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85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4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865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866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867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flai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6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7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8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8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8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84" name="Flair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885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886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8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4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9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9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9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9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9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0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02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903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904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0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2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1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1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1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1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0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921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922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2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pee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0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31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2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3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4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35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3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38" name="Speed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939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940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4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mpos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8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49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0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1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52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3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5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6" name="Composure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957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958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5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hooting from distanc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6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67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68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69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70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71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7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74" name="Shooting…"/>
          <p:cNvSpPr txBox="1"/>
          <p:nvPr/>
        </p:nvSpPr>
        <p:spPr>
          <a:xfrm>
            <a:off x="19522346" y="316792"/>
            <a:ext cx="22098604" cy="144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Shooting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7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from distance</a:t>
            </a:r>
          </a:p>
        </p:txBody>
      </p:sp>
      <p:sp>
        <p:nvSpPr>
          <p:cNvPr id="975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976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7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eep ru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4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85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86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87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88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9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99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92" name="Deep runs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993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“Forward runs starting from a deeper position on the field, usually from midfield or defense, moving into attacking areas”</a:t>
            </a:r>
          </a:p>
        </p:txBody>
      </p:sp>
      <p:sp>
        <p:nvSpPr>
          <p:cNvPr id="994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level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Sacrifice run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99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ribbling past oppon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2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1003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4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5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06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07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100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10" name="Dribbling past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Dribbling past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opponent</a:t>
            </a:r>
          </a:p>
        </p:txBody>
      </p:sp>
      <p:sp>
        <p:nvSpPr>
          <p:cNvPr id="1011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1012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01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1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2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3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4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25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1026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7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8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29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0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1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2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3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4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5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6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7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38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39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40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41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2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3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4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5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46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7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8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9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0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1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2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3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4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5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6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8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59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60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10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8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10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1072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10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0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10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10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0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10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10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10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10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10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6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7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8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09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0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1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2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114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115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116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117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118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119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120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1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2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3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4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5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6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7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8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29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130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131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132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3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4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5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36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137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138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139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140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141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2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3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4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5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6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7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48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149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0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151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2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3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4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155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156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157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158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59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160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161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162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163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16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8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181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1179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1180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182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83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pic>
        <p:nvPicPr>
          <p:cNvPr id="1184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5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6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118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Relationship Id="rId48" Type="http://schemas.openxmlformats.org/officeDocument/2006/relationships/slideLayout" Target="../slideLayouts/slideLayout42.xml"/><Relationship Id="rId49" Type="http://schemas.openxmlformats.org/officeDocument/2006/relationships/slideLayout" Target="../slideLayouts/slideLayout43.xml"/><Relationship Id="rId50" Type="http://schemas.openxmlformats.org/officeDocument/2006/relationships/slideLayout" Target="../slideLayouts/slideLayout44.xml"/><Relationship Id="rId51" Type="http://schemas.openxmlformats.org/officeDocument/2006/relationships/slideLayout" Target="../slideLayouts/slideLayout45.xml"/><Relationship Id="rId52" Type="http://schemas.openxmlformats.org/officeDocument/2006/relationships/slideLayout" Target="../slideLayouts/slideLayout46.xml"/><Relationship Id="rId53" Type="http://schemas.openxmlformats.org/officeDocument/2006/relationships/slideLayout" Target="../slideLayouts/slideLayout47.xml"/><Relationship Id="rId54" Type="http://schemas.openxmlformats.org/officeDocument/2006/relationships/slideLayout" Target="../slideLayouts/slideLayout48.xml"/><Relationship Id="rId55" Type="http://schemas.openxmlformats.org/officeDocument/2006/relationships/slideLayout" Target="../slideLayouts/slideLayout49.xml"/><Relationship Id="rId56" Type="http://schemas.openxmlformats.org/officeDocument/2006/relationships/slideLayout" Target="../slideLayouts/slideLayout50.xml"/><Relationship Id="rId57" Type="http://schemas.openxmlformats.org/officeDocument/2006/relationships/slideLayout" Target="../slideLayouts/slideLayout5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Hoofdtekst - niveau één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Dia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  <p:sldLayoutId id="2147483690" r:id="rId48"/>
    <p:sldLayoutId id="2147483691" r:id="rId49"/>
    <p:sldLayoutId id="2147483692" r:id="rId50"/>
    <p:sldLayoutId id="2147483693" r:id="rId51"/>
    <p:sldLayoutId id="2147483694" r:id="rId52"/>
    <p:sldLayoutId id="2147483695" r:id="rId53"/>
    <p:sldLayoutId id="2147483696" r:id="rId54"/>
    <p:sldLayoutId id="2147483697" r:id="rId55"/>
    <p:sldLayoutId id="2147483698" r:id="rId56"/>
    <p:sldLayoutId id="2147483699" r:id="rId5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2.png"/><Relationship Id="rId4" Type="http://schemas.openxmlformats.org/officeDocument/2006/relationships/slide" Target="slide1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" Target="slide6.xml"/><Relationship Id="rId3" Type="http://schemas.openxmlformats.org/officeDocument/2006/relationships/slide" Target="slide8.xml"/><Relationship Id="rId4" Type="http://schemas.openxmlformats.org/officeDocument/2006/relationships/slide" Target="slide10.xml"/><Relationship Id="rId5" Type="http://schemas.openxmlformats.org/officeDocument/2006/relationships/slide" Target="slide9.xml"/><Relationship Id="rId6" Type="http://schemas.openxmlformats.org/officeDocument/2006/relationships/slide" Target="slide11.xml"/><Relationship Id="rId7" Type="http://schemas.openxmlformats.org/officeDocument/2006/relationships/slide" Target="slide7.xml"/><Relationship Id="rId8" Type="http://schemas.openxmlformats.org/officeDocument/2006/relationships/slide" Target="slide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7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3.png"/><Relationship Id="rId3" Type="http://schemas.openxmlformats.org/officeDocument/2006/relationships/slide" Target="slide4.xml"/><Relationship Id="rId4" Type="http://schemas.openxmlformats.org/officeDocument/2006/relationships/image" Target="../media/image4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TextBox 28"/>
          <p:cNvSpPr txBox="1"/>
          <p:nvPr/>
        </p:nvSpPr>
        <p:spPr>
          <a:xfrm>
            <a:off x="12679937" y="7643110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  <p:pic>
        <p:nvPicPr>
          <p:cNvPr id="1197" name="Achterkant Pro Vercelli nr.7.png" descr="Achterkant Pro Vercelli nr.7.png"/>
          <p:cNvPicPr>
            <a:picLocks noChangeAspect="1"/>
          </p:cNvPicPr>
          <p:nvPr/>
        </p:nvPicPr>
        <p:blipFill>
          <a:blip r:embed="rId2">
            <a:extLst/>
          </a:blip>
          <a:srcRect l="14949" t="0" r="14949" b="0"/>
          <a:stretch>
            <a:fillRect/>
          </a:stretch>
        </p:blipFill>
        <p:spPr>
          <a:xfrm>
            <a:off x="18508125" y="7472384"/>
            <a:ext cx="2642323" cy="2642322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  <p:pic>
        <p:nvPicPr>
          <p:cNvPr id="1198" name="Achterkant Pro Vercelli nr.11.png" descr="Achterkant Pro Vercelli nr.11.png"/>
          <p:cNvPicPr>
            <a:picLocks noChangeAspect="1"/>
          </p:cNvPicPr>
          <p:nvPr/>
        </p:nvPicPr>
        <p:blipFill>
          <a:blip r:embed="rId3">
            <a:extLst/>
          </a:blip>
          <a:srcRect l="14949" t="0" r="14949" b="0"/>
          <a:stretch>
            <a:fillRect/>
          </a:stretch>
        </p:blipFill>
        <p:spPr>
          <a:xfrm>
            <a:off x="19997538" y="7472420"/>
            <a:ext cx="2642323" cy="2642323"/>
          </a:xfrm>
          <a:prstGeom prst="rect">
            <a:avLst/>
          </a:prstGeom>
          <a:ln w="12700">
            <a:miter lim="400000"/>
          </a:ln>
          <a:effectLst>
            <a:reflection blurRad="0" stA="50000" stPos="0" endA="0" endPos="40000" dist="0" dir="5400000" fadeDir="5400000" sx="100000" sy="-100000" kx="0" ky="0" algn="bl" rotWithShape="0"/>
          </a:effectLst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1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202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203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4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5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6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7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8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09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0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1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2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3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4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5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6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17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218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219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220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221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222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23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24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225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1226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227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grpSp>
        <p:nvGrpSpPr>
          <p:cNvPr id="1230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22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29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233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231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5">
                <a:hueOff val="-82419"/>
                <a:satOff val="-9513"/>
                <a:lumOff val="-16343"/>
              </a:schemeClr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32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236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234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5">
                <a:hueOff val="-82419"/>
                <a:satOff val="-9513"/>
                <a:lumOff val="-16343"/>
              </a:schemeClr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35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239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237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38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242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240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41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245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243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44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248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246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47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251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24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50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254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252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53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257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255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56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60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25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59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61" name="Fast winger nr. 07 &amp; 11"/>
          <p:cNvSpPr txBox="1"/>
          <p:nvPr/>
        </p:nvSpPr>
        <p:spPr>
          <a:xfrm>
            <a:off x="374971" y="10045556"/>
            <a:ext cx="3397918" cy="11226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7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Fast winger nr. 07 &amp; 11</a:t>
            </a:r>
          </a:p>
        </p:txBody>
      </p:sp>
      <p:sp>
        <p:nvSpPr>
          <p:cNvPr id="126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6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64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Foto</a:t>
            </a:r>
          </a:p>
        </p:txBody>
      </p:sp>
      <p:sp>
        <p:nvSpPr>
          <p:cNvPr id="1265" name="Composure"/>
          <p:cNvSpPr txBox="1"/>
          <p:nvPr/>
        </p:nvSpPr>
        <p:spPr>
          <a:xfrm>
            <a:off x="16858499" y="5733427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266" name="Deep runs"/>
          <p:cNvSpPr txBox="1"/>
          <p:nvPr/>
        </p:nvSpPr>
        <p:spPr>
          <a:xfrm>
            <a:off x="16858499" y="5219408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1267" name="Dribbling past opponent"/>
          <p:cNvSpPr txBox="1"/>
          <p:nvPr/>
        </p:nvSpPr>
        <p:spPr>
          <a:xfrm>
            <a:off x="16858499" y="4731973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268" name="Ster"/>
          <p:cNvSpPr/>
          <p:nvPr/>
        </p:nvSpPr>
        <p:spPr>
          <a:xfrm>
            <a:off x="20523469" y="521681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9" name="Ster"/>
          <p:cNvSpPr/>
          <p:nvPr/>
        </p:nvSpPr>
        <p:spPr>
          <a:xfrm>
            <a:off x="20862058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0" name="Ster"/>
          <p:cNvSpPr/>
          <p:nvPr/>
        </p:nvSpPr>
        <p:spPr>
          <a:xfrm>
            <a:off x="21200647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1" name="Ster"/>
          <p:cNvSpPr/>
          <p:nvPr/>
        </p:nvSpPr>
        <p:spPr>
          <a:xfrm>
            <a:off x="21539235" y="521681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2" name="Ster"/>
          <p:cNvSpPr/>
          <p:nvPr/>
        </p:nvSpPr>
        <p:spPr>
          <a:xfrm>
            <a:off x="21873086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3" name="Ster"/>
          <p:cNvSpPr/>
          <p:nvPr/>
        </p:nvSpPr>
        <p:spPr>
          <a:xfrm>
            <a:off x="22211675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er"/>
          <p:cNvSpPr/>
          <p:nvPr/>
        </p:nvSpPr>
        <p:spPr>
          <a:xfrm>
            <a:off x="22550263" y="521681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er"/>
          <p:cNvSpPr/>
          <p:nvPr/>
        </p:nvSpPr>
        <p:spPr>
          <a:xfrm>
            <a:off x="22888852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er"/>
          <p:cNvSpPr/>
          <p:nvPr/>
        </p:nvSpPr>
        <p:spPr>
          <a:xfrm>
            <a:off x="23223442" y="521681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er"/>
          <p:cNvSpPr/>
          <p:nvPr/>
        </p:nvSpPr>
        <p:spPr>
          <a:xfrm>
            <a:off x="23562031" y="521681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er"/>
          <p:cNvSpPr/>
          <p:nvPr/>
        </p:nvSpPr>
        <p:spPr>
          <a:xfrm>
            <a:off x="20523469" y="57115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er"/>
          <p:cNvSpPr/>
          <p:nvPr/>
        </p:nvSpPr>
        <p:spPr>
          <a:xfrm>
            <a:off x="20862058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er"/>
          <p:cNvSpPr/>
          <p:nvPr/>
        </p:nvSpPr>
        <p:spPr>
          <a:xfrm>
            <a:off x="21200647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er"/>
          <p:cNvSpPr/>
          <p:nvPr/>
        </p:nvSpPr>
        <p:spPr>
          <a:xfrm>
            <a:off x="21539235" y="57115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er"/>
          <p:cNvSpPr/>
          <p:nvPr/>
        </p:nvSpPr>
        <p:spPr>
          <a:xfrm>
            <a:off x="21873086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3" name="Ster"/>
          <p:cNvSpPr/>
          <p:nvPr/>
        </p:nvSpPr>
        <p:spPr>
          <a:xfrm>
            <a:off x="22211675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4" name="Ster"/>
          <p:cNvSpPr/>
          <p:nvPr/>
        </p:nvSpPr>
        <p:spPr>
          <a:xfrm>
            <a:off x="22550263" y="57115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5" name="Ster"/>
          <p:cNvSpPr/>
          <p:nvPr/>
        </p:nvSpPr>
        <p:spPr>
          <a:xfrm>
            <a:off x="22888852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6" name="Ster"/>
          <p:cNvSpPr/>
          <p:nvPr/>
        </p:nvSpPr>
        <p:spPr>
          <a:xfrm>
            <a:off x="23223442" y="57115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7" name="Ster"/>
          <p:cNvSpPr/>
          <p:nvPr/>
        </p:nvSpPr>
        <p:spPr>
          <a:xfrm>
            <a:off x="23562031" y="57115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er"/>
          <p:cNvSpPr/>
          <p:nvPr/>
        </p:nvSpPr>
        <p:spPr>
          <a:xfrm>
            <a:off x="20523469" y="47299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er"/>
          <p:cNvSpPr/>
          <p:nvPr/>
        </p:nvSpPr>
        <p:spPr>
          <a:xfrm>
            <a:off x="20862058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er"/>
          <p:cNvSpPr/>
          <p:nvPr/>
        </p:nvSpPr>
        <p:spPr>
          <a:xfrm>
            <a:off x="21200647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er"/>
          <p:cNvSpPr/>
          <p:nvPr/>
        </p:nvSpPr>
        <p:spPr>
          <a:xfrm>
            <a:off x="21539235" y="47299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er"/>
          <p:cNvSpPr/>
          <p:nvPr/>
        </p:nvSpPr>
        <p:spPr>
          <a:xfrm>
            <a:off x="21873086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er"/>
          <p:cNvSpPr/>
          <p:nvPr/>
        </p:nvSpPr>
        <p:spPr>
          <a:xfrm>
            <a:off x="22211675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er"/>
          <p:cNvSpPr/>
          <p:nvPr/>
        </p:nvSpPr>
        <p:spPr>
          <a:xfrm>
            <a:off x="22550263" y="47299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er"/>
          <p:cNvSpPr/>
          <p:nvPr/>
        </p:nvSpPr>
        <p:spPr>
          <a:xfrm>
            <a:off x="22888852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er"/>
          <p:cNvSpPr/>
          <p:nvPr/>
        </p:nvSpPr>
        <p:spPr>
          <a:xfrm>
            <a:off x="23223442" y="4729995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7" name="Ster"/>
          <p:cNvSpPr/>
          <p:nvPr/>
        </p:nvSpPr>
        <p:spPr>
          <a:xfrm>
            <a:off x="23562031" y="4729995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8" name="Speed"/>
          <p:cNvSpPr txBox="1"/>
          <p:nvPr/>
        </p:nvSpPr>
        <p:spPr>
          <a:xfrm>
            <a:off x="16840336" y="6209355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299" name="Ster"/>
          <p:cNvSpPr/>
          <p:nvPr/>
        </p:nvSpPr>
        <p:spPr>
          <a:xfrm>
            <a:off x="20514416" y="6198057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0" name="Ster"/>
          <p:cNvSpPr/>
          <p:nvPr/>
        </p:nvSpPr>
        <p:spPr>
          <a:xfrm>
            <a:off x="20853004" y="6198057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1" name="Ster"/>
          <p:cNvSpPr/>
          <p:nvPr/>
        </p:nvSpPr>
        <p:spPr>
          <a:xfrm>
            <a:off x="21191594" y="6198057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er"/>
          <p:cNvSpPr/>
          <p:nvPr/>
        </p:nvSpPr>
        <p:spPr>
          <a:xfrm>
            <a:off x="21530183" y="6198057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3" name="Ster"/>
          <p:cNvSpPr/>
          <p:nvPr/>
        </p:nvSpPr>
        <p:spPr>
          <a:xfrm>
            <a:off x="21864032" y="6198057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4" name="Ster"/>
          <p:cNvSpPr/>
          <p:nvPr/>
        </p:nvSpPr>
        <p:spPr>
          <a:xfrm>
            <a:off x="22202621" y="6198057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5" name="Ster"/>
          <p:cNvSpPr/>
          <p:nvPr/>
        </p:nvSpPr>
        <p:spPr>
          <a:xfrm>
            <a:off x="22541211" y="6198057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6" name="Ster"/>
          <p:cNvSpPr/>
          <p:nvPr/>
        </p:nvSpPr>
        <p:spPr>
          <a:xfrm>
            <a:off x="22879800" y="6198057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7" name="Ster"/>
          <p:cNvSpPr/>
          <p:nvPr/>
        </p:nvSpPr>
        <p:spPr>
          <a:xfrm>
            <a:off x="23214389" y="6198057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8" name="Ster"/>
          <p:cNvSpPr/>
          <p:nvPr/>
        </p:nvSpPr>
        <p:spPr>
          <a:xfrm>
            <a:off x="23552977" y="6198057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9" name="Agility"/>
          <p:cNvSpPr txBox="1"/>
          <p:nvPr/>
        </p:nvSpPr>
        <p:spPr>
          <a:xfrm>
            <a:off x="16840336" y="6680029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310" name="Ster"/>
          <p:cNvSpPr/>
          <p:nvPr/>
        </p:nvSpPr>
        <p:spPr>
          <a:xfrm>
            <a:off x="20514416" y="6683084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1" name="Ster"/>
          <p:cNvSpPr/>
          <p:nvPr/>
        </p:nvSpPr>
        <p:spPr>
          <a:xfrm>
            <a:off x="20853004" y="6683084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2" name="Ster"/>
          <p:cNvSpPr/>
          <p:nvPr/>
        </p:nvSpPr>
        <p:spPr>
          <a:xfrm>
            <a:off x="21191594" y="6683084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3" name="Ster"/>
          <p:cNvSpPr/>
          <p:nvPr/>
        </p:nvSpPr>
        <p:spPr>
          <a:xfrm>
            <a:off x="21530183" y="6683084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4" name="Ster"/>
          <p:cNvSpPr/>
          <p:nvPr/>
        </p:nvSpPr>
        <p:spPr>
          <a:xfrm>
            <a:off x="21864032" y="6683084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5" name="Ster"/>
          <p:cNvSpPr/>
          <p:nvPr/>
        </p:nvSpPr>
        <p:spPr>
          <a:xfrm>
            <a:off x="22202621" y="6683084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6" name="Ster"/>
          <p:cNvSpPr/>
          <p:nvPr/>
        </p:nvSpPr>
        <p:spPr>
          <a:xfrm>
            <a:off x="22541211" y="6683084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7" name="Ster"/>
          <p:cNvSpPr/>
          <p:nvPr/>
        </p:nvSpPr>
        <p:spPr>
          <a:xfrm>
            <a:off x="22879800" y="6683084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8" name="Ster"/>
          <p:cNvSpPr/>
          <p:nvPr/>
        </p:nvSpPr>
        <p:spPr>
          <a:xfrm>
            <a:off x="23214389" y="6683084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9" name="Ster"/>
          <p:cNvSpPr/>
          <p:nvPr/>
        </p:nvSpPr>
        <p:spPr>
          <a:xfrm>
            <a:off x="23552977" y="6683084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0" name="Bravery"/>
          <p:cNvSpPr txBox="1"/>
          <p:nvPr/>
        </p:nvSpPr>
        <p:spPr>
          <a:xfrm>
            <a:off x="16840336" y="7179265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321" name="Ster"/>
          <p:cNvSpPr/>
          <p:nvPr/>
        </p:nvSpPr>
        <p:spPr>
          <a:xfrm>
            <a:off x="20514416" y="716144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2" name="Ster"/>
          <p:cNvSpPr/>
          <p:nvPr/>
        </p:nvSpPr>
        <p:spPr>
          <a:xfrm>
            <a:off x="20853004" y="716144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3" name="Ster"/>
          <p:cNvSpPr/>
          <p:nvPr/>
        </p:nvSpPr>
        <p:spPr>
          <a:xfrm>
            <a:off x="21191594" y="716144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4" name="Ster"/>
          <p:cNvSpPr/>
          <p:nvPr/>
        </p:nvSpPr>
        <p:spPr>
          <a:xfrm>
            <a:off x="21530183" y="716144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5" name="Ster"/>
          <p:cNvSpPr/>
          <p:nvPr/>
        </p:nvSpPr>
        <p:spPr>
          <a:xfrm>
            <a:off x="21864032" y="716144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6" name="Ster"/>
          <p:cNvSpPr/>
          <p:nvPr/>
        </p:nvSpPr>
        <p:spPr>
          <a:xfrm>
            <a:off x="22202621" y="716144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7" name="Ster"/>
          <p:cNvSpPr/>
          <p:nvPr/>
        </p:nvSpPr>
        <p:spPr>
          <a:xfrm>
            <a:off x="22541211" y="716144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8" name="Ster"/>
          <p:cNvSpPr/>
          <p:nvPr/>
        </p:nvSpPr>
        <p:spPr>
          <a:xfrm>
            <a:off x="22879800" y="716144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9" name="Ster"/>
          <p:cNvSpPr/>
          <p:nvPr/>
        </p:nvSpPr>
        <p:spPr>
          <a:xfrm>
            <a:off x="23214389" y="7161441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0" name="Ster"/>
          <p:cNvSpPr/>
          <p:nvPr/>
        </p:nvSpPr>
        <p:spPr>
          <a:xfrm>
            <a:off x="23552977" y="7161441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1" name="Flair"/>
          <p:cNvSpPr txBox="1"/>
          <p:nvPr/>
        </p:nvSpPr>
        <p:spPr>
          <a:xfrm>
            <a:off x="16840336" y="7631704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332" name="Ster"/>
          <p:cNvSpPr/>
          <p:nvPr/>
        </p:nvSpPr>
        <p:spPr>
          <a:xfrm>
            <a:off x="20514416" y="761926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3" name="Ster"/>
          <p:cNvSpPr/>
          <p:nvPr/>
        </p:nvSpPr>
        <p:spPr>
          <a:xfrm>
            <a:off x="20853004" y="761926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4" name="Ster"/>
          <p:cNvSpPr/>
          <p:nvPr/>
        </p:nvSpPr>
        <p:spPr>
          <a:xfrm>
            <a:off x="21191594" y="761926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5" name="Ster"/>
          <p:cNvSpPr/>
          <p:nvPr/>
        </p:nvSpPr>
        <p:spPr>
          <a:xfrm>
            <a:off x="21530183" y="761926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6" name="Ster"/>
          <p:cNvSpPr/>
          <p:nvPr/>
        </p:nvSpPr>
        <p:spPr>
          <a:xfrm>
            <a:off x="21864032" y="761926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7" name="Ster"/>
          <p:cNvSpPr/>
          <p:nvPr/>
        </p:nvSpPr>
        <p:spPr>
          <a:xfrm>
            <a:off x="22202621" y="761926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8" name="Ster"/>
          <p:cNvSpPr/>
          <p:nvPr/>
        </p:nvSpPr>
        <p:spPr>
          <a:xfrm>
            <a:off x="22541211" y="761926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9" name="Ster"/>
          <p:cNvSpPr/>
          <p:nvPr/>
        </p:nvSpPr>
        <p:spPr>
          <a:xfrm>
            <a:off x="22879800" y="761926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40" name="Ster"/>
          <p:cNvSpPr/>
          <p:nvPr/>
        </p:nvSpPr>
        <p:spPr>
          <a:xfrm>
            <a:off x="23214389" y="7619268"/>
            <a:ext cx="297091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41" name="Ster"/>
          <p:cNvSpPr/>
          <p:nvPr/>
        </p:nvSpPr>
        <p:spPr>
          <a:xfrm>
            <a:off x="23552977" y="7619268"/>
            <a:ext cx="297092" cy="33155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gradFill flip="none" rotWithShape="1">
          <a:gsLst>
            <a:gs pos="0">
              <a:schemeClr val="accent5"/>
            </a:gs>
            <a:gs pos="100000">
              <a:schemeClr val="accent5">
                <a:lumOff val="-29866"/>
              </a:schemeClr>
            </a:gs>
          </a:gsLst>
          <a:lin ang="54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3" name="Tabel 1"/>
          <p:cNvGraphicFramePr/>
          <p:nvPr/>
        </p:nvGraphicFramePr>
        <p:xfrm>
          <a:off x="40776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FW#7/#11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Dribbling past opponent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DieptDeep runse loopacties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Composure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Speed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Agility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Bravery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Flair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0,00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346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347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348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349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350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51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352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353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354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355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356" name="Fast winger #07 #11"/>
          <p:cNvSpPr txBox="1"/>
          <p:nvPr/>
        </p:nvSpPr>
        <p:spPr>
          <a:xfrm>
            <a:off x="2542804" y="43415"/>
            <a:ext cx="11134957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Fast winger #07 #11</a:t>
            </a:r>
          </a:p>
        </p:txBody>
      </p:sp>
      <p:sp>
        <p:nvSpPr>
          <p:cNvPr id="1357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558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358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359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7617310" y="7212448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360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617310" y="616832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361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12467846" y="6168320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8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362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2637385" y="7212448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1363" name="TextBox 17">
            <a:hlinkClick r:id="rId8" invalidUrl="" action="ppaction://hlinksldjump" tgtFrame="" tooltip="" history="1" highlightClick="0" endSnd="0"/>
          </p:cNvPr>
          <p:cNvSpPr txBox="1"/>
          <p:nvPr/>
        </p:nvSpPr>
        <p:spPr>
          <a:xfrm>
            <a:off x="12467846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TextBox 17"/>
          <p:cNvSpPr txBox="1"/>
          <p:nvPr/>
        </p:nvSpPr>
        <p:spPr>
          <a:xfrm>
            <a:off x="250891" y="1017190"/>
            <a:ext cx="5883091" cy="949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7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Dribbling past opponent</a:t>
            </a:r>
          </a:p>
        </p:txBody>
      </p:sp>
      <p:sp>
        <p:nvSpPr>
          <p:cNvPr id="1366" name="TextBox 30"/>
          <p:cNvSpPr txBox="1"/>
          <p:nvPr/>
        </p:nvSpPr>
        <p:spPr>
          <a:xfrm>
            <a:off x="246924" y="2095790"/>
            <a:ext cx="5891025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“Dribble resulting a duel, after which player remains in possession, resulting in &gt;5m forwards displacement”</a:t>
            </a:r>
          </a:p>
        </p:txBody>
      </p:sp>
      <p:sp>
        <p:nvSpPr>
          <p:cNvPr id="1367" name="TextBox 31"/>
          <p:cNvSpPr txBox="1"/>
          <p:nvPr/>
        </p:nvSpPr>
        <p:spPr>
          <a:xfrm>
            <a:off x="449075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Tricks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 or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- outside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Combination play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68" name="TextBox 31"/>
          <p:cNvSpPr txBox="1"/>
          <p:nvPr/>
        </p:nvSpPr>
        <p:spPr>
          <a:xfrm>
            <a:off x="6439242" y="4585372"/>
            <a:ext cx="4887609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Speed level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Recognition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Starting 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Sacrifice run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69" name="TextBox 30"/>
          <p:cNvSpPr txBox="1"/>
          <p:nvPr/>
        </p:nvSpPr>
        <p:spPr>
          <a:xfrm>
            <a:off x="6232100" y="2095790"/>
            <a:ext cx="5891026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“Forward runs starting from a deeper position on the field, usually from midfield or defense, moving into attacking areas”</a:t>
            </a:r>
          </a:p>
        </p:txBody>
      </p:sp>
      <p:sp>
        <p:nvSpPr>
          <p:cNvPr id="1370" name="TextBox 17"/>
          <p:cNvSpPr txBox="1"/>
          <p:nvPr/>
        </p:nvSpPr>
        <p:spPr>
          <a:xfrm>
            <a:off x="6233952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Deep runs</a:t>
            </a:r>
          </a:p>
        </p:txBody>
      </p:sp>
      <p:sp>
        <p:nvSpPr>
          <p:cNvPr id="1371" name="TextBox 30"/>
          <p:cNvSpPr txBox="1"/>
          <p:nvPr/>
        </p:nvSpPr>
        <p:spPr>
          <a:xfrm>
            <a:off x="12222267" y="2357410"/>
            <a:ext cx="5891026" cy="11023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“Calm and controlled under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pressure, to make good decisions </a:t>
            </a:r>
          </a:p>
          <a:p>
            <a:pPr algn="ctr" defTabSz="1285875">
              <a:spcBef>
                <a:spcPts val="0"/>
              </a:spcBef>
              <a:defRPr sz="25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and execute skills accurately”</a:t>
            </a:r>
          </a:p>
        </p:txBody>
      </p:sp>
      <p:sp>
        <p:nvSpPr>
          <p:cNvPr id="1372" name="TextBox 17"/>
          <p:cNvSpPr txBox="1"/>
          <p:nvPr/>
        </p:nvSpPr>
        <p:spPr>
          <a:xfrm>
            <a:off x="12224118" y="12184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Composure</a:t>
            </a:r>
          </a:p>
        </p:txBody>
      </p:sp>
      <p:sp>
        <p:nvSpPr>
          <p:cNvPr id="1373" name="TextBox 31"/>
          <p:cNvSpPr txBox="1"/>
          <p:nvPr/>
        </p:nvSpPr>
        <p:spPr>
          <a:xfrm>
            <a:off x="12440273" y="4585372"/>
            <a:ext cx="4099713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Danger zones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Overview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(Body)position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oriented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Goal attempts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Between the posts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74" name="TextBox 31"/>
          <p:cNvSpPr txBox="1"/>
          <p:nvPr/>
        </p:nvSpPr>
        <p:spPr>
          <a:xfrm>
            <a:off x="485038" y="10820341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Top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Acceleration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Stride length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Big / small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First meters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75" name="TextBox 30"/>
          <p:cNvSpPr txBox="1"/>
          <p:nvPr/>
        </p:nvSpPr>
        <p:spPr>
          <a:xfrm>
            <a:off x="246924" y="8737160"/>
            <a:ext cx="5891025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“Top speed and acceleration capabilities”</a:t>
            </a:r>
          </a:p>
        </p:txBody>
      </p:sp>
      <p:sp>
        <p:nvSpPr>
          <p:cNvPr id="1376" name="TextBox 17"/>
          <p:cNvSpPr txBox="1"/>
          <p:nvPr/>
        </p:nvSpPr>
        <p:spPr>
          <a:xfrm>
            <a:off x="248776" y="745338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Speed</a:t>
            </a:r>
          </a:p>
        </p:txBody>
      </p:sp>
      <p:sp>
        <p:nvSpPr>
          <p:cNvPr id="1377" name="TextBox 31"/>
          <p:cNvSpPr txBox="1"/>
          <p:nvPr/>
        </p:nvSpPr>
        <p:spPr>
          <a:xfrm>
            <a:off x="6471852" y="10841514"/>
            <a:ext cx="3913231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78" name="TextBox 30"/>
          <p:cNvSpPr txBox="1"/>
          <p:nvPr/>
        </p:nvSpPr>
        <p:spPr>
          <a:xfrm>
            <a:off x="6231421" y="8318060"/>
            <a:ext cx="5891026" cy="162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1379" name="TextBox 17"/>
          <p:cNvSpPr txBox="1"/>
          <p:nvPr/>
        </p:nvSpPr>
        <p:spPr>
          <a:xfrm>
            <a:off x="6233273" y="7453380"/>
            <a:ext cx="5878327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1380" name="TextBox 31"/>
          <p:cNvSpPr txBox="1"/>
          <p:nvPr/>
        </p:nvSpPr>
        <p:spPr>
          <a:xfrm>
            <a:off x="12437233" y="10841514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  <a:endParaRPr>
              <a:solidFill>
                <a:srgbClr val="000000"/>
              </a:solidFill>
            </a:endParaRP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81" name="TextBox 30"/>
          <p:cNvSpPr txBox="1"/>
          <p:nvPr/>
        </p:nvSpPr>
        <p:spPr>
          <a:xfrm>
            <a:off x="12222946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1382" name="TextBox 17"/>
          <p:cNvSpPr txBox="1"/>
          <p:nvPr/>
        </p:nvSpPr>
        <p:spPr>
          <a:xfrm>
            <a:off x="12224798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1383" name="TextBox 31"/>
          <p:cNvSpPr txBox="1"/>
          <p:nvPr/>
        </p:nvSpPr>
        <p:spPr>
          <a:xfrm>
            <a:off x="18438265" y="10841514"/>
            <a:ext cx="4087013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Appearance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Present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Excited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Boost at heat of the moment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84" name="TextBox 30"/>
          <p:cNvSpPr txBox="1"/>
          <p:nvPr/>
        </p:nvSpPr>
        <p:spPr>
          <a:xfrm>
            <a:off x="18213113" y="852598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“Ability and confidence to perform creative, skillful, and often unexpected actions with the ball”</a:t>
            </a:r>
          </a:p>
        </p:txBody>
      </p:sp>
      <p:sp>
        <p:nvSpPr>
          <p:cNvPr id="1385" name="TextBox 17"/>
          <p:cNvSpPr txBox="1"/>
          <p:nvPr/>
        </p:nvSpPr>
        <p:spPr>
          <a:xfrm>
            <a:off x="18214965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Flair</a:t>
            </a:r>
          </a:p>
        </p:txBody>
      </p:sp>
      <p:sp>
        <p:nvSpPr>
          <p:cNvPr id="1386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of shot</a:t>
            </a:r>
            <a:endParaRPr>
              <a:solidFill>
                <a:srgbClr val="000000"/>
              </a:solidFill>
            </a:endParaRP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Short or deep angle</a:t>
            </a:r>
            <a:endParaRPr>
              <a:solidFill>
                <a:srgbClr val="000000"/>
              </a:solidFill>
            </a:endParaRP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Power</a:t>
            </a:r>
            <a:endParaRPr>
              <a:solidFill>
                <a:srgbClr val="000000"/>
              </a:solidFill>
            </a:endParaRP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Preparation</a:t>
            </a: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  <a:endParaRPr>
              <a:solidFill>
                <a:srgbClr val="000000"/>
              </a:solidFill>
            </a:endParaRP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  <a:endParaRPr>
              <a:solidFill>
                <a:srgbClr val="000000"/>
              </a:solidFill>
            </a:endParaRPr>
          </a:p>
          <a:p>
            <a:pPr marL="190500" indent="-190500" defTabSz="1285875">
              <a:lnSpc>
                <a:spcPct val="100000"/>
              </a:lnSpc>
              <a:spcBef>
                <a:spcPts val="0"/>
              </a:spcBef>
              <a:buClr>
                <a:srgbClr val="FFFFFF"/>
              </a:buClr>
              <a:buSzPct val="100000"/>
              <a:buFont typeface="Times Roman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387" name="TextBox 30"/>
          <p:cNvSpPr txBox="1"/>
          <p:nvPr/>
        </p:nvSpPr>
        <p:spPr>
          <a:xfrm>
            <a:off x="18203191" y="2502190"/>
            <a:ext cx="5891026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“Shot from open play from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the score box”</a:t>
            </a:r>
          </a:p>
        </p:txBody>
      </p:sp>
      <p:sp>
        <p:nvSpPr>
          <p:cNvPr id="1388" name="TextBox 17"/>
          <p:cNvSpPr txBox="1"/>
          <p:nvPr/>
        </p:nvSpPr>
        <p:spPr>
          <a:xfrm>
            <a:off x="18205043" y="1269210"/>
            <a:ext cx="587832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Shooting from distance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1500">
        <p14:flip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9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9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01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02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05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6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7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8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09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0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1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2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3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14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15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16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1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2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29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30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3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3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43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44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47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8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49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0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1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2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3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4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5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56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57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58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6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6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7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71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72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475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76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77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78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79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80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81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82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83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484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485" name="Schermafbeelding 2026-03-24 om 21.04.07.png" descr="Schermafbeelding 2026-03-24 om 21.04.07.png"/>
          <p:cNvPicPr>
            <a:picLocks noChangeAspect="1"/>
          </p:cNvPicPr>
          <p:nvPr/>
        </p:nvPicPr>
        <p:blipFill>
          <a:blip r:embed="rId2">
            <a:extLst/>
          </a:blip>
          <a:srcRect l="164" t="0" r="164" b="0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486" name="FC_Pro_Vercelli_1892.svg.png" descr="FC_Pro_Vercelli_1892.svg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rcRect l="0" t="0" r="0" b="0"/>
          <a:stretch>
            <a:fillRect/>
          </a:stretch>
        </p:blipFill>
        <p:spPr>
          <a:xfrm>
            <a:off x="23162415" y="8934502"/>
            <a:ext cx="854734" cy="11809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TextBox 28"/>
          <p:cNvSpPr txBox="1"/>
          <p:nvPr/>
        </p:nvSpPr>
        <p:spPr>
          <a:xfrm>
            <a:off x="14881271" y="8777643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