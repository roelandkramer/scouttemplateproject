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media/image1.jpeg" ContentType="image/jpeg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33" name="Shape 103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1.tif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5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Relationship Id="rId3" Type="http://schemas.openxmlformats.org/officeDocument/2006/relationships/image" Target="../media/image4.png"/><Relationship Id="rId4" Type="http://schemas.openxmlformats.org/officeDocument/2006/relationships/image" Target="../media/image1.tif"/></Relationships>
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tif"/></Relationships>
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3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34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35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36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7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38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39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42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40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1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43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6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8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0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3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5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57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58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59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60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8000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9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0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1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72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51932" y="331010"/>
            <a:ext cx="1673364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73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4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VOETBAL</a:t>
            </a:r>
          </a:p>
        </p:txBody>
      </p:sp>
      <p:sp>
        <p:nvSpPr>
          <p:cNvPr id="75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6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79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77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78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80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2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4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6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2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rgbClr val="1A72BA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BEHOEFTEN</a:t>
            </a:r>
          </a:p>
        </p:txBody>
      </p:sp>
      <p:sp>
        <p:nvSpPr>
          <p:cNvPr id="94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VOORKEUR</a:t>
            </a:r>
          </a:p>
        </p:txBody>
      </p:sp>
      <p:sp>
        <p:nvSpPr>
          <p:cNvPr id="95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FYSIEK</a:t>
            </a:r>
          </a:p>
        </p:txBody>
      </p:sp>
      <p:sp>
        <p:nvSpPr>
          <p:cNvPr id="96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PERSOONLIJKHEID</a:t>
            </a:r>
          </a:p>
        </p:txBody>
      </p:sp>
      <p:sp>
        <p:nvSpPr>
          <p:cNvPr id="97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3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7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sp>
        <p:nvSpPr>
          <p:cNvPr id="12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8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29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0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1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2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3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4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35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136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137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138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139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140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141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142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3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4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5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6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7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8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49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0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1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152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153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154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5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6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7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58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159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160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161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162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163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4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5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6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7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8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69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0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71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2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73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4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5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76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77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78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79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80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rgbClr val="1A72BA"/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81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82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3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84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85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8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9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198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19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0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1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1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3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4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5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6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7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8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29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0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31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2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3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8 vakjes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2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3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4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5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46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247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8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49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0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1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2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3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4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5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6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7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8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59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0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1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2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3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4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5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6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67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8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69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0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1" name="Freeform 7"/>
          <p:cNvSpPr/>
          <p:nvPr/>
        </p:nvSpPr>
        <p:spPr>
          <a:xfrm>
            <a:off x="18234941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2" name="Freeform 7"/>
          <p:cNvSpPr/>
          <p:nvPr/>
        </p:nvSpPr>
        <p:spPr>
          <a:xfrm>
            <a:off x="18234147" y="10162892"/>
            <a:ext cx="5840228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3" name="Freeform 7"/>
          <p:cNvSpPr/>
          <p:nvPr/>
        </p:nvSpPr>
        <p:spPr>
          <a:xfrm>
            <a:off x="18234941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4" name="Freeform 7"/>
          <p:cNvSpPr/>
          <p:nvPr/>
        </p:nvSpPr>
        <p:spPr>
          <a:xfrm>
            <a:off x="18234941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5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6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7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8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79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0" name="TextBox 20"/>
          <p:cNvSpPr txBox="1"/>
          <p:nvPr/>
        </p:nvSpPr>
        <p:spPr>
          <a:xfrm>
            <a:off x="18450666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1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28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0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1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2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3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294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295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6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7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8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299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0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1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2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3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4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5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6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07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8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09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0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1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2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3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4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15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6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7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8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19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0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1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2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23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4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25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7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3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4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5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6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37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338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39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0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1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2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3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4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5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6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7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8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49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0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1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2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3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4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5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6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7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58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59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0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1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2" name="Freeform 7"/>
          <p:cNvSpPr/>
          <p:nvPr/>
        </p:nvSpPr>
        <p:spPr>
          <a:xfrm>
            <a:off x="12247666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3" name="Freeform 7"/>
          <p:cNvSpPr/>
          <p:nvPr/>
        </p:nvSpPr>
        <p:spPr>
          <a:xfrm>
            <a:off x="12246872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4" name="Freeform 7"/>
          <p:cNvSpPr/>
          <p:nvPr/>
        </p:nvSpPr>
        <p:spPr>
          <a:xfrm>
            <a:off x="12247666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5" name="Freeform 7"/>
          <p:cNvSpPr/>
          <p:nvPr/>
        </p:nvSpPr>
        <p:spPr>
          <a:xfrm>
            <a:off x="12247666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66" name="TextBox 20"/>
          <p:cNvSpPr txBox="1"/>
          <p:nvPr/>
        </p:nvSpPr>
        <p:spPr>
          <a:xfrm>
            <a:off x="12406227" y="10242522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7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36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7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80" name="Definitie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Definities</a:t>
            </a:r>
          </a:p>
        </p:txBody>
      </p:sp>
      <p:sp>
        <p:nvSpPr>
          <p:cNvPr id="38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8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39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39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0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vakjes (EN)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4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5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6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17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18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419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0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1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2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3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4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5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6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7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8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29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0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1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2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3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4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5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6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7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38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39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0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1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2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rgbClr val="173883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43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44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Uithoudingsvermo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5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5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5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5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59" name="Uithoudings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Uithoudings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vermogen</a:t>
            </a:r>
          </a:p>
        </p:txBody>
      </p:sp>
      <p:sp>
        <p:nvSpPr>
          <p:cNvPr id="460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“Volhouden van de positie specifieke voetbalacties”</a:t>
            </a:r>
          </a:p>
        </p:txBody>
      </p:sp>
      <p:sp>
        <p:nvSpPr>
          <p:cNvPr id="46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Intensiteit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Total distance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HI-runs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Sprints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90 min volhouden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Gemiddelde p/w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6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Voorkomen vs verdedigen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7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7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7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7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77" name="Voorkomen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Voorkomen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vs verdedigen</a:t>
            </a:r>
          </a:p>
        </p:txBody>
      </p:sp>
      <p:sp>
        <p:nvSpPr>
          <p:cNvPr id="47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“Lezen, anticiperen en reageren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 1vs1, diepte bespelen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 flankballen”</a:t>
            </a:r>
          </a:p>
        </p:txBody>
      </p:sp>
      <p:sp>
        <p:nvSpPr>
          <p:cNvPr id="47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Keuzes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Vervolg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8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al verwerk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48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8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49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493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494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495" name="BAL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 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Verwerking</a:t>
            </a:r>
          </a:p>
        </p:txBody>
      </p:sp>
      <p:sp>
        <p:nvSpPr>
          <p:cNvPr id="49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“Uittrappen, passen en gooien”</a:t>
            </a:r>
          </a:p>
        </p:txBody>
      </p:sp>
      <p:sp>
        <p:nvSpPr>
          <p:cNvPr id="497" name="TextBox 31"/>
          <p:cNvSpPr txBox="1"/>
          <p:nvPr/>
        </p:nvSpPr>
        <p:spPr>
          <a:xfrm>
            <a:off x="19511241" y="3973045"/>
            <a:ext cx="4721638" cy="274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van 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passes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pc="-59"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Beide benen / armen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&amp; hoogte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49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Wend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0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0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11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12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13" name="wendbaarheid"/>
          <p:cNvSpPr txBox="1"/>
          <p:nvPr/>
        </p:nvSpPr>
        <p:spPr>
          <a:xfrm>
            <a:off x="19522346" y="1015292"/>
            <a:ext cx="22098604" cy="749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514" name="TextBox 30"/>
          <p:cNvSpPr txBox="1"/>
          <p:nvPr/>
        </p:nvSpPr>
        <p:spPr>
          <a:xfrm>
            <a:off x="19792143" y="2271998"/>
            <a:ext cx="4159834" cy="782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51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1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Moe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2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2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2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29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30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31" name="MOED"/>
          <p:cNvSpPr txBox="1"/>
          <p:nvPr/>
        </p:nvSpPr>
        <p:spPr>
          <a:xfrm>
            <a:off x="19522346" y="989892"/>
            <a:ext cx="22098604" cy="77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532" name="TextBox 30"/>
          <p:cNvSpPr txBox="1"/>
          <p:nvPr/>
        </p:nvSpPr>
        <p:spPr>
          <a:xfrm>
            <a:off x="19792143" y="2397728"/>
            <a:ext cx="4159834" cy="5308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“Heeft veel vertrouwen in eigen kwaliteiten (lef / durf)”</a:t>
            </a:r>
          </a:p>
        </p:txBody>
      </p:sp>
      <p:sp>
        <p:nvSpPr>
          <p:cNvPr id="53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3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nverstoorbaarheid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4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4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47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48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49" name="Onverstoor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Onverstoor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baarheid</a:t>
            </a:r>
          </a:p>
        </p:txBody>
      </p:sp>
      <p:sp>
        <p:nvSpPr>
          <p:cNvPr id="550" name="TextBox 30"/>
          <p:cNvSpPr txBox="1"/>
          <p:nvPr/>
        </p:nvSpPr>
        <p:spPr>
          <a:xfrm>
            <a:off x="19792143" y="2383758"/>
            <a:ext cx="4159834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“Voert zijn taken uit ongeacht de omstandigheden”</a:t>
            </a:r>
          </a:p>
        </p:txBody>
      </p:sp>
      <p:sp>
        <p:nvSpPr>
          <p:cNvPr id="55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Stabiel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Beïnvloeden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Bewust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Reactie na een fout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Omgaan met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5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 (NL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6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6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65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66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Hoe beoordelen we dit?</a:t>
            </a:r>
          </a:p>
        </p:txBody>
      </p:sp>
      <p:sp>
        <p:nvSpPr>
          <p:cNvPr id="567" name="Bal-…"/>
          <p:cNvSpPr txBox="1"/>
          <p:nvPr/>
        </p:nvSpPr>
        <p:spPr>
          <a:xfrm>
            <a:off x="19522346" y="215192"/>
            <a:ext cx="22098604" cy="154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Bal-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5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behandeling</a:t>
            </a:r>
          </a:p>
        </p:txBody>
      </p:sp>
      <p:sp>
        <p:nvSpPr>
          <p:cNvPr id="568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“Houdt veel ballen tegen”</a:t>
            </a:r>
          </a:p>
        </p:txBody>
      </p:sp>
      <p:sp>
        <p:nvSpPr>
          <p:cNvPr id="56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Buiten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 op 1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Standaard situaties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7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7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7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8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5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58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58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58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5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58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5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59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59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0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03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6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605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3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1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1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2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21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622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623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2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3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3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39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640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641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4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9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5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5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5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57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6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659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rgbClr val="173883"/>
              </a:buClr>
              <a:buSzPct val="100000"/>
              <a:buFont typeface="Times Roman"/>
              <a:buChar char="•"/>
              <a:defRPr sz="2000">
                <a:solidFill>
                  <a:srgbClr val="17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6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7" name="1a829d35-5178-35a6-9931-7ccc1d4b5528.jpg" descr="1a829d35-5178-35a6-9931-7ccc1d4b5528.jpg"/>
          <p:cNvPicPr>
            <a:picLocks noChangeAspect="0"/>
          </p:cNvPicPr>
          <p:nvPr/>
        </p:nvPicPr>
        <p:blipFill>
          <a:blip r:embed="rId2">
            <a:alphaModFix amt="16276"/>
            <a:extLst/>
          </a:blip>
          <a:srcRect l="0" t="20" r="0" b="20"/>
          <a:stretch>
            <a:fillRect/>
          </a:stretch>
        </p:blipFill>
        <p:spPr>
          <a:xfrm>
            <a:off x="-38085" y="-7597"/>
            <a:ext cx="24460170" cy="13731193"/>
          </a:xfrm>
          <a:prstGeom prst="rect">
            <a:avLst/>
          </a:prstGeom>
          <a:ln w="12700">
            <a:miter lim="400000"/>
          </a:ln>
        </p:spPr>
      </p:pic>
      <p:sp>
        <p:nvSpPr>
          <p:cNvPr id="66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6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rgbClr val="173883">
              <a:alpha val="47540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7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rgbClr val="17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6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rgbClr val="18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67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rgbClr val="183883"/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67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67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6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67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 2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88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686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rgbClr val="173883"/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687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89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690" name="TextBox 28"/>
          <p:cNvSpPr txBox="1"/>
          <p:nvPr/>
        </p:nvSpPr>
        <p:spPr>
          <a:xfrm>
            <a:off x="9228608" y="5951167"/>
            <a:ext cx="6159931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WELKOM</a:t>
            </a:r>
          </a:p>
        </p:txBody>
      </p:sp>
      <p:pic>
        <p:nvPicPr>
          <p:cNvPr id="691" name="FC DEN BOSCH LOGO.png" descr="FC DEN BOSCH LOGO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692" name="Afbeelding" descr="Afbeelding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693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69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6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02" name="CLub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703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704" name="TextBox 21"/>
          <p:cNvSpPr txBox="1"/>
          <p:nvPr/>
        </p:nvSpPr>
        <p:spPr>
          <a:xfrm>
            <a:off x="5171907" y="1741291"/>
            <a:ext cx="15078763" cy="52070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Bossche club, een Bosschenaar is trots op onze stad en club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strijdbaar, we buigen wel, maar barsten niet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Met heel ons hart staan we achter FC Den Bosch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Hier leren we van tegenslagen om vervolgens samen te groeien</a:t>
            </a:r>
            <a:endParaRPr sz="3200"/>
          </a:p>
          <a:p>
            <a:pPr defTabSz="1285875">
              <a:lnSpc>
                <a:spcPct val="100000"/>
              </a:lnSpc>
              <a:spcBef>
                <a:spcPts val="0"/>
              </a:spcBef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endParaRPr sz="3200"/>
          </a:p>
          <a:p>
            <a:pPr lvl="1" marL="203200" indent="-2032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rPr sz="3200"/>
              <a:t>We zijn een hartverwarmende Bossche club, voor iedereen</a:t>
            </a:r>
          </a:p>
        </p:txBody>
      </p:sp>
      <p:pic>
        <p:nvPicPr>
          <p:cNvPr id="705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06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07" name="Hart"/>
          <p:cNvSpPr/>
          <p:nvPr/>
        </p:nvSpPr>
        <p:spPr>
          <a:xfrm>
            <a:off x="12037284" y="9582878"/>
            <a:ext cx="1791039" cy="15827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6" h="21433" fill="norm" stroke="1" extrusionOk="0">
                <a:moveTo>
                  <a:pt x="5838" y="8"/>
                </a:moveTo>
                <a:cubicBezTo>
                  <a:pt x="3712" y="114"/>
                  <a:pt x="158" y="1891"/>
                  <a:pt x="2" y="7232"/>
                </a:cubicBezTo>
                <a:cubicBezTo>
                  <a:pt x="-54" y="9134"/>
                  <a:pt x="1253" y="14877"/>
                  <a:pt x="10702" y="21433"/>
                </a:cubicBezTo>
                <a:cubicBezTo>
                  <a:pt x="20130" y="14892"/>
                  <a:pt x="21546" y="9139"/>
                  <a:pt x="21505" y="7232"/>
                </a:cubicBezTo>
                <a:cubicBezTo>
                  <a:pt x="21391" y="1889"/>
                  <a:pt x="17806" y="115"/>
                  <a:pt x="15669" y="8"/>
                </a:cubicBezTo>
                <a:cubicBezTo>
                  <a:pt x="12170" y="-167"/>
                  <a:pt x="10753" y="2729"/>
                  <a:pt x="10753" y="2729"/>
                </a:cubicBezTo>
                <a:cubicBezTo>
                  <a:pt x="10753" y="2729"/>
                  <a:pt x="9337" y="-167"/>
                  <a:pt x="5838" y="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08" name="Hartstocht"/>
          <p:cNvSpPr txBox="1"/>
          <p:nvPr/>
        </p:nvSpPr>
        <p:spPr>
          <a:xfrm>
            <a:off x="11012435" y="8175049"/>
            <a:ext cx="3840739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Hartstocht</a:t>
            </a:r>
          </a:p>
        </p:txBody>
      </p:sp>
      <p:sp>
        <p:nvSpPr>
          <p:cNvPr id="709" name="Groei"/>
          <p:cNvSpPr/>
          <p:nvPr/>
        </p:nvSpPr>
        <p:spPr>
          <a:xfrm>
            <a:off x="16601766" y="9575118"/>
            <a:ext cx="1878982" cy="14533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6" h="21598" fill="norm" stroke="1" extrusionOk="0">
                <a:moveTo>
                  <a:pt x="21464" y="6"/>
                </a:moveTo>
                <a:cubicBezTo>
                  <a:pt x="21442" y="-2"/>
                  <a:pt x="21417" y="-2"/>
                  <a:pt x="21392" y="8"/>
                </a:cubicBezTo>
                <a:lnTo>
                  <a:pt x="18267" y="1242"/>
                </a:lnTo>
                <a:cubicBezTo>
                  <a:pt x="18161" y="1283"/>
                  <a:pt x="18132" y="1450"/>
                  <a:pt x="18212" y="1547"/>
                </a:cubicBezTo>
                <a:lnTo>
                  <a:pt x="18753" y="2202"/>
                </a:lnTo>
                <a:cubicBezTo>
                  <a:pt x="18809" y="2274"/>
                  <a:pt x="18815" y="2386"/>
                  <a:pt x="18759" y="2459"/>
                </a:cubicBezTo>
                <a:lnTo>
                  <a:pt x="13208" y="10155"/>
                </a:lnTo>
                <a:cubicBezTo>
                  <a:pt x="13152" y="10227"/>
                  <a:pt x="13058" y="10235"/>
                  <a:pt x="13002" y="10155"/>
                </a:cubicBezTo>
                <a:lnTo>
                  <a:pt x="9056" y="4932"/>
                </a:lnTo>
                <a:cubicBezTo>
                  <a:pt x="9000" y="4859"/>
                  <a:pt x="8907" y="4859"/>
                  <a:pt x="8851" y="4932"/>
                </a:cubicBezTo>
                <a:lnTo>
                  <a:pt x="39" y="17166"/>
                </a:lnTo>
                <a:cubicBezTo>
                  <a:pt x="-17" y="17238"/>
                  <a:pt x="-11" y="17350"/>
                  <a:pt x="45" y="17423"/>
                </a:cubicBezTo>
                <a:lnTo>
                  <a:pt x="941" y="18503"/>
                </a:lnTo>
                <a:cubicBezTo>
                  <a:pt x="997" y="18576"/>
                  <a:pt x="1084" y="18568"/>
                  <a:pt x="1140" y="18495"/>
                </a:cubicBezTo>
                <a:lnTo>
                  <a:pt x="8877" y="7770"/>
                </a:lnTo>
                <a:cubicBezTo>
                  <a:pt x="8933" y="7697"/>
                  <a:pt x="9025" y="7689"/>
                  <a:pt x="9081" y="7770"/>
                </a:cubicBezTo>
                <a:lnTo>
                  <a:pt x="13047" y="13016"/>
                </a:lnTo>
                <a:cubicBezTo>
                  <a:pt x="13103" y="13096"/>
                  <a:pt x="13201" y="13089"/>
                  <a:pt x="13251" y="13008"/>
                </a:cubicBezTo>
                <a:lnTo>
                  <a:pt x="13706" y="12315"/>
                </a:lnTo>
                <a:lnTo>
                  <a:pt x="19848" y="3796"/>
                </a:lnTo>
                <a:cubicBezTo>
                  <a:pt x="19904" y="3723"/>
                  <a:pt x="19992" y="3716"/>
                  <a:pt x="20048" y="3788"/>
                </a:cubicBezTo>
                <a:lnTo>
                  <a:pt x="20589" y="4441"/>
                </a:lnTo>
                <a:cubicBezTo>
                  <a:pt x="20670" y="4537"/>
                  <a:pt x="20802" y="4490"/>
                  <a:pt x="20826" y="4353"/>
                </a:cubicBezTo>
                <a:lnTo>
                  <a:pt x="21560" y="235"/>
                </a:lnTo>
                <a:cubicBezTo>
                  <a:pt x="21583" y="126"/>
                  <a:pt x="21533" y="30"/>
                  <a:pt x="21464" y="6"/>
                </a:cubicBezTo>
                <a:close/>
                <a:moveTo>
                  <a:pt x="20260" y="5385"/>
                </a:moveTo>
                <a:cubicBezTo>
                  <a:pt x="20232" y="5392"/>
                  <a:pt x="20204" y="5410"/>
                  <a:pt x="20179" y="5440"/>
                </a:cubicBezTo>
                <a:lnTo>
                  <a:pt x="17857" y="8656"/>
                </a:lnTo>
                <a:lnTo>
                  <a:pt x="17347" y="9429"/>
                </a:lnTo>
                <a:cubicBezTo>
                  <a:pt x="17328" y="9462"/>
                  <a:pt x="17316" y="9510"/>
                  <a:pt x="17316" y="9550"/>
                </a:cubicBezTo>
                <a:lnTo>
                  <a:pt x="17316" y="21412"/>
                </a:lnTo>
                <a:cubicBezTo>
                  <a:pt x="17316" y="21516"/>
                  <a:pt x="17377" y="21598"/>
                  <a:pt x="17458" y="21598"/>
                </a:cubicBezTo>
                <a:lnTo>
                  <a:pt x="20290" y="21598"/>
                </a:lnTo>
                <a:cubicBezTo>
                  <a:pt x="20371" y="21598"/>
                  <a:pt x="20434" y="21516"/>
                  <a:pt x="20434" y="21412"/>
                </a:cubicBezTo>
                <a:lnTo>
                  <a:pt x="20434" y="5561"/>
                </a:lnTo>
                <a:cubicBezTo>
                  <a:pt x="20434" y="5440"/>
                  <a:pt x="20346" y="5364"/>
                  <a:pt x="20260" y="5385"/>
                </a:cubicBezTo>
                <a:close/>
                <a:moveTo>
                  <a:pt x="9174" y="9548"/>
                </a:moveTo>
                <a:cubicBezTo>
                  <a:pt x="9094" y="9530"/>
                  <a:pt x="9007" y="9606"/>
                  <a:pt x="9007" y="9727"/>
                </a:cubicBezTo>
                <a:lnTo>
                  <a:pt x="9007" y="21412"/>
                </a:lnTo>
                <a:cubicBezTo>
                  <a:pt x="9007" y="21516"/>
                  <a:pt x="9068" y="21598"/>
                  <a:pt x="9149" y="21598"/>
                </a:cubicBezTo>
                <a:lnTo>
                  <a:pt x="11981" y="21598"/>
                </a:lnTo>
                <a:cubicBezTo>
                  <a:pt x="12062" y="21598"/>
                  <a:pt x="12125" y="21516"/>
                  <a:pt x="12125" y="21412"/>
                </a:cubicBezTo>
                <a:lnTo>
                  <a:pt x="12125" y="13474"/>
                </a:lnTo>
                <a:cubicBezTo>
                  <a:pt x="12125" y="13426"/>
                  <a:pt x="12113" y="13386"/>
                  <a:pt x="12082" y="13345"/>
                </a:cubicBezTo>
                <a:lnTo>
                  <a:pt x="9250" y="9598"/>
                </a:lnTo>
                <a:cubicBezTo>
                  <a:pt x="9228" y="9570"/>
                  <a:pt x="9201" y="9554"/>
                  <a:pt x="9174" y="9548"/>
                </a:cubicBezTo>
                <a:close/>
                <a:moveTo>
                  <a:pt x="16102" y="10653"/>
                </a:moveTo>
                <a:cubicBezTo>
                  <a:pt x="16074" y="10659"/>
                  <a:pt x="16045" y="10676"/>
                  <a:pt x="16021" y="10704"/>
                </a:cubicBezTo>
                <a:lnTo>
                  <a:pt x="13700" y="13917"/>
                </a:lnTo>
                <a:lnTo>
                  <a:pt x="13189" y="14693"/>
                </a:lnTo>
                <a:cubicBezTo>
                  <a:pt x="13170" y="14725"/>
                  <a:pt x="13158" y="14773"/>
                  <a:pt x="13158" y="14814"/>
                </a:cubicBezTo>
                <a:lnTo>
                  <a:pt x="13158" y="21412"/>
                </a:lnTo>
                <a:cubicBezTo>
                  <a:pt x="13158" y="21516"/>
                  <a:pt x="13221" y="21598"/>
                  <a:pt x="13301" y="21598"/>
                </a:cubicBezTo>
                <a:lnTo>
                  <a:pt x="16133" y="21598"/>
                </a:lnTo>
                <a:cubicBezTo>
                  <a:pt x="16214" y="21598"/>
                  <a:pt x="16275" y="21516"/>
                  <a:pt x="16275" y="21412"/>
                </a:cubicBezTo>
                <a:lnTo>
                  <a:pt x="16275" y="10832"/>
                </a:lnTo>
                <a:cubicBezTo>
                  <a:pt x="16275" y="10711"/>
                  <a:pt x="16188" y="10636"/>
                  <a:pt x="16102" y="10653"/>
                </a:cubicBezTo>
                <a:close/>
                <a:moveTo>
                  <a:pt x="7801" y="10923"/>
                </a:moveTo>
                <a:cubicBezTo>
                  <a:pt x="7774" y="10930"/>
                  <a:pt x="7747" y="10946"/>
                  <a:pt x="7725" y="10976"/>
                </a:cubicBezTo>
                <a:lnTo>
                  <a:pt x="4894" y="14902"/>
                </a:lnTo>
                <a:cubicBezTo>
                  <a:pt x="4869" y="14934"/>
                  <a:pt x="4855" y="14974"/>
                  <a:pt x="4855" y="15023"/>
                </a:cubicBezTo>
                <a:lnTo>
                  <a:pt x="4855" y="21412"/>
                </a:lnTo>
                <a:cubicBezTo>
                  <a:pt x="4855" y="21516"/>
                  <a:pt x="4918" y="21598"/>
                  <a:pt x="4999" y="21598"/>
                </a:cubicBezTo>
                <a:lnTo>
                  <a:pt x="7830" y="21598"/>
                </a:lnTo>
                <a:cubicBezTo>
                  <a:pt x="7911" y="21598"/>
                  <a:pt x="7974" y="21516"/>
                  <a:pt x="7974" y="21412"/>
                </a:cubicBezTo>
                <a:lnTo>
                  <a:pt x="7974" y="11097"/>
                </a:lnTo>
                <a:cubicBezTo>
                  <a:pt x="7974" y="10976"/>
                  <a:pt x="7884" y="10902"/>
                  <a:pt x="7801" y="10923"/>
                </a:cubicBezTo>
                <a:close/>
                <a:moveTo>
                  <a:pt x="3680" y="16498"/>
                </a:moveTo>
                <a:cubicBezTo>
                  <a:pt x="3652" y="16505"/>
                  <a:pt x="3626" y="16524"/>
                  <a:pt x="3604" y="16554"/>
                </a:cubicBezTo>
                <a:lnTo>
                  <a:pt x="772" y="20477"/>
                </a:lnTo>
                <a:cubicBezTo>
                  <a:pt x="747" y="20510"/>
                  <a:pt x="735" y="20550"/>
                  <a:pt x="735" y="20598"/>
                </a:cubicBezTo>
                <a:lnTo>
                  <a:pt x="735" y="21412"/>
                </a:lnTo>
                <a:cubicBezTo>
                  <a:pt x="735" y="21516"/>
                  <a:pt x="798" y="21598"/>
                  <a:pt x="879" y="21598"/>
                </a:cubicBezTo>
                <a:lnTo>
                  <a:pt x="3711" y="21598"/>
                </a:lnTo>
                <a:cubicBezTo>
                  <a:pt x="3792" y="21598"/>
                  <a:pt x="3853" y="21516"/>
                  <a:pt x="3853" y="21412"/>
                </a:cubicBezTo>
                <a:lnTo>
                  <a:pt x="3853" y="16682"/>
                </a:lnTo>
                <a:cubicBezTo>
                  <a:pt x="3853" y="16555"/>
                  <a:pt x="3762" y="16478"/>
                  <a:pt x="3680" y="16498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0" name="Groei"/>
          <p:cNvSpPr txBox="1"/>
          <p:nvPr/>
        </p:nvSpPr>
        <p:spPr>
          <a:xfrm>
            <a:off x="16444772" y="8175049"/>
            <a:ext cx="1999735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Groei</a:t>
            </a:r>
          </a:p>
        </p:txBody>
      </p:sp>
      <p:sp>
        <p:nvSpPr>
          <p:cNvPr id="711" name="Bosch"/>
          <p:cNvSpPr txBox="1"/>
          <p:nvPr/>
        </p:nvSpPr>
        <p:spPr>
          <a:xfrm>
            <a:off x="1511459" y="8175049"/>
            <a:ext cx="2207202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Bosch</a:t>
            </a:r>
          </a:p>
        </p:txBody>
      </p:sp>
      <p:sp>
        <p:nvSpPr>
          <p:cNvPr id="712" name="Strijdbaar"/>
          <p:cNvSpPr txBox="1"/>
          <p:nvPr/>
        </p:nvSpPr>
        <p:spPr>
          <a:xfrm>
            <a:off x="5860490" y="8175049"/>
            <a:ext cx="356034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Strijdbaar</a:t>
            </a:r>
          </a:p>
        </p:txBody>
      </p:sp>
      <p:sp>
        <p:nvSpPr>
          <p:cNvPr id="713" name="Gastvrij"/>
          <p:cNvSpPr txBox="1"/>
          <p:nvPr/>
        </p:nvSpPr>
        <p:spPr>
          <a:xfrm>
            <a:off x="20229340" y="8175049"/>
            <a:ext cx="2914136" cy="1620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Gastvrij</a:t>
            </a:r>
          </a:p>
        </p:txBody>
      </p:sp>
      <p:pic>
        <p:nvPicPr>
          <p:cNvPr id="714" name="png-clipart-handshake-others-blue-hand.png" descr="png-clipart-handshake-others-blue-hand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0427039" y="9537758"/>
            <a:ext cx="2518735" cy="1528033"/>
          </a:xfrm>
          <a:prstGeom prst="rect">
            <a:avLst/>
          </a:prstGeom>
          <a:ln w="12700">
            <a:miter lim="400000"/>
          </a:ln>
        </p:spPr>
      </p:pic>
      <p:sp>
        <p:nvSpPr>
          <p:cNvPr id="715" name="Rechthoek"/>
          <p:cNvSpPr/>
          <p:nvPr/>
        </p:nvSpPr>
        <p:spPr>
          <a:xfrm>
            <a:off x="6192523" y="10189485"/>
            <a:ext cx="994252" cy="931864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6" name="Rechthoek"/>
          <p:cNvSpPr/>
          <p:nvPr/>
        </p:nvSpPr>
        <p:spPr>
          <a:xfrm>
            <a:off x="8111162" y="10189484"/>
            <a:ext cx="994252" cy="931863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7" name="Rechthoek"/>
          <p:cNvSpPr/>
          <p:nvPr/>
        </p:nvSpPr>
        <p:spPr>
          <a:xfrm>
            <a:off x="7177419" y="9627182"/>
            <a:ext cx="994252" cy="1494166"/>
          </a:xfrm>
          <a:prstGeom prst="rect">
            <a:avLst/>
          </a:prstGeom>
          <a:solidFill>
            <a:srgbClr val="FFFFFF"/>
          </a:solidFill>
          <a:ln w="25400">
            <a:solidFill>
              <a:srgbClr val="4F81BD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18" name="1"/>
          <p:cNvSpPr txBox="1"/>
          <p:nvPr/>
        </p:nvSpPr>
        <p:spPr>
          <a:xfrm>
            <a:off x="7412014" y="9859236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19" name="3"/>
          <p:cNvSpPr txBox="1"/>
          <p:nvPr/>
        </p:nvSpPr>
        <p:spPr>
          <a:xfrm>
            <a:off x="8455107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720" name="2"/>
          <p:cNvSpPr txBox="1"/>
          <p:nvPr/>
        </p:nvSpPr>
        <p:spPr>
          <a:xfrm>
            <a:off x="6427118" y="10212877"/>
            <a:ext cx="520830" cy="8808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sz="6000">
                <a:solidFill>
                  <a:srgbClr val="115AA3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pic>
        <p:nvPicPr>
          <p:cNvPr id="721" name="2b0643c0c0b5949fdfe730edb3ff8947.psd" descr="2b0643c0c0b5949fdfe730edb3ff8947.psd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16132" y="8946827"/>
            <a:ext cx="2854876" cy="2854876"/>
          </a:xfrm>
          <a:prstGeom prst="rect">
            <a:avLst/>
          </a:prstGeom>
          <a:ln w="12700">
            <a:miter lim="400000"/>
          </a:ln>
        </p:spPr>
      </p:pic>
      <p:sp>
        <p:nvSpPr>
          <p:cNvPr id="722" name="Lijn"/>
          <p:cNvSpPr/>
          <p:nvPr/>
        </p:nvSpPr>
        <p:spPr>
          <a:xfrm flipV="1">
            <a:off x="5064691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3" name="Lijn"/>
          <p:cNvSpPr/>
          <p:nvPr/>
        </p:nvSpPr>
        <p:spPr>
          <a:xfrm flipV="1">
            <a:off x="10216635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4" name="Lijn"/>
          <p:cNvSpPr/>
          <p:nvPr/>
        </p:nvSpPr>
        <p:spPr>
          <a:xfrm flipV="1">
            <a:off x="15426918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5" name="Lijn"/>
          <p:cNvSpPr/>
          <p:nvPr/>
        </p:nvSpPr>
        <p:spPr>
          <a:xfrm flipV="1">
            <a:off x="19462360" y="8345544"/>
            <a:ext cx="1" cy="3174768"/>
          </a:xfrm>
          <a:prstGeom prst="line">
            <a:avLst/>
          </a:prstGeom>
          <a:ln w="254000">
            <a:solidFill>
              <a:srgbClr val="FFFFFF">
                <a:alpha val="48586"/>
              </a:srgbClr>
            </a:solidFill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26" name="Kernwaarden"/>
          <p:cNvSpPr txBox="1"/>
          <p:nvPr/>
        </p:nvSpPr>
        <p:spPr>
          <a:xfrm>
            <a:off x="5735738" y="16606"/>
            <a:ext cx="14379804" cy="2484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60959" tIns="60959" rIns="60959" bIns="60959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15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Kernwaarden</a:t>
            </a:r>
          </a:p>
        </p:txBody>
      </p:sp>
      <p:sp>
        <p:nvSpPr>
          <p:cNvPr id="727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5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BFG"/>
          <p:cNvSpPr txBox="1"/>
          <p:nvPr/>
        </p:nvSpPr>
        <p:spPr>
          <a:xfrm>
            <a:off x="311614" y="568632"/>
            <a:ext cx="2854877" cy="14097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spc="900" sz="9000">
                <a:solidFill>
                  <a:srgbClr val="AF8B31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BFG</a:t>
            </a:r>
          </a:p>
        </p:txBody>
      </p:sp>
      <p:sp>
        <p:nvSpPr>
          <p:cNvPr id="735" name="Playing style"/>
          <p:cNvSpPr txBox="1"/>
          <p:nvPr/>
        </p:nvSpPr>
        <p:spPr>
          <a:xfrm>
            <a:off x="392898" y="358972"/>
            <a:ext cx="2854876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Playing style</a:t>
            </a:r>
          </a:p>
        </p:txBody>
      </p:sp>
      <p:sp>
        <p:nvSpPr>
          <p:cNvPr id="736" name="Lijn"/>
          <p:cNvSpPr/>
          <p:nvPr/>
        </p:nvSpPr>
        <p:spPr>
          <a:xfrm>
            <a:off x="361971" y="1983338"/>
            <a:ext cx="2364487" cy="1"/>
          </a:xfrm>
          <a:prstGeom prst="line">
            <a:avLst/>
          </a:prstGeom>
          <a:ln w="50800">
            <a:solidFill>
              <a:srgbClr val="AF8B31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4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pic>
        <p:nvPicPr>
          <p:cNvPr id="737" name="FC DEN BOSCH LOGO.png" descr="FC DEN BOSCH LOGO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7532" y="2363010"/>
            <a:ext cx="1673365" cy="1673364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pic>
        <p:nvPicPr>
          <p:cNvPr id="738" name="Afbeelding" descr="Afbeeldi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233634" y="12851404"/>
            <a:ext cx="5807787" cy="76406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</p:spPr>
      </p:pic>
      <p:sp>
        <p:nvSpPr>
          <p:cNvPr id="73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chtergrond kopie">
    <p:bg>
      <p:bgPr>
        <a:gradFill flip="none" rotWithShape="1">
          <a:gsLst>
            <a:gs pos="0">
              <a:srgbClr val="173883"/>
            </a:gs>
            <a:gs pos="100000">
              <a:schemeClr val="accent1">
                <a:lumOff val="-13575"/>
              </a:schemeClr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6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47" name="FC DEN BOSCH LOGO.png" descr="FC DEN BOSCH LOGO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00703" y="11597034"/>
            <a:ext cx="1825538" cy="1825538"/>
          </a:xfrm>
          <a:prstGeom prst="rect">
            <a:avLst/>
          </a:prstGeom>
          <a:ln w="12700">
            <a:miter lim="400000"/>
          </a:ln>
        </p:spPr>
      </p:pic>
      <p:pic>
        <p:nvPicPr>
          <p:cNvPr id="748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49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50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51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welcome page #03 #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8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5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pic>
        <p:nvPicPr>
          <p:cNvPr id="766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652843" y="11597034"/>
            <a:ext cx="1321258" cy="1825537"/>
          </a:xfrm>
          <a:prstGeom prst="rect">
            <a:avLst/>
          </a:prstGeom>
          <a:ln w="12700">
            <a:miter lim="400000"/>
          </a:ln>
        </p:spPr>
      </p:pic>
      <p:pic>
        <p:nvPicPr>
          <p:cNvPr id="767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768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sp>
        <p:nvSpPr>
          <p:cNvPr id="769" name="Rechthoek"/>
          <p:cNvSpPr/>
          <p:nvPr/>
        </p:nvSpPr>
        <p:spPr>
          <a:xfrm>
            <a:off x="6746544" y="8618893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onsisten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7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7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7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8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78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78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785" name="Consistenc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Consistency</a:t>
            </a:r>
          </a:p>
        </p:txBody>
      </p:sp>
      <p:sp>
        <p:nvSpPr>
          <p:cNvPr id="786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“Perform at a similar level of quality repeatedly over time, across matches or actions”</a:t>
            </a:r>
          </a:p>
        </p:txBody>
      </p:sp>
      <p:sp>
        <p:nvSpPr>
          <p:cNvPr id="78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Steady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Influential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Conscious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 after mistakes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Dealing with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78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raver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5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796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7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8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99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0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01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02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03" name="Braver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Bravery</a:t>
            </a:r>
          </a:p>
        </p:txBody>
      </p:sp>
      <p:sp>
        <p:nvSpPr>
          <p:cNvPr id="804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“The willingness to face physical challenges, difficult situations, or potential contact without fear”</a:t>
            </a:r>
          </a:p>
        </p:txBody>
      </p:sp>
      <p:sp>
        <p:nvSpPr>
          <p:cNvPr id="805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Initiative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Taking risks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Freedom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Surprising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Creativity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Confident after mistakes</a:t>
            </a:r>
          </a:p>
          <a:p>
            <a:pPr marL="190500" indent="-190500" defTabSz="457200">
              <a:lnSpc>
                <a:spcPct val="100000"/>
              </a:lnSpc>
              <a:spcBef>
                <a:spcPts val="0"/>
              </a:spcBef>
              <a:buClr>
                <a:schemeClr val="accent5">
                  <a:hueOff val="-82419"/>
                  <a:satOff val="-9513"/>
                  <a:lumOff val="-16343"/>
                </a:schemeClr>
              </a:buClr>
              <a:buSzPct val="100000"/>
              <a:buFont typeface="Times Roman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0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agilit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3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14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5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6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17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18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19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20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21" name="Agility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Agility</a:t>
            </a:r>
          </a:p>
        </p:txBody>
      </p:sp>
      <p:sp>
        <p:nvSpPr>
          <p:cNvPr id="822" name="TextBox 30"/>
          <p:cNvSpPr txBox="1"/>
          <p:nvPr/>
        </p:nvSpPr>
        <p:spPr>
          <a:xfrm>
            <a:off x="19792143" y="2104358"/>
            <a:ext cx="4159834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“Quickly change direction, accelerate, and control body movement while maintaining balance”</a:t>
            </a:r>
          </a:p>
        </p:txBody>
      </p:sp>
      <p:sp>
        <p:nvSpPr>
          <p:cNvPr id="823" name="TextBox 31"/>
          <p:cNvSpPr txBox="1"/>
          <p:nvPr/>
        </p:nvSpPr>
        <p:spPr>
          <a:xfrm>
            <a:off x="19511241" y="3973045"/>
            <a:ext cx="4721638" cy="213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Reaction speed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Footwork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Balance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Center of gravity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Change of direction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24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Distib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1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32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3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4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35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6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37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38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39" name="Distribution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Distribution</a:t>
            </a:r>
          </a:p>
        </p:txBody>
      </p:sp>
      <p:sp>
        <p:nvSpPr>
          <p:cNvPr id="840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Kicking, passing and throwing</a:t>
            </a:r>
          </a:p>
        </p:txBody>
      </p:sp>
      <p:sp>
        <p:nvSpPr>
          <p:cNvPr id="841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42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Preventie vs defending 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9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50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1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2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53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4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55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56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57" name="Prevention vs…"/>
          <p:cNvSpPr txBox="1"/>
          <p:nvPr/>
        </p:nvSpPr>
        <p:spPr>
          <a:xfrm>
            <a:off x="19522346" y="240592"/>
            <a:ext cx="22098604" cy="152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Prevention vs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defending</a:t>
            </a:r>
          </a:p>
        </p:txBody>
      </p:sp>
      <p:sp>
        <p:nvSpPr>
          <p:cNvPr id="858" name="TextBox 30"/>
          <p:cNvSpPr txBox="1"/>
          <p:nvPr/>
        </p:nvSpPr>
        <p:spPr>
          <a:xfrm>
            <a:off x="19792143" y="2244058"/>
            <a:ext cx="4159834" cy="83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Reading, anticipating and reacting to 1v1 situations, dealing with through balls and crosses.</a:t>
            </a:r>
          </a:p>
        </p:txBody>
      </p:sp>
      <p:sp>
        <p:nvSpPr>
          <p:cNvPr id="859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Decision making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Follow-up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60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handl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868" name="Rechthoek"/>
          <p:cNvSpPr/>
          <p:nvPr/>
        </p:nvSpPr>
        <p:spPr>
          <a:xfrm>
            <a:off x="362280" y="11042657"/>
            <a:ext cx="23910859" cy="2417168"/>
          </a:xfrm>
          <a:prstGeom prst="rect">
            <a:avLst/>
          </a:prstGeom>
          <a:solidFill>
            <a:srgbClr val="929292">
              <a:alpha val="89893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69" name="Rechthoek"/>
          <p:cNvSpPr/>
          <p:nvPr/>
        </p:nvSpPr>
        <p:spPr>
          <a:xfrm>
            <a:off x="475295" y="11255173"/>
            <a:ext cx="23684829" cy="1992136"/>
          </a:xfrm>
          <a:prstGeom prst="rect">
            <a:avLst/>
          </a:prstGeom>
          <a:solidFill>
            <a:srgbClr val="D5D5D5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0" name="Rechthoek"/>
          <p:cNvSpPr/>
          <p:nvPr/>
        </p:nvSpPr>
        <p:spPr>
          <a:xfrm>
            <a:off x="19449020" y="217668"/>
            <a:ext cx="4846080" cy="324744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871" name="Lijn"/>
          <p:cNvSpPr/>
          <p:nvPr/>
        </p:nvSpPr>
        <p:spPr>
          <a:xfrm>
            <a:off x="19512520" y="1782799"/>
            <a:ext cx="4719080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2" name="Freeform 7"/>
          <p:cNvSpPr/>
          <p:nvPr/>
        </p:nvSpPr>
        <p:spPr>
          <a:xfrm>
            <a:off x="19630578" y="1977984"/>
            <a:ext cx="4484155" cy="137034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73" name="TextBox 20"/>
          <p:cNvSpPr txBox="1"/>
          <p:nvPr/>
        </p:nvSpPr>
        <p:spPr>
          <a:xfrm>
            <a:off x="19538484" y="3561724"/>
            <a:ext cx="623796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cap="all"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 this?</a:t>
            </a:r>
          </a:p>
        </p:txBody>
      </p:sp>
      <p:sp>
        <p:nvSpPr>
          <p:cNvPr id="874" name="Lijn"/>
          <p:cNvSpPr/>
          <p:nvPr/>
        </p:nvSpPr>
        <p:spPr>
          <a:xfrm>
            <a:off x="19559358" y="3876752"/>
            <a:ext cx="3084727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875" name="Handling"/>
          <p:cNvSpPr txBox="1"/>
          <p:nvPr/>
        </p:nvSpPr>
        <p:spPr>
          <a:xfrm>
            <a:off x="19522346" y="1002592"/>
            <a:ext cx="22098604" cy="762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 Light"/>
              <a:defRPr b="1" cap="all" sz="49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Handling</a:t>
            </a:r>
          </a:p>
        </p:txBody>
      </p:sp>
      <p:sp>
        <p:nvSpPr>
          <p:cNvPr id="876" name="TextBox 30"/>
          <p:cNvSpPr txBox="1"/>
          <p:nvPr/>
        </p:nvSpPr>
        <p:spPr>
          <a:xfrm>
            <a:off x="19792143" y="2523458"/>
            <a:ext cx="4159834" cy="27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18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“Defending a lot of balls</a:t>
            </a:r>
          </a:p>
        </p:txBody>
      </p:sp>
      <p:sp>
        <p:nvSpPr>
          <p:cNvPr id="877" name="TextBox 31"/>
          <p:cNvSpPr txBox="1"/>
          <p:nvPr/>
        </p:nvSpPr>
        <p:spPr>
          <a:xfrm>
            <a:off x="19511241" y="3973045"/>
            <a:ext cx="4721638" cy="243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Outside 16m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One on ones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Set pieces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Positioning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Frequency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End result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20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878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6 boxes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Freeform 7"/>
          <p:cNvSpPr/>
          <p:nvPr/>
        </p:nvSpPr>
        <p:spPr>
          <a:xfrm>
            <a:off x="272322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6" name="Freeform 7"/>
          <p:cNvSpPr/>
          <p:nvPr/>
        </p:nvSpPr>
        <p:spPr>
          <a:xfrm>
            <a:off x="271529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7" name="Freeform 7"/>
          <p:cNvSpPr/>
          <p:nvPr/>
        </p:nvSpPr>
        <p:spPr>
          <a:xfrm>
            <a:off x="27232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8" name="Freeform 7"/>
          <p:cNvSpPr/>
          <p:nvPr/>
        </p:nvSpPr>
        <p:spPr>
          <a:xfrm>
            <a:off x="27232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89" name="TextBox 20"/>
          <p:cNvSpPr txBox="1"/>
          <p:nvPr/>
        </p:nvSpPr>
        <p:spPr>
          <a:xfrm>
            <a:off x="430883" y="3997907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890" name="Defenitions"/>
          <p:cNvSpPr txBox="1"/>
          <p:nvPr/>
        </p:nvSpPr>
        <p:spPr>
          <a:xfrm>
            <a:off x="291298" y="384372"/>
            <a:ext cx="5638763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Defenitions</a:t>
            </a:r>
          </a:p>
        </p:txBody>
      </p:sp>
      <p:sp>
        <p:nvSpPr>
          <p:cNvPr id="891" name="Freeform 7"/>
          <p:cNvSpPr/>
          <p:nvPr/>
        </p:nvSpPr>
        <p:spPr>
          <a:xfrm>
            <a:off x="6254042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2" name="Freeform 7"/>
          <p:cNvSpPr/>
          <p:nvPr/>
        </p:nvSpPr>
        <p:spPr>
          <a:xfrm>
            <a:off x="6253248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3" name="Freeform 7"/>
          <p:cNvSpPr/>
          <p:nvPr/>
        </p:nvSpPr>
        <p:spPr>
          <a:xfrm>
            <a:off x="6254042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4" name="Freeform 7"/>
          <p:cNvSpPr/>
          <p:nvPr/>
        </p:nvSpPr>
        <p:spPr>
          <a:xfrm>
            <a:off x="6254042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5" name="Freeform 7"/>
          <p:cNvSpPr/>
          <p:nvPr/>
        </p:nvSpPr>
        <p:spPr>
          <a:xfrm>
            <a:off x="6259597" y="10162892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6" name="Freeform 7"/>
          <p:cNvSpPr/>
          <p:nvPr/>
        </p:nvSpPr>
        <p:spPr>
          <a:xfrm>
            <a:off x="6258804" y="10162892"/>
            <a:ext cx="5840227" cy="588387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7" name="Freeform 7"/>
          <p:cNvSpPr/>
          <p:nvPr/>
        </p:nvSpPr>
        <p:spPr>
          <a:xfrm>
            <a:off x="6259597" y="8338185"/>
            <a:ext cx="5840228" cy="1631920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8" name="Freeform 7"/>
          <p:cNvSpPr/>
          <p:nvPr/>
        </p:nvSpPr>
        <p:spPr>
          <a:xfrm>
            <a:off x="6259597" y="7303233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899" name="Freeform 7"/>
          <p:cNvSpPr/>
          <p:nvPr/>
        </p:nvSpPr>
        <p:spPr>
          <a:xfrm>
            <a:off x="272322" y="10161953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0" name="Freeform 7"/>
          <p:cNvSpPr/>
          <p:nvPr/>
        </p:nvSpPr>
        <p:spPr>
          <a:xfrm>
            <a:off x="271529" y="10161953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1" name="Freeform 7"/>
          <p:cNvSpPr/>
          <p:nvPr/>
        </p:nvSpPr>
        <p:spPr>
          <a:xfrm>
            <a:off x="272322" y="8337245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2" name="Freeform 7"/>
          <p:cNvSpPr/>
          <p:nvPr/>
        </p:nvSpPr>
        <p:spPr>
          <a:xfrm>
            <a:off x="272322" y="7302293"/>
            <a:ext cx="5840228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3" name="TextBox 20"/>
          <p:cNvSpPr txBox="1"/>
          <p:nvPr/>
        </p:nvSpPr>
        <p:spPr>
          <a:xfrm>
            <a:off x="430883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4" name="TextBox 20"/>
          <p:cNvSpPr txBox="1"/>
          <p:nvPr/>
        </p:nvSpPr>
        <p:spPr>
          <a:xfrm>
            <a:off x="6475322" y="10242522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5" name="TextBox 20"/>
          <p:cNvSpPr txBox="1"/>
          <p:nvPr/>
        </p:nvSpPr>
        <p:spPr>
          <a:xfrm>
            <a:off x="6475322" y="3989679"/>
            <a:ext cx="436857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06" name="Freeform 7"/>
          <p:cNvSpPr/>
          <p:nvPr/>
        </p:nvSpPr>
        <p:spPr>
          <a:xfrm>
            <a:off x="12247666" y="3917339"/>
            <a:ext cx="5840228" cy="323850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7" name="Freeform 7"/>
          <p:cNvSpPr/>
          <p:nvPr/>
        </p:nvSpPr>
        <p:spPr>
          <a:xfrm>
            <a:off x="12246872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8" name="Freeform 7"/>
          <p:cNvSpPr/>
          <p:nvPr/>
        </p:nvSpPr>
        <p:spPr>
          <a:xfrm>
            <a:off x="12247666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09" name="Freeform 7"/>
          <p:cNvSpPr/>
          <p:nvPr/>
        </p:nvSpPr>
        <p:spPr>
          <a:xfrm>
            <a:off x="12247666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0" name="TextBox 20"/>
          <p:cNvSpPr txBox="1"/>
          <p:nvPr/>
        </p:nvSpPr>
        <p:spPr>
          <a:xfrm>
            <a:off x="12406227" y="3997907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1" name="Freeform 7"/>
          <p:cNvSpPr/>
          <p:nvPr/>
        </p:nvSpPr>
        <p:spPr>
          <a:xfrm>
            <a:off x="18229384" y="3917339"/>
            <a:ext cx="5840228" cy="3242966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2" name="Freeform 7"/>
          <p:cNvSpPr/>
          <p:nvPr/>
        </p:nvSpPr>
        <p:spPr>
          <a:xfrm>
            <a:off x="18228591" y="3917339"/>
            <a:ext cx="5840228" cy="588386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3" name="Freeform 7"/>
          <p:cNvSpPr/>
          <p:nvPr/>
        </p:nvSpPr>
        <p:spPr>
          <a:xfrm>
            <a:off x="18229384" y="2092631"/>
            <a:ext cx="5840228" cy="1631919"/>
          </a:xfrm>
          <a:prstGeom prst="rect">
            <a:avLst/>
          </a:prstGeom>
          <a:solidFill>
            <a:srgbClr val="FFFFFF"/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4" name="Freeform 7"/>
          <p:cNvSpPr/>
          <p:nvPr/>
        </p:nvSpPr>
        <p:spPr>
          <a:xfrm>
            <a:off x="18229384" y="1057679"/>
            <a:ext cx="5840228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15" name="TextBox 20"/>
          <p:cNvSpPr txBox="1"/>
          <p:nvPr/>
        </p:nvSpPr>
        <p:spPr>
          <a:xfrm>
            <a:off x="18450666" y="3989679"/>
            <a:ext cx="436857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defRPr b="1" sz="2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How do we assess this?</a:t>
            </a:r>
          </a:p>
        </p:txBody>
      </p:sp>
      <p:sp>
        <p:nvSpPr>
          <p:cNvPr id="916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(EN)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3" name="Afbeelding" descr="Afbeelding"/>
          <p:cNvPicPr>
            <a:picLocks noChangeAspect="1"/>
          </p:cNvPicPr>
          <p:nvPr/>
        </p:nvPicPr>
        <p:blipFill>
          <a:blip r:embed="rId2">
            <a:alphaModFix amt="21198"/>
            <a:extLst/>
          </a:blip>
          <a:stretch>
            <a:fillRect/>
          </a:stretch>
        </p:blipFill>
        <p:spPr>
          <a:xfrm>
            <a:off x="-3833587" y="59525"/>
            <a:ext cx="28350596" cy="13785477"/>
          </a:xfrm>
          <a:prstGeom prst="rect">
            <a:avLst/>
          </a:prstGeom>
          <a:ln w="12700">
            <a:miter lim="400000"/>
          </a:ln>
        </p:spPr>
      </p:pic>
      <p:sp>
        <p:nvSpPr>
          <p:cNvPr id="924" name="Rechthoek"/>
          <p:cNvSpPr/>
          <p:nvPr/>
        </p:nvSpPr>
        <p:spPr>
          <a:xfrm>
            <a:off x="-76200" y="-134625"/>
            <a:ext cx="24536400" cy="128318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  <a:alpha val="47540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5" name="Lijn"/>
          <p:cNvSpPr/>
          <p:nvPr/>
        </p:nvSpPr>
        <p:spPr>
          <a:xfrm>
            <a:off x="-257710" y="1167692"/>
            <a:ext cx="24899421" cy="1"/>
          </a:xfrm>
          <a:prstGeom prst="line">
            <a:avLst/>
          </a:prstGeom>
          <a:ln w="1016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26" name="Lijn"/>
          <p:cNvSpPr/>
          <p:nvPr/>
        </p:nvSpPr>
        <p:spPr>
          <a:xfrm>
            <a:off x="1209919" y="5089132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pic>
        <p:nvPicPr>
          <p:cNvPr id="927" name="FC_Pro_Vercelli_1892.svg.png" descr="FC_Pro_Vercelli_1892.svg.png"/>
          <p:cNvPicPr>
            <a:picLocks noChangeAspect="1"/>
          </p:cNvPicPr>
          <p:nvPr/>
        </p:nvPicPr>
        <p:blipFill>
          <a:blip r:embed="rId3">
            <a:extLst/>
          </a:blip>
          <a:srcRect l="0" t="0" r="0" b="0"/>
          <a:stretch>
            <a:fillRect/>
          </a:stretch>
        </p:blipFill>
        <p:spPr>
          <a:xfrm>
            <a:off x="583054" y="331010"/>
            <a:ext cx="1211120" cy="1673365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139700" dist="14813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928" name="Rechthoek"/>
          <p:cNvSpPr/>
          <p:nvPr/>
        </p:nvSpPr>
        <p:spPr>
          <a:xfrm>
            <a:off x="2628481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29" name="TextBox 8"/>
          <p:cNvSpPr txBox="1"/>
          <p:nvPr/>
        </p:nvSpPr>
        <p:spPr>
          <a:xfrm>
            <a:off x="2582140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FOOTBALL</a:t>
            </a:r>
          </a:p>
        </p:txBody>
      </p:sp>
      <p:sp>
        <p:nvSpPr>
          <p:cNvPr id="930" name="Rechthoek"/>
          <p:cNvSpPr/>
          <p:nvPr/>
        </p:nvSpPr>
        <p:spPr>
          <a:xfrm>
            <a:off x="748185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931" name="Rechthoek"/>
          <p:cNvSpPr/>
          <p:nvPr/>
        </p:nvSpPr>
        <p:spPr>
          <a:xfrm>
            <a:off x="12393712" y="3340095"/>
            <a:ext cx="4425597" cy="1058449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54254" dir="2156317">
              <a:srgbClr val="000000">
                <a:alpha val="79531"/>
              </a:srgbClr>
            </a:outerShdw>
          </a:effectLst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934" name="Groepeer"/>
          <p:cNvGrpSpPr/>
          <p:nvPr/>
        </p:nvGrpSpPr>
        <p:grpSpPr>
          <a:xfrm>
            <a:off x="18382817" y="3832435"/>
            <a:ext cx="4746648" cy="7153728"/>
            <a:chOff x="0" y="0"/>
            <a:chExt cx="4746646" cy="7153726"/>
          </a:xfrm>
        </p:grpSpPr>
        <p:sp>
          <p:nvSpPr>
            <p:cNvPr id="932" name="Afgeronde rechthoek"/>
            <p:cNvSpPr/>
            <p:nvPr/>
          </p:nvSpPr>
          <p:spPr>
            <a:xfrm>
              <a:off x="0" y="0"/>
              <a:ext cx="4746647" cy="7153727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933" name="pasted-image.tiff" descr="pasted-image.tiff"/>
            <p:cNvPicPr>
              <a:picLocks noChangeAspect="1"/>
            </p:cNvPicPr>
            <p:nvPr/>
          </p:nvPicPr>
          <p:blipFill>
            <a:blip r:embed="rId4">
              <a:alphaModFix amt="79311"/>
              <a:extLst/>
            </a:blip>
            <a:srcRect l="5357" t="19455" r="3464" b="21340"/>
            <a:stretch>
              <a:fillRect/>
            </a:stretch>
          </p:blipFill>
          <p:spPr>
            <a:xfrm rot="16200000">
              <a:off x="-942040" y="1358955"/>
              <a:ext cx="6630195" cy="44640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35" name="Freeform 7"/>
          <p:cNvSpPr/>
          <p:nvPr/>
        </p:nvSpPr>
        <p:spPr>
          <a:xfrm>
            <a:off x="2664616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6" name="Freeform 7"/>
          <p:cNvSpPr/>
          <p:nvPr/>
        </p:nvSpPr>
        <p:spPr>
          <a:xfrm>
            <a:off x="2664616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7" name="Freeform 7"/>
          <p:cNvSpPr/>
          <p:nvPr/>
        </p:nvSpPr>
        <p:spPr>
          <a:xfrm>
            <a:off x="2664616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8" name="Freeform 7"/>
          <p:cNvSpPr/>
          <p:nvPr/>
        </p:nvSpPr>
        <p:spPr>
          <a:xfrm>
            <a:off x="2664616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39" name="Lijn"/>
          <p:cNvSpPr/>
          <p:nvPr/>
        </p:nvSpPr>
        <p:spPr>
          <a:xfrm>
            <a:off x="1254535" y="8809293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40" name="Freeform 7"/>
          <p:cNvSpPr/>
          <p:nvPr/>
        </p:nvSpPr>
        <p:spPr>
          <a:xfrm>
            <a:off x="7552721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1" name="Freeform 7"/>
          <p:cNvSpPr/>
          <p:nvPr/>
        </p:nvSpPr>
        <p:spPr>
          <a:xfrm>
            <a:off x="7552721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2" name="Freeform 7"/>
          <p:cNvSpPr/>
          <p:nvPr/>
        </p:nvSpPr>
        <p:spPr>
          <a:xfrm>
            <a:off x="7552721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3" name="Freeform 7"/>
          <p:cNvSpPr/>
          <p:nvPr/>
        </p:nvSpPr>
        <p:spPr>
          <a:xfrm>
            <a:off x="7552721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4" name="Freeform 7"/>
          <p:cNvSpPr/>
          <p:nvPr/>
        </p:nvSpPr>
        <p:spPr>
          <a:xfrm>
            <a:off x="12384918" y="5925039"/>
            <a:ext cx="4443184" cy="88026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5" name="Freeform 7"/>
          <p:cNvSpPr/>
          <p:nvPr/>
        </p:nvSpPr>
        <p:spPr>
          <a:xfrm>
            <a:off x="12384918" y="6988217"/>
            <a:ext cx="4443184" cy="880264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6" name="Freeform 7"/>
          <p:cNvSpPr/>
          <p:nvPr/>
        </p:nvSpPr>
        <p:spPr>
          <a:xfrm>
            <a:off x="12384918" y="9724706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7" name="Freeform 7"/>
          <p:cNvSpPr/>
          <p:nvPr/>
        </p:nvSpPr>
        <p:spPr>
          <a:xfrm>
            <a:off x="12384918" y="10787884"/>
            <a:ext cx="4443184" cy="880264"/>
          </a:xfrm>
          <a:prstGeom prst="rect">
            <a:avLst/>
          </a:prstGeom>
          <a:solidFill>
            <a:schemeClr val="accent5"/>
          </a:solidFill>
          <a:ln w="38100">
            <a:solidFill>
              <a:srgbClr val="FFFFFF"/>
            </a:solidFill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</a:effectLst>
        </p:spPr>
        <p:txBody>
          <a:bodyPr lIns="45719" r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8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48" name="TextBox 8"/>
          <p:cNvSpPr txBox="1"/>
          <p:nvPr/>
        </p:nvSpPr>
        <p:spPr>
          <a:xfrm rot="16200000">
            <a:off x="-234167" y="6557020"/>
            <a:ext cx="3771901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NEEDS</a:t>
            </a:r>
          </a:p>
        </p:txBody>
      </p:sp>
      <p:sp>
        <p:nvSpPr>
          <p:cNvPr id="949" name="TextBox 8"/>
          <p:cNvSpPr txBox="1"/>
          <p:nvPr/>
        </p:nvSpPr>
        <p:spPr>
          <a:xfrm rot="16200000">
            <a:off x="-236774" y="10309569"/>
            <a:ext cx="3777115" cy="752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4600">
                <a:solidFill>
                  <a:schemeClr val="accent5">
                    <a:hueOff val="-82419"/>
                    <a:satOff val="-9513"/>
                    <a:lumOff val="-16343"/>
                  </a:schemeClr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PREFENCES</a:t>
            </a:r>
          </a:p>
        </p:txBody>
      </p:sp>
      <p:sp>
        <p:nvSpPr>
          <p:cNvPr id="950" name="TextBox 8"/>
          <p:cNvSpPr txBox="1"/>
          <p:nvPr/>
        </p:nvSpPr>
        <p:spPr>
          <a:xfrm>
            <a:off x="7488743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physical</a:t>
            </a:r>
          </a:p>
        </p:txBody>
      </p:sp>
      <p:sp>
        <p:nvSpPr>
          <p:cNvPr id="951" name="TextBox 8"/>
          <p:cNvSpPr txBox="1"/>
          <p:nvPr/>
        </p:nvSpPr>
        <p:spPr>
          <a:xfrm>
            <a:off x="12391992" y="3612964"/>
            <a:ext cx="4481284" cy="512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PERSONALITY</a:t>
            </a:r>
          </a:p>
        </p:txBody>
      </p:sp>
      <p:sp>
        <p:nvSpPr>
          <p:cNvPr id="952" name="Lijn"/>
          <p:cNvSpPr/>
          <p:nvPr/>
        </p:nvSpPr>
        <p:spPr>
          <a:xfrm>
            <a:off x="1254535" y="12561895"/>
            <a:ext cx="15569129" cy="1"/>
          </a:xfrm>
          <a:prstGeom prst="line">
            <a:avLst/>
          </a:prstGeom>
          <a:ln w="254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/>
          </a:p>
        </p:txBody>
      </p:sp>
      <p:sp>
        <p:nvSpPr>
          <p:cNvPr id="953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Leeg kopie 4">
    <p:bg>
      <p:bgPr>
        <a:gradFill flip="none" rotWithShape="1">
          <a:gsLst>
            <a:gs pos="0">
              <a:srgbClr val="000000"/>
            </a:gs>
            <a:gs pos="100000">
              <a:srgbClr val="DA3832"/>
            </a:gs>
          </a:gsLst>
          <a:lin ang="9897784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Rechthoek"/>
          <p:cNvSpPr/>
          <p:nvPr/>
        </p:nvSpPr>
        <p:spPr>
          <a:xfrm>
            <a:off x="228588" y="9285347"/>
            <a:ext cx="7296900" cy="415911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1" name="Rechthoek"/>
          <p:cNvSpPr/>
          <p:nvPr/>
        </p:nvSpPr>
        <p:spPr>
          <a:xfrm>
            <a:off x="16452494" y="4482161"/>
            <a:ext cx="7806637" cy="3843630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2" name="Rechthoek"/>
          <p:cNvSpPr/>
          <p:nvPr/>
        </p:nvSpPr>
        <p:spPr>
          <a:xfrm>
            <a:off x="7857335" y="8533674"/>
            <a:ext cx="8290361" cy="492066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3" name="Rechthoek"/>
          <p:cNvSpPr/>
          <p:nvPr/>
        </p:nvSpPr>
        <p:spPr>
          <a:xfrm>
            <a:off x="16452494" y="8534379"/>
            <a:ext cx="7806637" cy="4919257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4" name="Rechthoek"/>
          <p:cNvSpPr/>
          <p:nvPr/>
        </p:nvSpPr>
        <p:spPr>
          <a:xfrm>
            <a:off x="16452494" y="238399"/>
            <a:ext cx="7806637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5" name="Rechthoek"/>
          <p:cNvSpPr/>
          <p:nvPr/>
        </p:nvSpPr>
        <p:spPr>
          <a:xfrm>
            <a:off x="7815068" y="4485154"/>
            <a:ext cx="3971648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6" name="Rechthoek"/>
          <p:cNvSpPr/>
          <p:nvPr/>
        </p:nvSpPr>
        <p:spPr>
          <a:xfrm>
            <a:off x="7815068" y="238399"/>
            <a:ext cx="8290361" cy="4035878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7" name="Rechthoek"/>
          <p:cNvSpPr/>
          <p:nvPr/>
        </p:nvSpPr>
        <p:spPr>
          <a:xfrm>
            <a:off x="236820" y="238399"/>
            <a:ext cx="7296901" cy="8630211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68" name="TextBox 38"/>
          <p:cNvSpPr txBox="1"/>
          <p:nvPr/>
        </p:nvSpPr>
        <p:spPr>
          <a:xfrm>
            <a:off x="891013" y="1796081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Date of birth</a:t>
            </a:r>
          </a:p>
        </p:txBody>
      </p:sp>
      <p:sp>
        <p:nvSpPr>
          <p:cNvPr id="969" name="TextBox 38"/>
          <p:cNvSpPr txBox="1"/>
          <p:nvPr/>
        </p:nvSpPr>
        <p:spPr>
          <a:xfrm>
            <a:off x="891013" y="2556319"/>
            <a:ext cx="2233183" cy="802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City of Birth </a:t>
            </a:r>
          </a:p>
        </p:txBody>
      </p:sp>
      <p:sp>
        <p:nvSpPr>
          <p:cNvPr id="970" name="TextBox 38"/>
          <p:cNvSpPr txBox="1"/>
          <p:nvPr/>
        </p:nvSpPr>
        <p:spPr>
          <a:xfrm>
            <a:off x="123369" y="3288686"/>
            <a:ext cx="3000827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Nationality</a:t>
            </a:r>
          </a:p>
        </p:txBody>
      </p:sp>
      <p:sp>
        <p:nvSpPr>
          <p:cNvPr id="971" name="TextBox 38"/>
          <p:cNvSpPr txBox="1"/>
          <p:nvPr/>
        </p:nvSpPr>
        <p:spPr>
          <a:xfrm>
            <a:off x="891013" y="408092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Height</a:t>
            </a:r>
          </a:p>
        </p:txBody>
      </p:sp>
      <p:sp>
        <p:nvSpPr>
          <p:cNvPr id="972" name="TextBox 38"/>
          <p:cNvSpPr txBox="1"/>
          <p:nvPr/>
        </p:nvSpPr>
        <p:spPr>
          <a:xfrm>
            <a:off x="891013" y="480669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Preferred foot</a:t>
            </a:r>
          </a:p>
        </p:txBody>
      </p:sp>
      <p:sp>
        <p:nvSpPr>
          <p:cNvPr id="973" name="TextBox 38"/>
          <p:cNvSpPr txBox="1"/>
          <p:nvPr/>
        </p:nvSpPr>
        <p:spPr>
          <a:xfrm>
            <a:off x="891013" y="5571054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Club</a:t>
            </a:r>
          </a:p>
        </p:txBody>
      </p:sp>
      <p:sp>
        <p:nvSpPr>
          <p:cNvPr id="974" name="TextBox 38"/>
          <p:cNvSpPr txBox="1"/>
          <p:nvPr/>
        </p:nvSpPr>
        <p:spPr>
          <a:xfrm>
            <a:off x="891013" y="6264161"/>
            <a:ext cx="2233183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League</a:t>
            </a:r>
          </a:p>
        </p:txBody>
      </p:sp>
      <p:sp>
        <p:nvSpPr>
          <p:cNvPr id="975" name="Freeform 5"/>
          <p:cNvSpPr/>
          <p:nvPr/>
        </p:nvSpPr>
        <p:spPr>
          <a:xfrm>
            <a:off x="1391022" y="1783354"/>
            <a:ext cx="5347679" cy="25401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2700">
            <a:miter lim="400000"/>
          </a:ln>
        </p:spPr>
        <p:txBody>
          <a:bodyPr lIns="60959" tIns="60959" rIns="60959" bIns="60959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6" name="Rechthoek"/>
          <p:cNvSpPr/>
          <p:nvPr/>
        </p:nvSpPr>
        <p:spPr>
          <a:xfrm>
            <a:off x="11216502" y="979918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7" name="Rechthoek"/>
          <p:cNvSpPr/>
          <p:nvPr/>
        </p:nvSpPr>
        <p:spPr>
          <a:xfrm>
            <a:off x="13606960" y="979918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8" name="Rechthoek"/>
          <p:cNvSpPr/>
          <p:nvPr/>
        </p:nvSpPr>
        <p:spPr>
          <a:xfrm>
            <a:off x="11216502" y="1711934"/>
            <a:ext cx="2113565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79" name="Rechthoek"/>
          <p:cNvSpPr/>
          <p:nvPr/>
        </p:nvSpPr>
        <p:spPr>
          <a:xfrm>
            <a:off x="13606960" y="1711934"/>
            <a:ext cx="2113564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0" name="Rechthoek"/>
          <p:cNvSpPr/>
          <p:nvPr/>
        </p:nvSpPr>
        <p:spPr>
          <a:xfrm>
            <a:off x="11216502" y="2499905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1" name="Rechthoek"/>
          <p:cNvSpPr/>
          <p:nvPr/>
        </p:nvSpPr>
        <p:spPr>
          <a:xfrm>
            <a:off x="13606960" y="2499905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2" name="Rechthoek"/>
          <p:cNvSpPr/>
          <p:nvPr/>
        </p:nvSpPr>
        <p:spPr>
          <a:xfrm>
            <a:off x="11216502" y="3275850"/>
            <a:ext cx="2113565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3" name="Rechthoek"/>
          <p:cNvSpPr/>
          <p:nvPr/>
        </p:nvSpPr>
        <p:spPr>
          <a:xfrm>
            <a:off x="13606960" y="3275850"/>
            <a:ext cx="2113564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4" name="TextBox 40"/>
          <p:cNvSpPr txBox="1"/>
          <p:nvPr/>
        </p:nvSpPr>
        <p:spPr>
          <a:xfrm>
            <a:off x="7997574" y="131715"/>
            <a:ext cx="1806256" cy="35795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>
                <a:solidFill>
                  <a:srgbClr val="000000"/>
                </a:solidFill>
              </a:rPr>
              <a:t>STATS</a:t>
            </a:r>
          </a:p>
          <a:p>
            <a:pPr defTabSz="1219200">
              <a:lnSpc>
                <a:spcPts val="56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Matches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Minutes</a:t>
            </a:r>
          </a:p>
          <a:p>
            <a:pPr defTabSz="1219200">
              <a:lnSpc>
                <a:spcPts val="5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Goals</a:t>
            </a:r>
          </a:p>
          <a:p>
            <a:pPr defTabSz="1219200">
              <a:lnSpc>
                <a:spcPts val="61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Assists</a:t>
            </a:r>
          </a:p>
        </p:txBody>
      </p:sp>
      <p:sp>
        <p:nvSpPr>
          <p:cNvPr id="985" name="TextBox 41"/>
          <p:cNvSpPr txBox="1"/>
          <p:nvPr/>
        </p:nvSpPr>
        <p:spPr>
          <a:xfrm>
            <a:off x="7997574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RATING</a:t>
            </a:r>
          </a:p>
        </p:txBody>
      </p:sp>
      <p:sp>
        <p:nvSpPr>
          <p:cNvPr id="986" name="TextBox 46"/>
          <p:cNvSpPr txBox="1"/>
          <p:nvPr/>
        </p:nvSpPr>
        <p:spPr>
          <a:xfrm>
            <a:off x="16850858" y="1036124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value</a:t>
            </a:r>
          </a:p>
        </p:txBody>
      </p:sp>
      <p:sp>
        <p:nvSpPr>
          <p:cNvPr id="987" name="Rechthoek"/>
          <p:cNvSpPr/>
          <p:nvPr/>
        </p:nvSpPr>
        <p:spPr>
          <a:xfrm>
            <a:off x="19705480" y="11071458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8" name="Rechthoek"/>
          <p:cNvSpPr/>
          <p:nvPr/>
        </p:nvSpPr>
        <p:spPr>
          <a:xfrm>
            <a:off x="19705480" y="11818374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89" name="Rechthoek"/>
          <p:cNvSpPr/>
          <p:nvPr/>
        </p:nvSpPr>
        <p:spPr>
          <a:xfrm>
            <a:off x="19705480" y="12548075"/>
            <a:ext cx="3648991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0" name="Rechthoek"/>
          <p:cNvSpPr/>
          <p:nvPr/>
        </p:nvSpPr>
        <p:spPr>
          <a:xfrm>
            <a:off x="18197104" y="397811"/>
            <a:ext cx="5799755" cy="3717054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1" name="TextBox 43"/>
          <p:cNvSpPr txBox="1"/>
          <p:nvPr/>
        </p:nvSpPr>
        <p:spPr>
          <a:xfrm>
            <a:off x="11203802" y="334915"/>
            <a:ext cx="213896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CURRENT SEASON</a:t>
            </a:r>
          </a:p>
        </p:txBody>
      </p:sp>
      <p:sp>
        <p:nvSpPr>
          <p:cNvPr id="992" name="TextBox 44"/>
          <p:cNvSpPr txBox="1"/>
          <p:nvPr/>
        </p:nvSpPr>
        <p:spPr>
          <a:xfrm>
            <a:off x="14088420" y="334915"/>
            <a:ext cx="1150645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CAREER</a:t>
            </a:r>
          </a:p>
        </p:txBody>
      </p:sp>
      <p:sp>
        <p:nvSpPr>
          <p:cNvPr id="993" name="TextBox 46"/>
          <p:cNvSpPr txBox="1"/>
          <p:nvPr/>
        </p:nvSpPr>
        <p:spPr>
          <a:xfrm>
            <a:off x="16766170" y="8728014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5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cap="none">
                <a:latin typeface="Cabin"/>
                <a:ea typeface="Cabin"/>
                <a:cs typeface="Cabin"/>
                <a:sym typeface="Cabin"/>
              </a:defRPr>
            </a:pPr>
            <a:r>
              <a:rPr cap="all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Transfer details</a:t>
            </a:r>
          </a:p>
        </p:txBody>
      </p:sp>
      <p:sp>
        <p:nvSpPr>
          <p:cNvPr id="994" name="TextBox 45"/>
          <p:cNvSpPr txBox="1"/>
          <p:nvPr/>
        </p:nvSpPr>
        <p:spPr>
          <a:xfrm>
            <a:off x="16681484" y="388073"/>
            <a:ext cx="174382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100000"/>
              </a:lnSpc>
              <a:spcBef>
                <a:spcPts val="0"/>
              </a:spcBef>
              <a:defRPr b="1" cap="all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 b="0" cap="none"/>
            </a:pPr>
            <a:r>
              <a:rPr b="1" cap="all"/>
              <a:t>Scouting</a:t>
            </a:r>
          </a:p>
        </p:txBody>
      </p:sp>
      <p:sp>
        <p:nvSpPr>
          <p:cNvPr id="995" name="TextBox 47"/>
          <p:cNvSpPr txBox="1"/>
          <p:nvPr/>
        </p:nvSpPr>
        <p:spPr>
          <a:xfrm>
            <a:off x="8044076" y="8652319"/>
            <a:ext cx="3000827" cy="463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ts val="3400"/>
              </a:lnSpc>
              <a:spcBef>
                <a:spcPts val="0"/>
              </a:spcBef>
              <a:defRPr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rPr b="1" cap="all"/>
              <a:t>Summary scouting</a:t>
            </a:r>
            <a:r>
              <a:rPr b="1"/>
              <a:t>:</a:t>
            </a:r>
          </a:p>
        </p:txBody>
      </p:sp>
      <p:sp>
        <p:nvSpPr>
          <p:cNvPr id="996" name="Rechthoek"/>
          <p:cNvSpPr/>
          <p:nvPr/>
        </p:nvSpPr>
        <p:spPr>
          <a:xfrm>
            <a:off x="3602054" y="2095922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7" name="Rechthoek"/>
          <p:cNvSpPr/>
          <p:nvPr/>
        </p:nvSpPr>
        <p:spPr>
          <a:xfrm>
            <a:off x="3602054" y="284964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8" name="Rechthoek"/>
          <p:cNvSpPr/>
          <p:nvPr/>
        </p:nvSpPr>
        <p:spPr>
          <a:xfrm>
            <a:off x="3602054" y="3607060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999" name="Rechthoek"/>
          <p:cNvSpPr/>
          <p:nvPr/>
        </p:nvSpPr>
        <p:spPr>
          <a:xfrm>
            <a:off x="3602054" y="4364475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0" name="Rechthoek"/>
          <p:cNvSpPr/>
          <p:nvPr/>
        </p:nvSpPr>
        <p:spPr>
          <a:xfrm>
            <a:off x="3602054" y="5118199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1" name="Rechthoek"/>
          <p:cNvSpPr/>
          <p:nvPr/>
        </p:nvSpPr>
        <p:spPr>
          <a:xfrm>
            <a:off x="3602054" y="5861842"/>
            <a:ext cx="3624260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2" name="Rechthoek"/>
          <p:cNvSpPr/>
          <p:nvPr/>
        </p:nvSpPr>
        <p:spPr>
          <a:xfrm>
            <a:off x="3602054" y="6609877"/>
            <a:ext cx="3624260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3" name="TextBox 38"/>
          <p:cNvSpPr txBox="1"/>
          <p:nvPr/>
        </p:nvSpPr>
        <p:spPr>
          <a:xfrm>
            <a:off x="890861" y="6999515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Agency</a:t>
            </a:r>
          </a:p>
        </p:txBody>
      </p:sp>
      <p:sp>
        <p:nvSpPr>
          <p:cNvPr id="1004" name="Rechthoek"/>
          <p:cNvSpPr/>
          <p:nvPr/>
        </p:nvSpPr>
        <p:spPr>
          <a:xfrm>
            <a:off x="3601902" y="7345231"/>
            <a:ext cx="3624259" cy="587418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5" name="TextBox 38"/>
          <p:cNvSpPr txBox="1"/>
          <p:nvPr/>
        </p:nvSpPr>
        <p:spPr>
          <a:xfrm>
            <a:off x="890861" y="7733610"/>
            <a:ext cx="2233182" cy="1666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r" defTabSz="1219200">
              <a:lnSpc>
                <a:spcPts val="68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Agent</a:t>
            </a:r>
          </a:p>
        </p:txBody>
      </p:sp>
      <p:sp>
        <p:nvSpPr>
          <p:cNvPr id="1006" name="Rechthoek"/>
          <p:cNvSpPr/>
          <p:nvPr/>
        </p:nvSpPr>
        <p:spPr>
          <a:xfrm>
            <a:off x="3601902" y="8079326"/>
            <a:ext cx="3624259" cy="587417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7" name="Rechthoek"/>
          <p:cNvSpPr/>
          <p:nvPr/>
        </p:nvSpPr>
        <p:spPr>
          <a:xfrm>
            <a:off x="19705480" y="10315740"/>
            <a:ext cx="3648991" cy="606011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8" name="Rechthoek"/>
          <p:cNvSpPr/>
          <p:nvPr/>
        </p:nvSpPr>
        <p:spPr>
          <a:xfrm>
            <a:off x="19717846" y="9560023"/>
            <a:ext cx="3648990" cy="606010"/>
          </a:xfrm>
          <a:prstGeom prst="rect">
            <a:avLst/>
          </a:prstGeom>
          <a:solidFill>
            <a:srgbClr val="FFFFFF">
              <a:alpha val="50000"/>
            </a:srgb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09" name="TextBox 46"/>
          <p:cNvSpPr txBox="1"/>
          <p:nvPr/>
        </p:nvSpPr>
        <p:spPr>
          <a:xfrm>
            <a:off x="16850858" y="12641529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Next step</a:t>
            </a:r>
          </a:p>
        </p:txBody>
      </p:sp>
      <p:sp>
        <p:nvSpPr>
          <p:cNvPr id="1010" name="TextBox 46"/>
          <p:cNvSpPr txBox="1"/>
          <p:nvPr/>
        </p:nvSpPr>
        <p:spPr>
          <a:xfrm>
            <a:off x="16850858" y="11884115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2</a:t>
            </a:r>
          </a:p>
        </p:txBody>
      </p:sp>
      <p:sp>
        <p:nvSpPr>
          <p:cNvPr id="1011" name="TextBox 46"/>
          <p:cNvSpPr txBox="1"/>
          <p:nvPr/>
        </p:nvSpPr>
        <p:spPr>
          <a:xfrm>
            <a:off x="16850858" y="11101413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Prediction year 1</a:t>
            </a:r>
          </a:p>
        </p:txBody>
      </p:sp>
      <p:sp>
        <p:nvSpPr>
          <p:cNvPr id="1012" name="TextBox 46"/>
          <p:cNvSpPr txBox="1"/>
          <p:nvPr/>
        </p:nvSpPr>
        <p:spPr>
          <a:xfrm>
            <a:off x="16850858" y="9615068"/>
            <a:ext cx="2913548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ct val="240000"/>
              </a:lnSpc>
              <a:spcBef>
                <a:spcPts val="0"/>
              </a:spcBef>
              <a:defRPr sz="2400">
                <a:solidFill>
                  <a:srgbClr val="FFFFFF"/>
                </a:solid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>
              <a:defRPr>
                <a:latin typeface="Cabin"/>
                <a:ea typeface="Cabin"/>
                <a:cs typeface="Cabin"/>
                <a:sym typeface="Cabin"/>
              </a:defRPr>
            </a:pPr>
            <a:r>
              <a:rPr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rPr>
              <a:t>End of contract</a:t>
            </a:r>
          </a:p>
        </p:txBody>
      </p:sp>
      <p:sp>
        <p:nvSpPr>
          <p:cNvPr id="1013" name="Rechthoek"/>
          <p:cNvSpPr/>
          <p:nvPr/>
        </p:nvSpPr>
        <p:spPr>
          <a:xfrm>
            <a:off x="12133781" y="4485154"/>
            <a:ext cx="3980337" cy="3837643"/>
          </a:xfrm>
          <a:prstGeom prst="rect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AF8B31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14" name="TextBox 41"/>
          <p:cNvSpPr txBox="1"/>
          <p:nvPr/>
        </p:nvSpPr>
        <p:spPr>
          <a:xfrm>
            <a:off x="12316287" y="4521379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 AVAILABILITY</a:t>
            </a:r>
          </a:p>
        </p:txBody>
      </p:sp>
      <p:pic>
        <p:nvPicPr>
          <p:cNvPr id="1015" name="pasted-image.tiff" descr="pasted-image.tiff"/>
          <p:cNvPicPr>
            <a:picLocks noChangeAspect="1"/>
          </p:cNvPicPr>
          <p:nvPr/>
        </p:nvPicPr>
        <p:blipFill>
          <a:blip r:embed="rId3">
            <a:alphaModFix amt="85000"/>
            <a:extLst/>
          </a:blip>
          <a:srcRect l="4545" t="19455" r="2655" b="21337"/>
          <a:stretch>
            <a:fillRect/>
          </a:stretch>
        </p:blipFill>
        <p:spPr>
          <a:xfrm rot="16200000">
            <a:off x="3912493" y="10136175"/>
            <a:ext cx="3792539" cy="250904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016" name="Rechthoek"/>
          <p:cNvSpPr/>
          <p:nvPr/>
        </p:nvSpPr>
        <p:spPr>
          <a:xfrm>
            <a:off x="4407241" y="9341001"/>
            <a:ext cx="2808750" cy="4047809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pPr defTabSz="457200">
              <a:lnSpc>
                <a:spcPct val="100000"/>
              </a:lnSpc>
              <a:spcBef>
                <a:spcPts val="0"/>
              </a:spcBef>
              <a:defRPr sz="1800">
                <a:latin typeface="Aptos"/>
                <a:ea typeface="Aptos"/>
                <a:cs typeface="Aptos"/>
                <a:sym typeface="Aptos"/>
              </a:defRPr>
            </a:pPr>
          </a:p>
        </p:txBody>
      </p:sp>
      <p:sp>
        <p:nvSpPr>
          <p:cNvPr id="1017" name="TextBox 41"/>
          <p:cNvSpPr txBox="1"/>
          <p:nvPr/>
        </p:nvSpPr>
        <p:spPr>
          <a:xfrm>
            <a:off x="407134" y="9496137"/>
            <a:ext cx="2755075" cy="4637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19200">
              <a:lnSpc>
                <a:spcPts val="3400"/>
              </a:lnSpc>
              <a:spcBef>
                <a:spcPts val="0"/>
              </a:spcBef>
              <a:defRPr b="1" sz="24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PLAYERS PROFILE</a:t>
            </a:r>
          </a:p>
        </p:txBody>
      </p:sp>
      <p:sp>
        <p:nvSpPr>
          <p:cNvPr id="1018" name="TextBox 31"/>
          <p:cNvSpPr txBox="1"/>
          <p:nvPr/>
        </p:nvSpPr>
        <p:spPr>
          <a:xfrm>
            <a:off x="389737" y="11554262"/>
            <a:ext cx="2152563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Total Distance: 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HI-runs: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Sprints:</a:t>
            </a:r>
          </a:p>
          <a:p>
            <a:pPr marL="254000" indent="-254000" defTabSz="1285875">
              <a:lnSpc>
                <a:spcPct val="100000"/>
              </a:lnSpc>
              <a:spcBef>
                <a:spcPts val="0"/>
              </a:spcBef>
              <a:buSzPct val="123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Top speed:</a:t>
            </a:r>
          </a:p>
        </p:txBody>
      </p:sp>
      <p:sp>
        <p:nvSpPr>
          <p:cNvPr id="1019" name="Dia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Dianummer"/>
          <p:cNvSpPr txBox="1"/>
          <p:nvPr>
            <p:ph type="sldNum" sz="quarter" idx="2"/>
          </p:nvPr>
        </p:nvSpPr>
        <p:spPr>
          <a:xfrm>
            <a:off x="12051322" y="12344399"/>
            <a:ext cx="1969479" cy="736601"/>
          </a:xfrm>
          <a:prstGeom prst="rect">
            <a:avLst/>
          </a:prstGeom>
        </p:spPr>
        <p:txBody>
          <a:bodyPr lIns="12660" tIns="12660" rIns="12660" bIns="12660" anchor="ctr"/>
          <a:lstStyle>
            <a:lvl1pPr algn="r" defTabSz="126609">
              <a:defRPr sz="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tif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slideLayout" Target="../slideLayouts/slideLayout1.xml"/><Relationship Id="rId8" Type="http://schemas.openxmlformats.org/officeDocument/2006/relationships/slideLayout" Target="../slideLayouts/slideLayout2.xml"/><Relationship Id="rId9" Type="http://schemas.openxmlformats.org/officeDocument/2006/relationships/slideLayout" Target="../slideLayouts/slideLayout3.xml"/><Relationship Id="rId10" Type="http://schemas.openxmlformats.org/officeDocument/2006/relationships/slideLayout" Target="../slideLayouts/slideLayout4.xml"/><Relationship Id="rId11" Type="http://schemas.openxmlformats.org/officeDocument/2006/relationships/slideLayout" Target="../slideLayouts/slideLayout5.xml"/><Relationship Id="rId12" Type="http://schemas.openxmlformats.org/officeDocument/2006/relationships/slideLayout" Target="../slideLayouts/slideLayout6.xml"/><Relationship Id="rId13" Type="http://schemas.openxmlformats.org/officeDocument/2006/relationships/slideLayout" Target="../slideLayouts/slideLayout7.xml"/><Relationship Id="rId14" Type="http://schemas.openxmlformats.org/officeDocument/2006/relationships/slideLayout" Target="../slideLayouts/slideLayout8.xml"/><Relationship Id="rId15" Type="http://schemas.openxmlformats.org/officeDocument/2006/relationships/slideLayout" Target="../slideLayouts/slideLayout9.xml"/><Relationship Id="rId16" Type="http://schemas.openxmlformats.org/officeDocument/2006/relationships/slideLayout" Target="../slideLayouts/slideLayout10.xml"/><Relationship Id="rId17" Type="http://schemas.openxmlformats.org/officeDocument/2006/relationships/slideLayout" Target="../slideLayouts/slideLayout11.xml"/><Relationship Id="rId18" Type="http://schemas.openxmlformats.org/officeDocument/2006/relationships/slideLayout" Target="../slideLayouts/slideLayout12.xml"/><Relationship Id="rId19" Type="http://schemas.openxmlformats.org/officeDocument/2006/relationships/slideLayout" Target="../slideLayouts/slideLayout13.xml"/><Relationship Id="rId20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17.xml"/><Relationship Id="rId24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0.xml"/><Relationship Id="rId27" Type="http://schemas.openxmlformats.org/officeDocument/2006/relationships/slideLayout" Target="../slideLayouts/slideLayout21.xml"/><Relationship Id="rId28" Type="http://schemas.openxmlformats.org/officeDocument/2006/relationships/slideLayout" Target="../slideLayouts/slideLayout22.xml"/><Relationship Id="rId29" Type="http://schemas.openxmlformats.org/officeDocument/2006/relationships/slideLayout" Target="../slideLayouts/slideLayout23.xml"/><Relationship Id="rId30" Type="http://schemas.openxmlformats.org/officeDocument/2006/relationships/slideLayout" Target="../slideLayouts/slideLayout24.xml"/><Relationship Id="rId31" Type="http://schemas.openxmlformats.org/officeDocument/2006/relationships/slideLayout" Target="../slideLayouts/slideLayout25.xml"/><Relationship Id="rId32" Type="http://schemas.openxmlformats.org/officeDocument/2006/relationships/slideLayout" Target="../slideLayouts/slideLayout26.xml"/><Relationship Id="rId33" Type="http://schemas.openxmlformats.org/officeDocument/2006/relationships/slideLayout" Target="../slideLayouts/slideLayout27.xml"/><Relationship Id="rId34" Type="http://schemas.openxmlformats.org/officeDocument/2006/relationships/slideLayout" Target="../slideLayouts/slideLayout28.xml"/><Relationship Id="rId35" Type="http://schemas.openxmlformats.org/officeDocument/2006/relationships/slideLayout" Target="../slideLayouts/slideLayout29.xml"/><Relationship Id="rId36" Type="http://schemas.openxmlformats.org/officeDocument/2006/relationships/slideLayout" Target="../slideLayouts/slideLayout30.xml"/><Relationship Id="rId37" Type="http://schemas.openxmlformats.org/officeDocument/2006/relationships/slideLayout" Target="../slideLayouts/slideLayout31.xml"/><Relationship Id="rId38" Type="http://schemas.openxmlformats.org/officeDocument/2006/relationships/slideLayout" Target="../slideLayouts/slideLayout32.xml"/><Relationship Id="rId39" Type="http://schemas.openxmlformats.org/officeDocument/2006/relationships/slideLayout" Target="../slideLayouts/slideLayout33.xml"/><Relationship Id="rId40" Type="http://schemas.openxmlformats.org/officeDocument/2006/relationships/slideLayout" Target="../slideLayouts/slideLayout34.xml"/><Relationship Id="rId41" Type="http://schemas.openxmlformats.org/officeDocument/2006/relationships/slideLayout" Target="../slideLayouts/slideLayout35.xml"/><Relationship Id="rId42" Type="http://schemas.openxmlformats.org/officeDocument/2006/relationships/slideLayout" Target="../slideLayouts/slideLayout36.xml"/><Relationship Id="rId43" Type="http://schemas.openxmlformats.org/officeDocument/2006/relationships/slideLayout" Target="../slideLayouts/slideLayout37.xml"/><Relationship Id="rId44" Type="http://schemas.openxmlformats.org/officeDocument/2006/relationships/slideLayout" Target="../slideLayouts/slideLayout38.xml"/><Relationship Id="rId45" Type="http://schemas.openxmlformats.org/officeDocument/2006/relationships/slideLayout" Target="../slideLayouts/slideLayout39.xml"/><Relationship Id="rId46" Type="http://schemas.openxmlformats.org/officeDocument/2006/relationships/slideLayout" Target="../slideLayouts/slideLayout40.xml"/><Relationship Id="rId47" Type="http://schemas.openxmlformats.org/officeDocument/2006/relationships/slideLayout" Target="../slideLayouts/slideLayout4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gradFill flip="none" rotWithShape="1">
          <a:gsLst>
            <a:gs pos="0">
              <a:srgbClr val="DA3832"/>
            </a:gs>
            <a:gs pos="100000">
              <a:srgbClr val="000000"/>
            </a:gs>
          </a:gsLst>
          <a:lin ang="0" scaled="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" descr="Afbeelding"/>
          <p:cNvPicPr>
            <a:picLocks noChangeAspect="1"/>
          </p:cNvPicPr>
          <p:nvPr/>
        </p:nvPicPr>
        <p:blipFill>
          <a:blip r:embed="rId2">
            <a:alphaModFix amt="70678"/>
            <a:extLst/>
          </a:blip>
          <a:stretch>
            <a:fillRect/>
          </a:stretch>
        </p:blipFill>
        <p:spPr>
          <a:xfrm>
            <a:off x="5242424" y="215842"/>
            <a:ext cx="13520184" cy="13621452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epeer"/>
          <p:cNvGrpSpPr/>
          <p:nvPr/>
        </p:nvGrpSpPr>
        <p:grpSpPr>
          <a:xfrm>
            <a:off x="15994350" y="2939003"/>
            <a:ext cx="3860156" cy="5817685"/>
            <a:chOff x="0" y="0"/>
            <a:chExt cx="3860154" cy="5817684"/>
          </a:xfrm>
        </p:grpSpPr>
        <p:sp>
          <p:nvSpPr>
            <p:cNvPr id="3" name="Afgeronde rechthoek"/>
            <p:cNvSpPr/>
            <p:nvPr/>
          </p:nvSpPr>
          <p:spPr>
            <a:xfrm>
              <a:off x="0" y="0"/>
              <a:ext cx="3860155" cy="5817685"/>
            </a:xfrm>
            <a:prstGeom prst="roundRect">
              <a:avLst>
                <a:gd name="adj" fmla="val 10300"/>
              </a:avLst>
            </a:prstGeom>
            <a:solidFill>
              <a:srgbClr val="FFFFFE"/>
            </a:solidFill>
            <a:ln w="508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</a:ln>
            <a:effectLst>
              <a:outerShdw sx="100000" sy="100000" kx="0" ky="0" algn="b" rotWithShape="0" blurRad="139700" dist="148130" dir="5400000">
                <a:srgbClr val="000000">
                  <a:alpha val="50000"/>
                </a:srgbClr>
              </a:outerShdw>
              <a:reflection blurRad="0" stA="50000" stPos="0" endA="0" endPos="40000" dist="0" dir="5400000" fadeDir="5400000" sx="100000" sy="-100000" kx="0" ky="0" algn="bl" rotWithShape="0"/>
            </a:effectLst>
          </p:spPr>
          <p:txBody>
            <a:bodyPr wrap="square" lIns="71437" tIns="71437" rIns="71437" bIns="71437" numCol="1" anchor="ctr">
              <a:noAutofit/>
            </a:bodyPr>
            <a:lstStyle/>
            <a:p>
              <a:pPr algn="ctr" defTabSz="821531">
                <a:lnSpc>
                  <a:spcPct val="100000"/>
                </a:lnSpc>
                <a:spcBef>
                  <a:spcPts val="0"/>
                </a:spcBef>
                <a:defRPr sz="3600">
                  <a:solidFill>
                    <a:srgbClr val="FFFFFF"/>
                  </a:solidFill>
                  <a:latin typeface="Helvetica Light"/>
                  <a:ea typeface="Helvetica Light"/>
                  <a:cs typeface="Helvetica Light"/>
                  <a:sym typeface="Helvetica Light"/>
                </a:defRPr>
              </a:pPr>
            </a:p>
          </p:txBody>
        </p:sp>
        <p:pic>
          <p:nvPicPr>
            <p:cNvPr id="4" name="pasted-image.tiff" descr="pasted-image.tiff"/>
            <p:cNvPicPr>
              <a:picLocks noChangeAspect="1"/>
            </p:cNvPicPr>
            <p:nvPr/>
          </p:nvPicPr>
          <p:blipFill>
            <a:blip r:embed="rId3">
              <a:alphaModFix amt="79311"/>
              <a:extLst/>
            </a:blip>
            <a:srcRect l="5357" t="19455" r="3464" b="21336"/>
            <a:stretch>
              <a:fillRect/>
            </a:stretch>
          </p:blipFill>
          <p:spPr>
            <a:xfrm rot="16200000">
              <a:off x="-765973" y="1105008"/>
              <a:ext cx="5391945" cy="3630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" name="Rechthoek"/>
          <p:cNvSpPr/>
          <p:nvPr/>
        </p:nvSpPr>
        <p:spPr>
          <a:xfrm>
            <a:off x="4545211" y="7484360"/>
            <a:ext cx="10890913" cy="1270001"/>
          </a:xfrm>
          <a:prstGeom prst="rect">
            <a:avLst/>
          </a:prstGeom>
          <a:solidFill>
            <a:srgbClr val="FFFFFF">
              <a:alpha val="73066"/>
            </a:srgb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7" name="TextBox 28"/>
          <p:cNvSpPr txBox="1"/>
          <p:nvPr/>
        </p:nvSpPr>
        <p:spPr>
          <a:xfrm>
            <a:off x="8532915" y="5951167"/>
            <a:ext cx="6939203" cy="18287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12660" tIns="12660" rIns="12660" bIns="12660" anchor="ctr">
            <a:spAutoFit/>
          </a:bodyPr>
          <a:lstStyle>
            <a:lvl1pPr defTabSz="126609">
              <a:lnSpc>
                <a:spcPct val="100000"/>
              </a:lnSpc>
              <a:spcBef>
                <a:spcPts val="0"/>
              </a:spcBef>
              <a:defRPr b="1" cap="all" sz="104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/>
            <a:r>
              <a:t>WELCOME</a:t>
            </a:r>
          </a:p>
        </p:txBody>
      </p:sp>
      <p:sp>
        <p:nvSpPr>
          <p:cNvPr id="8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9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1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3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4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5">
              <a:hueOff val="-82419"/>
              <a:satOff val="-9513"/>
              <a:lumOff val="-16343"/>
            </a:schemeClr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5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6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7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8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pic>
        <p:nvPicPr>
          <p:cNvPr id="19" name="Afbeelding" descr="Afbeeldi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6842824" y="12357920"/>
            <a:ext cx="7184464" cy="945175"/>
          </a:xfrm>
          <a:prstGeom prst="rect">
            <a:avLst/>
          </a:prstGeom>
          <a:ln w="12700">
            <a:miter lim="400000"/>
          </a:ln>
        </p:spPr>
      </p:pic>
      <p:pic>
        <p:nvPicPr>
          <p:cNvPr id="20" name="01.+ witFOURTEEN LOGO BLACK WHITE kopie.pdf" descr="01.+ witFOURTEEN LOGO BLACK WHITE kopie.pdf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821564" y="11810017"/>
            <a:ext cx="1825537" cy="1399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FC_Pro_Vercelli_1892.svg.png" descr="FC_Pro_Vercelli_1892.svg.png"/>
          <p:cNvPicPr>
            <a:picLocks noChangeAspect="1"/>
          </p:cNvPicPr>
          <p:nvPr/>
        </p:nvPicPr>
        <p:blipFill>
          <a:blip r:embed="rId6">
            <a:extLst/>
          </a:blip>
          <a:srcRect l="0" t="0" r="0" b="0"/>
          <a:stretch>
            <a:fillRect/>
          </a:stretch>
        </p:blipFill>
        <p:spPr>
          <a:xfrm>
            <a:off x="772309" y="11635487"/>
            <a:ext cx="1265608" cy="1748648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Naam presentatie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b">
            <a:normAutofit fontScale="100000" lnSpcReduction="0"/>
          </a:bodyPr>
          <a:lstStyle/>
          <a:p>
            <a:pPr/>
            <a:r>
              <a:t>Naam presentatie</a:t>
            </a:r>
          </a:p>
        </p:txBody>
      </p:sp>
      <p:sp>
        <p:nvSpPr>
          <p:cNvPr id="23" name="Hoofdtekst - niveau één…"/>
          <p:cNvSpPr txBox="1"/>
          <p:nvPr>
            <p:ph type="body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Ondertitel presentatie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Dianummer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7"/>
    <p:sldLayoutId id="2147483650" r:id="rId8"/>
    <p:sldLayoutId id="2147483651" r:id="rId9"/>
    <p:sldLayoutId id="2147483652" r:id="rId10"/>
    <p:sldLayoutId id="2147483653" r:id="rId11"/>
    <p:sldLayoutId id="2147483654" r:id="rId12"/>
    <p:sldLayoutId id="2147483655" r:id="rId13"/>
    <p:sldLayoutId id="2147483656" r:id="rId14"/>
    <p:sldLayoutId id="2147483657" r:id="rId15"/>
    <p:sldLayoutId id="2147483658" r:id="rId16"/>
    <p:sldLayoutId id="2147483659" r:id="rId17"/>
    <p:sldLayoutId id="2147483660" r:id="rId18"/>
    <p:sldLayoutId id="2147483661" r:id="rId19"/>
    <p:sldLayoutId id="2147483662" r:id="rId20"/>
    <p:sldLayoutId id="2147483663" r:id="rId21"/>
    <p:sldLayoutId id="2147483664" r:id="rId22"/>
    <p:sldLayoutId id="2147483665" r:id="rId23"/>
    <p:sldLayoutId id="2147483666" r:id="rId24"/>
    <p:sldLayoutId id="2147483667" r:id="rId25"/>
    <p:sldLayoutId id="2147483668" r:id="rId26"/>
    <p:sldLayoutId id="2147483669" r:id="rId27"/>
    <p:sldLayoutId id="2147483670" r:id="rId28"/>
    <p:sldLayoutId id="2147483671" r:id="rId29"/>
    <p:sldLayoutId id="2147483672" r:id="rId30"/>
    <p:sldLayoutId id="2147483673" r:id="rId31"/>
    <p:sldLayoutId id="2147483674" r:id="rId32"/>
    <p:sldLayoutId id="2147483675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684" r:id="rId42"/>
    <p:sldLayoutId id="2147483685" r:id="rId43"/>
    <p:sldLayoutId id="2147483686" r:id="rId44"/>
    <p:sldLayoutId id="2147483687" r:id="rId45"/>
    <p:sldLayoutId id="2147483688" r:id="rId46"/>
    <p:sldLayoutId id="2147483689" r:id="rId47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232" strike="noStrike" sz="116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8255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5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image" Target="../media/image10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8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recruitment.scisports.app/" TargetMode="External"/><Relationship Id="rId3" Type="http://schemas.openxmlformats.org/officeDocument/2006/relationships/image" Target="../media/image11.png"/><Relationship Id="rId4" Type="http://schemas.openxmlformats.org/officeDocument/2006/relationships/slide" Target="slide1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8.xml"/><Relationship Id="rId3" Type="http://schemas.openxmlformats.org/officeDocument/2006/relationships/slide" Target="slide9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3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2.png"/><Relationship Id="rId3" Type="http://schemas.openxmlformats.org/officeDocument/2006/relationships/slide" Target="slide6.xml"/><Relationship Id="rId4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5" name="achterkant FC Den Bosch nummer 1.png" descr="achterkant FC Den Bosch nummer 1.png"/>
          <p:cNvPicPr>
            <a:picLocks noChangeAspect="1"/>
          </p:cNvPicPr>
          <p:nvPr/>
        </p:nvPicPr>
        <p:blipFill>
          <a:blip r:embed="rId2">
            <a:extLst/>
          </a:blip>
          <a:srcRect l="3345" t="0" r="3345" b="0"/>
          <a:stretch>
            <a:fillRect/>
          </a:stretch>
        </p:blipFill>
        <p:spPr>
          <a:xfrm>
            <a:off x="18600539" y="7097845"/>
            <a:ext cx="2458435" cy="263473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63500" dist="25400" dir="5400000">
              <a:srgbClr val="000000">
                <a:alpha val="50000"/>
              </a:srgbClr>
            </a:outerShdw>
            <a:reflection blurRad="0" stA="50000" stPos="0" endA="0" endPos="40000" dist="0" dir="5400000" fadeDir="5400000" sx="100000" sy="-100000" kx="0" ky="0" algn="bl" rotWithShape="0"/>
          </a:effectLst>
        </p:spPr>
      </p:pic>
      <p:sp>
        <p:nvSpPr>
          <p:cNvPr id="1036" name="11"/>
          <p:cNvSpPr/>
          <p:nvPr/>
        </p:nvSpPr>
        <p:spPr>
          <a:xfrm>
            <a:off x="16537263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037" name="7"/>
          <p:cNvSpPr/>
          <p:nvPr/>
        </p:nvSpPr>
        <p:spPr>
          <a:xfrm>
            <a:off x="18835144" y="40338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038" name="5"/>
          <p:cNvSpPr/>
          <p:nvPr/>
        </p:nvSpPr>
        <p:spPr>
          <a:xfrm>
            <a:off x="16461063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039" name="2"/>
          <p:cNvSpPr/>
          <p:nvPr/>
        </p:nvSpPr>
        <p:spPr>
          <a:xfrm>
            <a:off x="18936744" y="6494574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040" name="4"/>
          <p:cNvSpPr/>
          <p:nvPr/>
        </p:nvSpPr>
        <p:spPr>
          <a:xfrm>
            <a:off x="17127425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041" name="3"/>
          <p:cNvSpPr/>
          <p:nvPr/>
        </p:nvSpPr>
        <p:spPr>
          <a:xfrm>
            <a:off x="18248351" y="6943530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042" name="1"/>
          <p:cNvSpPr/>
          <p:nvPr/>
        </p:nvSpPr>
        <p:spPr>
          <a:xfrm>
            <a:off x="17686204" y="7634559"/>
            <a:ext cx="527646" cy="547639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043" name="9"/>
          <p:cNvSpPr/>
          <p:nvPr/>
        </p:nvSpPr>
        <p:spPr>
          <a:xfrm>
            <a:off x="17686204" y="356506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044" name="10"/>
          <p:cNvSpPr/>
          <p:nvPr/>
        </p:nvSpPr>
        <p:spPr>
          <a:xfrm>
            <a:off x="18041804" y="4945217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045" name="8"/>
          <p:cNvSpPr/>
          <p:nvPr/>
        </p:nvSpPr>
        <p:spPr>
          <a:xfrm>
            <a:off x="17229025" y="5338231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046" name="6"/>
          <p:cNvSpPr/>
          <p:nvPr/>
        </p:nvSpPr>
        <p:spPr>
          <a:xfrm>
            <a:off x="17867351" y="5899923"/>
            <a:ext cx="527646" cy="547639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19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047" name="TextBox 28"/>
          <p:cNvSpPr txBox="1"/>
          <p:nvPr/>
        </p:nvSpPr>
        <p:spPr>
          <a:xfrm>
            <a:off x="12679937" y="7643110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0" name="TextBox 21"/>
          <p:cNvSpPr txBox="1"/>
          <p:nvPr/>
        </p:nvSpPr>
        <p:spPr>
          <a:xfrm>
            <a:off x="4333035" y="1013466"/>
            <a:ext cx="15717931" cy="12446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50800" dist="88900" dir="3243361">
              <a:srgbClr val="000000">
                <a:alpha val="38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Kernwaarden —&gt; Voetbal: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b="1" cap="all" sz="3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</a:t>
            </a:r>
            <a:r>
              <a:rPr b="0"/>
              <a:t>Strijders Die spelen om te winnen en die elke dag beter willen worden”</a:t>
            </a:r>
          </a:p>
        </p:txBody>
      </p:sp>
      <p:sp>
        <p:nvSpPr>
          <p:cNvPr id="1051" name="Lijn"/>
          <p:cNvSpPr/>
          <p:nvPr/>
        </p:nvSpPr>
        <p:spPr>
          <a:xfrm>
            <a:off x="12152585" y="4118138"/>
            <a:ext cx="1" cy="3383270"/>
          </a:xfrm>
          <a:prstGeom prst="line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71437" tIns="71437" rIns="71437" bIns="71437" anchor="ctr"/>
          <a:lstStyle/>
          <a:p>
            <a:pPr algn="ctr" defTabSz="821531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</a:p>
        </p:txBody>
      </p:sp>
      <p:sp>
        <p:nvSpPr>
          <p:cNvPr id="1052" name="Freeform 7"/>
          <p:cNvSpPr/>
          <p:nvPr/>
        </p:nvSpPr>
        <p:spPr>
          <a:xfrm>
            <a:off x="4473952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3" name="Rechthoek"/>
          <p:cNvSpPr/>
          <p:nvPr/>
        </p:nvSpPr>
        <p:spPr>
          <a:xfrm>
            <a:off x="4506295" y="5470044"/>
            <a:ext cx="6196980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4" name="TextBox 13"/>
          <p:cNvSpPr txBox="1"/>
          <p:nvPr/>
        </p:nvSpPr>
        <p:spPr>
          <a:xfrm>
            <a:off x="4646195" y="5976140"/>
            <a:ext cx="5917180" cy="1156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1: Top-3 goals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(6th)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2: Top-3 challenge intensity </a:t>
            </a:r>
            <a:r>
              <a:rPr>
                <a:solidFill>
                  <a:schemeClr val="accent4">
                    <a:hueOff val="-858837"/>
                    <a:lumOff val="-9791"/>
                  </a:schemeClr>
                </a:solidFill>
              </a:rPr>
              <a:t>(10th)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KPI 3: Top-3 doelpogingen</a:t>
            </a:r>
            <a:r>
              <a:rPr>
                <a:solidFill>
                  <a:srgbClr val="FF2600"/>
                </a:solidFill>
              </a:rPr>
              <a:t>(12th)</a:t>
            </a:r>
          </a:p>
        </p:txBody>
      </p:sp>
      <p:sp>
        <p:nvSpPr>
          <p:cNvPr id="1055" name="TextBox 16"/>
          <p:cNvSpPr txBox="1"/>
          <p:nvPr/>
        </p:nvSpPr>
        <p:spPr>
          <a:xfrm>
            <a:off x="5285314" y="4420544"/>
            <a:ext cx="4638942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Speelstijl</a:t>
            </a:r>
          </a:p>
        </p:txBody>
      </p:sp>
      <p:sp>
        <p:nvSpPr>
          <p:cNvPr id="1056" name="Freeform 7"/>
          <p:cNvSpPr/>
          <p:nvPr/>
        </p:nvSpPr>
        <p:spPr>
          <a:xfrm>
            <a:off x="13682778" y="4440175"/>
            <a:ext cx="6261666" cy="2946401"/>
          </a:xfrm>
          <a:prstGeom prst="rect">
            <a:avLst/>
          </a:prstGeom>
          <a:solidFill>
            <a:srgbClr val="173883"/>
          </a:solidFill>
          <a:ln w="12700">
            <a:solidFill>
              <a:srgbClr val="FFFFFF"/>
            </a:solidFill>
            <a:miter lim="400000"/>
          </a:ln>
          <a:effectLst>
            <a:outerShdw sx="100000" sy="100000" kx="0" ky="0" algn="b" rotWithShape="0" blurRad="50800" dist="76200" dir="3243361">
              <a:srgbClr val="000000">
                <a:alpha val="38000"/>
              </a:srgbClr>
            </a:outerShdw>
          </a:effectLst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57" name="Rechthoek"/>
          <p:cNvSpPr/>
          <p:nvPr/>
        </p:nvSpPr>
        <p:spPr>
          <a:xfrm>
            <a:off x="13680723" y="5470044"/>
            <a:ext cx="6265774" cy="287944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58" name="TextBox 13"/>
          <p:cNvSpPr txBox="1"/>
          <p:nvPr/>
        </p:nvSpPr>
        <p:spPr>
          <a:xfrm>
            <a:off x="14077925" y="5944025"/>
            <a:ext cx="5471371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Scouting</a:t>
            </a:r>
          </a:p>
          <a:p>
            <a:pPr marL="351692" indent="-351692" defTabSz="1285875">
              <a:lnSpc>
                <a:spcPct val="100000"/>
              </a:lnSpc>
              <a:spcBef>
                <a:spcPts val="0"/>
              </a:spcBef>
              <a:buSzPct val="100000"/>
              <a:buChar char="•"/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IDP</a:t>
            </a:r>
          </a:p>
        </p:txBody>
      </p:sp>
      <p:sp>
        <p:nvSpPr>
          <p:cNvPr id="1059" name="TextBox 16"/>
          <p:cNvSpPr txBox="1"/>
          <p:nvPr/>
        </p:nvSpPr>
        <p:spPr>
          <a:xfrm>
            <a:off x="14494140" y="4420544"/>
            <a:ext cx="4638941" cy="1075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Profielen &amp; Begrippen</a:t>
            </a:r>
          </a:p>
        </p:txBody>
      </p:sp>
      <p:sp>
        <p:nvSpPr>
          <p:cNvPr id="1060" name="Afgeronde rechthoek"/>
          <p:cNvSpPr/>
          <p:nvPr/>
        </p:nvSpPr>
        <p:spPr>
          <a:xfrm>
            <a:off x="5718043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1" name="Afgeronde rechthoek"/>
          <p:cNvSpPr/>
          <p:nvPr/>
        </p:nvSpPr>
        <p:spPr>
          <a:xfrm>
            <a:off x="6440531" y="9151601"/>
            <a:ext cx="440356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2" name="Afgeronde rechthoek"/>
          <p:cNvSpPr/>
          <p:nvPr/>
        </p:nvSpPr>
        <p:spPr>
          <a:xfrm>
            <a:off x="716302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3" name="Afgeronde rechthoek"/>
          <p:cNvSpPr/>
          <p:nvPr/>
        </p:nvSpPr>
        <p:spPr>
          <a:xfrm>
            <a:off x="7885510" y="9151601"/>
            <a:ext cx="440355" cy="577675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4" name="Freeform 7"/>
          <p:cNvSpPr/>
          <p:nvPr/>
        </p:nvSpPr>
        <p:spPr>
          <a:xfrm>
            <a:off x="5155257" y="9569121"/>
            <a:ext cx="3558234" cy="1938277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5" name="Rechthoek"/>
          <p:cNvSpPr/>
          <p:nvPr/>
        </p:nvSpPr>
        <p:spPr>
          <a:xfrm>
            <a:off x="5153202" y="10368234"/>
            <a:ext cx="3562343" cy="115609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66" name="TextBox 8"/>
          <p:cNvSpPr txBox="1"/>
          <p:nvPr/>
        </p:nvSpPr>
        <p:spPr>
          <a:xfrm>
            <a:off x="5253436" y="10506338"/>
            <a:ext cx="3361875" cy="8798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 target: +€750K</a:t>
            </a:r>
          </a:p>
          <a:p>
            <a:pPr marL="339131" indent="-339131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rgbClr val="9BBB59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transfers: &gt;1M</a:t>
            </a:r>
          </a:p>
        </p:txBody>
      </p:sp>
      <p:sp>
        <p:nvSpPr>
          <p:cNvPr id="1067" name="TextBox 16"/>
          <p:cNvSpPr txBox="1"/>
          <p:nvPr/>
        </p:nvSpPr>
        <p:spPr>
          <a:xfrm>
            <a:off x="5259874" y="9561502"/>
            <a:ext cx="3348999" cy="707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1</a:t>
            </a:r>
          </a:p>
        </p:txBody>
      </p:sp>
      <p:sp>
        <p:nvSpPr>
          <p:cNvPr id="1068" name="Afgeronde rechthoek"/>
          <p:cNvSpPr/>
          <p:nvPr/>
        </p:nvSpPr>
        <p:spPr>
          <a:xfrm>
            <a:off x="10975668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69" name="Afgeronde rechthoek"/>
          <p:cNvSpPr/>
          <p:nvPr/>
        </p:nvSpPr>
        <p:spPr>
          <a:xfrm>
            <a:off x="11698158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0" name="Afgeronde rechthoek"/>
          <p:cNvSpPr/>
          <p:nvPr/>
        </p:nvSpPr>
        <p:spPr>
          <a:xfrm>
            <a:off x="12420646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1" name="Afgeronde rechthoek"/>
          <p:cNvSpPr/>
          <p:nvPr/>
        </p:nvSpPr>
        <p:spPr>
          <a:xfrm>
            <a:off x="13143137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2" name="Freeform 7"/>
          <p:cNvSpPr/>
          <p:nvPr/>
        </p:nvSpPr>
        <p:spPr>
          <a:xfrm>
            <a:off x="10412883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3" name="Rechthoek"/>
          <p:cNvSpPr/>
          <p:nvPr/>
        </p:nvSpPr>
        <p:spPr>
          <a:xfrm>
            <a:off x="10410828" y="10375417"/>
            <a:ext cx="3562343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74" name="TextBox 8"/>
          <p:cNvSpPr txBox="1"/>
          <p:nvPr/>
        </p:nvSpPr>
        <p:spPr>
          <a:xfrm>
            <a:off x="10517501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KKD: Top 10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10e positie in de KKD</a:t>
            </a:r>
          </a:p>
        </p:txBody>
      </p:sp>
      <p:sp>
        <p:nvSpPr>
          <p:cNvPr id="1075" name="TextBox 16"/>
          <p:cNvSpPr txBox="1"/>
          <p:nvPr/>
        </p:nvSpPr>
        <p:spPr>
          <a:xfrm>
            <a:off x="10517501" y="9568684"/>
            <a:ext cx="3348998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2</a:t>
            </a:r>
          </a:p>
        </p:txBody>
      </p:sp>
      <p:sp>
        <p:nvSpPr>
          <p:cNvPr id="1076" name="Afgeronde rechthoek"/>
          <p:cNvSpPr/>
          <p:nvPr/>
        </p:nvSpPr>
        <p:spPr>
          <a:xfrm>
            <a:off x="1623329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7" name="Afgeronde rechthoek"/>
          <p:cNvSpPr/>
          <p:nvPr/>
        </p:nvSpPr>
        <p:spPr>
          <a:xfrm>
            <a:off x="16955785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8" name="Afgeronde rechthoek"/>
          <p:cNvSpPr/>
          <p:nvPr/>
        </p:nvSpPr>
        <p:spPr>
          <a:xfrm>
            <a:off x="17678271" y="9158784"/>
            <a:ext cx="440356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79" name="Afgeronde rechthoek"/>
          <p:cNvSpPr/>
          <p:nvPr/>
        </p:nvSpPr>
        <p:spPr>
          <a:xfrm>
            <a:off x="18400762" y="9158784"/>
            <a:ext cx="440355" cy="577674"/>
          </a:xfrm>
          <a:prstGeom prst="roundRect">
            <a:avLst>
              <a:gd name="adj" fmla="val 21019"/>
            </a:avLst>
          </a:prstGeom>
          <a:solidFill>
            <a:srgbClr val="183882"/>
          </a:solidFill>
          <a:ln w="25400">
            <a:solidFill>
              <a:srgbClr val="FFFFFF"/>
            </a:solidFill>
          </a:ln>
          <a:effectLst>
            <a:outerShdw sx="100000" sy="100000" kx="0" ky="0" algn="b" rotWithShape="0" blurRad="50800" dist="25400" dir="5400000">
              <a:srgbClr val="000000">
                <a:alpha val="35000"/>
              </a:srgbClr>
            </a:outerShdw>
          </a:effectLst>
        </p:spPr>
        <p:txBody>
          <a:bodyPr lIns="60959" tIns="60959" rIns="60959" bIns="60959" anchor="ctr"/>
          <a:lstStyle/>
          <a:p>
            <a:pPr defTabSz="1219200">
              <a:lnSpc>
                <a:spcPct val="100000"/>
              </a:lnSpc>
              <a:spcBef>
                <a:spcPts val="0"/>
              </a:spcBef>
              <a:defRPr sz="24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0" name="Freeform 7"/>
          <p:cNvSpPr/>
          <p:nvPr/>
        </p:nvSpPr>
        <p:spPr>
          <a:xfrm>
            <a:off x="15670510" y="9576304"/>
            <a:ext cx="3558234" cy="1938278"/>
          </a:xfrm>
          <a:prstGeom prst="rect">
            <a:avLst/>
          </a:prstGeom>
          <a:solidFill>
            <a:srgbClr val="173883"/>
          </a:solidFill>
          <a:ln w="25400">
            <a:solidFill>
              <a:srgbClr val="FFFFFF"/>
            </a:solidFill>
            <a:miter lim="400000"/>
          </a:ln>
        </p:spPr>
        <p:txBody>
          <a:bodyPr lIns="45719" tIns="45719" rIns="45719" bIns="45719"/>
          <a:lstStyle/>
          <a:p>
            <a:pPr defTabSz="914400">
              <a:lnSpc>
                <a:spcPct val="100000"/>
              </a:lnSpc>
              <a:spcBef>
                <a:spcPts val="0"/>
              </a:spcBef>
              <a:defRPr sz="1600">
                <a:latin typeface="Calibri"/>
                <a:ea typeface="Calibri"/>
                <a:cs typeface="Calibri"/>
                <a:sym typeface="Calibri"/>
              </a:defRPr>
            </a:pPr>
          </a:p>
        </p:txBody>
      </p:sp>
      <p:sp>
        <p:nvSpPr>
          <p:cNvPr id="1081" name="Rechthoek"/>
          <p:cNvSpPr/>
          <p:nvPr/>
        </p:nvSpPr>
        <p:spPr>
          <a:xfrm>
            <a:off x="15668456" y="10375417"/>
            <a:ext cx="3562342" cy="115609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082" name="TextBox 8"/>
          <p:cNvSpPr txBox="1"/>
          <p:nvPr/>
        </p:nvSpPr>
        <p:spPr>
          <a:xfrm>
            <a:off x="15775128" y="10530274"/>
            <a:ext cx="3361876" cy="846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/>
          <a:lstStyle/>
          <a:p>
            <a:pPr marL="293914" indent="-293914" defTabSz="1285875">
              <a:lnSpc>
                <a:spcPct val="140000"/>
              </a:lnSpc>
              <a:spcBef>
                <a:spcPts val="0"/>
              </a:spcBef>
              <a:buSzPct val="100000"/>
              <a:buChar char="•"/>
              <a:defRPr b="1" cap="all" sz="18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Academy players: 50%*</a:t>
            </a:r>
          </a:p>
          <a:p>
            <a:pPr marL="339131" indent="-339131" defTabSz="1285875">
              <a:lnSpc>
                <a:spcPct val="130000"/>
              </a:lnSpc>
              <a:spcBef>
                <a:spcPts val="0"/>
              </a:spcBef>
              <a:buSzPct val="100000"/>
              <a:buChar char="•"/>
              <a:defRPr b="1" cap="all" i="1" sz="1800">
                <a:solidFill>
                  <a:schemeClr val="accent4">
                    <a:hueOff val="-858837"/>
                    <a:lumOff val="-9791"/>
                  </a:schemeClr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Competitieminuten: 38%</a:t>
            </a:r>
          </a:p>
        </p:txBody>
      </p:sp>
      <p:sp>
        <p:nvSpPr>
          <p:cNvPr id="1083" name="TextBox 16"/>
          <p:cNvSpPr txBox="1"/>
          <p:nvPr/>
        </p:nvSpPr>
        <p:spPr>
          <a:xfrm>
            <a:off x="15775128" y="9568684"/>
            <a:ext cx="3348999" cy="707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 3</a:t>
            </a:r>
          </a:p>
        </p:txBody>
      </p:sp>
      <p:sp>
        <p:nvSpPr>
          <p:cNvPr id="1084" name="**Minimaal 3 jaar in de academy…"/>
          <p:cNvSpPr txBox="1"/>
          <p:nvPr/>
        </p:nvSpPr>
        <p:spPr>
          <a:xfrm>
            <a:off x="458653" y="12996598"/>
            <a:ext cx="4843365" cy="444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**Minimaal 3 jaar in de academy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12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(Stan, Mees, Kevin, Danny, Nick, Sheddy, TJemme, Ilias)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7388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TextBox 11"/>
          <p:cNvSpPr txBox="1"/>
          <p:nvPr/>
        </p:nvSpPr>
        <p:spPr>
          <a:xfrm>
            <a:off x="3436486" y="2190748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87" name="TextBox 37"/>
          <p:cNvSpPr txBox="1"/>
          <p:nvPr/>
        </p:nvSpPr>
        <p:spPr>
          <a:xfrm>
            <a:off x="2262943" y="839474"/>
            <a:ext cx="4440638" cy="6597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19200">
              <a:lnSpc>
                <a:spcPts val="5200"/>
              </a:lnSpc>
              <a:spcBef>
                <a:spcPts val="0"/>
              </a:spcBef>
              <a:defRPr b="1" sz="4500">
                <a:solidFill>
                  <a:srgbClr val="FFFFFF"/>
                </a:solidFill>
                <a:latin typeface="Cabin Bold"/>
                <a:ea typeface="Cabin Bold"/>
                <a:cs typeface="Cabin Bold"/>
                <a:sym typeface="Cabin Bold"/>
              </a:defRPr>
            </a:lvl1pPr>
          </a:lstStyle>
          <a:p>
            <a:pPr/>
            <a:r>
              <a:t>Player name</a:t>
            </a:r>
          </a:p>
        </p:txBody>
      </p:sp>
      <p:sp>
        <p:nvSpPr>
          <p:cNvPr id="1088" name="TextBox 23"/>
          <p:cNvSpPr txBox="1"/>
          <p:nvPr/>
        </p:nvSpPr>
        <p:spPr>
          <a:xfrm>
            <a:off x="18363004" y="584214"/>
            <a:ext cx="5467955" cy="3223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  <a:p>
            <a:pPr defTabSz="1219200">
              <a:lnSpc>
                <a:spcPct val="140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DD/MM/YYYY: Game / Training</a:t>
            </a:r>
          </a:p>
        </p:txBody>
      </p:sp>
      <p:sp>
        <p:nvSpPr>
          <p:cNvPr id="1089" name="TextBox 11"/>
          <p:cNvSpPr txBox="1"/>
          <p:nvPr/>
        </p:nvSpPr>
        <p:spPr>
          <a:xfrm>
            <a:off x="3445861" y="294447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0" name="TextBox 11"/>
          <p:cNvSpPr txBox="1"/>
          <p:nvPr/>
        </p:nvSpPr>
        <p:spPr>
          <a:xfrm>
            <a:off x="3443265" y="3701887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1" name="TextBox 11"/>
          <p:cNvSpPr txBox="1"/>
          <p:nvPr/>
        </p:nvSpPr>
        <p:spPr>
          <a:xfrm>
            <a:off x="3468167" y="4459302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2" name="TextBox 11"/>
          <p:cNvSpPr txBox="1"/>
          <p:nvPr/>
        </p:nvSpPr>
        <p:spPr>
          <a:xfrm>
            <a:off x="3468167" y="5211678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3" name="TextBox 11"/>
          <p:cNvSpPr txBox="1"/>
          <p:nvPr/>
        </p:nvSpPr>
        <p:spPr>
          <a:xfrm>
            <a:off x="3468167" y="5945826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4" name="TextBox 11"/>
          <p:cNvSpPr txBox="1"/>
          <p:nvPr/>
        </p:nvSpPr>
        <p:spPr>
          <a:xfrm>
            <a:off x="3468167" y="6678032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5" name="TextBox 11"/>
          <p:cNvSpPr txBox="1"/>
          <p:nvPr/>
        </p:nvSpPr>
        <p:spPr>
          <a:xfrm>
            <a:off x="11203802" y="1088478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6" name="TextBox 11"/>
          <p:cNvSpPr txBox="1"/>
          <p:nvPr/>
        </p:nvSpPr>
        <p:spPr>
          <a:xfrm>
            <a:off x="11203802" y="1806760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7" name="TextBox 11"/>
          <p:cNvSpPr txBox="1"/>
          <p:nvPr/>
        </p:nvSpPr>
        <p:spPr>
          <a:xfrm>
            <a:off x="11203802" y="2611665"/>
            <a:ext cx="2152564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8" name="TextBox 11"/>
          <p:cNvSpPr txBox="1"/>
          <p:nvPr/>
        </p:nvSpPr>
        <p:spPr>
          <a:xfrm>
            <a:off x="11203802" y="3370677"/>
            <a:ext cx="2152564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099" name="TextBox 11"/>
          <p:cNvSpPr txBox="1"/>
          <p:nvPr/>
        </p:nvSpPr>
        <p:spPr>
          <a:xfrm>
            <a:off x="13587460" y="1088478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0" name="TextBox 11"/>
          <p:cNvSpPr txBox="1"/>
          <p:nvPr/>
        </p:nvSpPr>
        <p:spPr>
          <a:xfrm>
            <a:off x="13587460" y="1806760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1" name="TextBox 11"/>
          <p:cNvSpPr txBox="1"/>
          <p:nvPr/>
        </p:nvSpPr>
        <p:spPr>
          <a:xfrm>
            <a:off x="13587460" y="2611665"/>
            <a:ext cx="2152563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2" name="TextBox 11"/>
          <p:cNvSpPr txBox="1"/>
          <p:nvPr/>
        </p:nvSpPr>
        <p:spPr>
          <a:xfrm>
            <a:off x="13587460" y="3370677"/>
            <a:ext cx="2152563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3" name="xxxx"/>
          <p:cNvSpPr txBox="1"/>
          <p:nvPr/>
        </p:nvSpPr>
        <p:spPr>
          <a:xfrm>
            <a:off x="19741483" y="9664487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4" name="xxxx"/>
          <p:cNvSpPr txBox="1"/>
          <p:nvPr/>
        </p:nvSpPr>
        <p:spPr>
          <a:xfrm>
            <a:off x="19741483" y="10420204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5" name="xxxx"/>
          <p:cNvSpPr txBox="1"/>
          <p:nvPr/>
        </p:nvSpPr>
        <p:spPr>
          <a:xfrm>
            <a:off x="19741483" y="11197829"/>
            <a:ext cx="3576986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6" name="xxxx"/>
          <p:cNvSpPr txBox="1"/>
          <p:nvPr/>
        </p:nvSpPr>
        <p:spPr>
          <a:xfrm>
            <a:off x="19753848" y="11925556"/>
            <a:ext cx="3576987" cy="3970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7" name="xxxx"/>
          <p:cNvSpPr txBox="1"/>
          <p:nvPr/>
        </p:nvSpPr>
        <p:spPr>
          <a:xfrm>
            <a:off x="19753848" y="12652539"/>
            <a:ext cx="3576987" cy="3970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60959" tIns="60959" rIns="60959" bIns="60959" anchor="ctr">
            <a:spAutoFit/>
          </a:bodyPr>
          <a:lstStyle>
            <a:lvl1pPr algn="ctr" defTabSz="1219200">
              <a:lnSpc>
                <a:spcPts val="2100"/>
              </a:lnSpc>
              <a:spcBef>
                <a:spcPts val="0"/>
              </a:spcBef>
              <a:defRPr b="1" sz="2000">
                <a:latin typeface="Cabin Medium"/>
                <a:ea typeface="Cabin Medium"/>
                <a:cs typeface="Cabin Medium"/>
                <a:sym typeface="Cabin Medium"/>
              </a:defRPr>
            </a:lvl1pPr>
          </a:lstStyle>
          <a:p>
            <a:pPr/>
            <a:r>
              <a:t>xxxx</a:t>
            </a:r>
          </a:p>
        </p:txBody>
      </p:sp>
      <p:sp>
        <p:nvSpPr>
          <p:cNvPr id="1108" name="TextBox 31"/>
          <p:cNvSpPr txBox="1"/>
          <p:nvPr/>
        </p:nvSpPr>
        <p:spPr>
          <a:xfrm>
            <a:off x="8032505" y="9220708"/>
            <a:ext cx="7940022" cy="3429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09" name="TextBox 11"/>
          <p:cNvSpPr txBox="1"/>
          <p:nvPr/>
        </p:nvSpPr>
        <p:spPr>
          <a:xfrm>
            <a:off x="3468167" y="7435014"/>
            <a:ext cx="3686159" cy="397764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0" name="TextBox 11"/>
          <p:cNvSpPr txBox="1"/>
          <p:nvPr/>
        </p:nvSpPr>
        <p:spPr>
          <a:xfrm>
            <a:off x="3468015" y="8147343"/>
            <a:ext cx="3686159" cy="397765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algn="ctr" defTabSz="914400">
              <a:lnSpc>
                <a:spcPts val="3000"/>
              </a:lnSpc>
              <a:spcBef>
                <a:spcPts val="0"/>
              </a:spcBef>
              <a:defRPr b="1" sz="20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</a:p>
        </p:txBody>
      </p:sp>
      <p:sp>
        <p:nvSpPr>
          <p:cNvPr id="1111" name="xx"/>
          <p:cNvSpPr/>
          <p:nvPr/>
        </p:nvSpPr>
        <p:spPr>
          <a:xfrm>
            <a:off x="8372141" y="5119587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</a:t>
            </a:r>
          </a:p>
        </p:txBody>
      </p:sp>
      <p:sp>
        <p:nvSpPr>
          <p:cNvPr id="1112" name="xx%"/>
          <p:cNvSpPr/>
          <p:nvPr/>
        </p:nvSpPr>
        <p:spPr>
          <a:xfrm>
            <a:off x="12695199" y="5123876"/>
            <a:ext cx="2857501" cy="285750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lnSpc>
                <a:spcPct val="100000"/>
              </a:lnSpc>
              <a:spcBef>
                <a:spcPts val="0"/>
              </a:spcBef>
              <a:defRPr b="1" sz="8700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xx%</a:t>
            </a:r>
          </a:p>
        </p:txBody>
      </p:sp>
      <p:sp>
        <p:nvSpPr>
          <p:cNvPr id="1113" name="DATE: DD-MM-JJJJ"/>
          <p:cNvSpPr txBox="1"/>
          <p:nvPr/>
        </p:nvSpPr>
        <p:spPr>
          <a:xfrm>
            <a:off x="4875976" y="268498"/>
            <a:ext cx="2677010" cy="304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b="1"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DATE: DD-MM-JJJJ</a:t>
            </a:r>
          </a:p>
        </p:txBody>
      </p:sp>
      <p:sp>
        <p:nvSpPr>
          <p:cNvPr id="1114" name="MOED"/>
          <p:cNvSpPr txBox="1"/>
          <p:nvPr/>
        </p:nvSpPr>
        <p:spPr>
          <a:xfrm>
            <a:off x="16838432" y="7061357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115" name="Wendbaarheid"/>
          <p:cNvSpPr txBox="1"/>
          <p:nvPr/>
        </p:nvSpPr>
        <p:spPr>
          <a:xfrm>
            <a:off x="16856595" y="6555277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116" name="Bal verwerking"/>
          <p:cNvSpPr txBox="1"/>
          <p:nvPr/>
        </p:nvSpPr>
        <p:spPr>
          <a:xfrm>
            <a:off x="16856595" y="6037170"/>
            <a:ext cx="2138965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117" name="Voorkomen vs verdedigen"/>
          <p:cNvSpPr txBox="1"/>
          <p:nvPr/>
        </p:nvSpPr>
        <p:spPr>
          <a:xfrm>
            <a:off x="16856595" y="5493119"/>
            <a:ext cx="3000827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118" name="Balbehandeling"/>
          <p:cNvSpPr txBox="1"/>
          <p:nvPr/>
        </p:nvSpPr>
        <p:spPr>
          <a:xfrm>
            <a:off x="16856595" y="4962312"/>
            <a:ext cx="2517449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Balbehandeling</a:t>
            </a:r>
          </a:p>
        </p:txBody>
      </p:sp>
      <p:sp>
        <p:nvSpPr>
          <p:cNvPr id="1119" name="Ster"/>
          <p:cNvSpPr/>
          <p:nvPr/>
        </p:nvSpPr>
        <p:spPr>
          <a:xfrm>
            <a:off x="20512512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0" name="Ster"/>
          <p:cNvSpPr/>
          <p:nvPr/>
        </p:nvSpPr>
        <p:spPr>
          <a:xfrm>
            <a:off x="20851100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1" name="Ster"/>
          <p:cNvSpPr/>
          <p:nvPr/>
        </p:nvSpPr>
        <p:spPr>
          <a:xfrm>
            <a:off x="21189691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2" name="Ster"/>
          <p:cNvSpPr/>
          <p:nvPr/>
        </p:nvSpPr>
        <p:spPr>
          <a:xfrm>
            <a:off x="21528279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3" name="Ster"/>
          <p:cNvSpPr/>
          <p:nvPr/>
        </p:nvSpPr>
        <p:spPr>
          <a:xfrm>
            <a:off x="21862129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4" name="Ster"/>
          <p:cNvSpPr/>
          <p:nvPr/>
        </p:nvSpPr>
        <p:spPr>
          <a:xfrm>
            <a:off x="2220071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5" name="Ster"/>
          <p:cNvSpPr/>
          <p:nvPr/>
        </p:nvSpPr>
        <p:spPr>
          <a:xfrm>
            <a:off x="22539307" y="7042243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6" name="Ster"/>
          <p:cNvSpPr/>
          <p:nvPr/>
        </p:nvSpPr>
        <p:spPr>
          <a:xfrm>
            <a:off x="22877896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7" name="Ster"/>
          <p:cNvSpPr/>
          <p:nvPr/>
        </p:nvSpPr>
        <p:spPr>
          <a:xfrm>
            <a:off x="23212485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8" name="Ster"/>
          <p:cNvSpPr/>
          <p:nvPr/>
        </p:nvSpPr>
        <p:spPr>
          <a:xfrm>
            <a:off x="23551074" y="7042243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29" name="Ster"/>
          <p:cNvSpPr/>
          <p:nvPr/>
        </p:nvSpPr>
        <p:spPr>
          <a:xfrm>
            <a:off x="20516318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0" name="Ster"/>
          <p:cNvSpPr/>
          <p:nvPr/>
        </p:nvSpPr>
        <p:spPr>
          <a:xfrm>
            <a:off x="20854906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1" name="Ster"/>
          <p:cNvSpPr/>
          <p:nvPr/>
        </p:nvSpPr>
        <p:spPr>
          <a:xfrm>
            <a:off x="21193497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2" name="Ster"/>
          <p:cNvSpPr/>
          <p:nvPr/>
        </p:nvSpPr>
        <p:spPr>
          <a:xfrm>
            <a:off x="21532085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3" name="Ster"/>
          <p:cNvSpPr/>
          <p:nvPr/>
        </p:nvSpPr>
        <p:spPr>
          <a:xfrm>
            <a:off x="21865935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4" name="Ster"/>
          <p:cNvSpPr/>
          <p:nvPr/>
        </p:nvSpPr>
        <p:spPr>
          <a:xfrm>
            <a:off x="2220452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5" name="Ster"/>
          <p:cNvSpPr/>
          <p:nvPr/>
        </p:nvSpPr>
        <p:spPr>
          <a:xfrm>
            <a:off x="22543113" y="6537452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6" name="Ster"/>
          <p:cNvSpPr/>
          <p:nvPr/>
        </p:nvSpPr>
        <p:spPr>
          <a:xfrm>
            <a:off x="22881702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7" name="Ster"/>
          <p:cNvSpPr/>
          <p:nvPr/>
        </p:nvSpPr>
        <p:spPr>
          <a:xfrm>
            <a:off x="23216291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8" name="Ster"/>
          <p:cNvSpPr/>
          <p:nvPr/>
        </p:nvSpPr>
        <p:spPr>
          <a:xfrm>
            <a:off x="23554880" y="6537452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39" name="Ster"/>
          <p:cNvSpPr/>
          <p:nvPr/>
        </p:nvSpPr>
        <p:spPr>
          <a:xfrm>
            <a:off x="20521565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0" name="Ster"/>
          <p:cNvSpPr/>
          <p:nvPr/>
        </p:nvSpPr>
        <p:spPr>
          <a:xfrm>
            <a:off x="20860154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1" name="Ster"/>
          <p:cNvSpPr/>
          <p:nvPr/>
        </p:nvSpPr>
        <p:spPr>
          <a:xfrm>
            <a:off x="21198743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2" name="Ster"/>
          <p:cNvSpPr/>
          <p:nvPr/>
        </p:nvSpPr>
        <p:spPr>
          <a:xfrm>
            <a:off x="21537331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3" name="Ster"/>
          <p:cNvSpPr/>
          <p:nvPr/>
        </p:nvSpPr>
        <p:spPr>
          <a:xfrm>
            <a:off x="21871182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4" name="Ster"/>
          <p:cNvSpPr/>
          <p:nvPr/>
        </p:nvSpPr>
        <p:spPr>
          <a:xfrm>
            <a:off x="22209771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5" name="Ster"/>
          <p:cNvSpPr/>
          <p:nvPr/>
        </p:nvSpPr>
        <p:spPr>
          <a:xfrm>
            <a:off x="22548360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6" name="Ster"/>
          <p:cNvSpPr/>
          <p:nvPr/>
        </p:nvSpPr>
        <p:spPr>
          <a:xfrm>
            <a:off x="22886948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7" name="Ster"/>
          <p:cNvSpPr/>
          <p:nvPr/>
        </p:nvSpPr>
        <p:spPr>
          <a:xfrm>
            <a:off x="23221539" y="549052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8" name="Ster"/>
          <p:cNvSpPr/>
          <p:nvPr/>
        </p:nvSpPr>
        <p:spPr>
          <a:xfrm>
            <a:off x="23560127" y="549052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49" name="Ster"/>
          <p:cNvSpPr/>
          <p:nvPr/>
        </p:nvSpPr>
        <p:spPr>
          <a:xfrm>
            <a:off x="20521565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0" name="Ster"/>
          <p:cNvSpPr/>
          <p:nvPr/>
        </p:nvSpPr>
        <p:spPr>
          <a:xfrm>
            <a:off x="20860154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1" name="Ster"/>
          <p:cNvSpPr/>
          <p:nvPr/>
        </p:nvSpPr>
        <p:spPr>
          <a:xfrm>
            <a:off x="21198743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2" name="Ster"/>
          <p:cNvSpPr/>
          <p:nvPr/>
        </p:nvSpPr>
        <p:spPr>
          <a:xfrm>
            <a:off x="21537331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3" name="Ster"/>
          <p:cNvSpPr/>
          <p:nvPr/>
        </p:nvSpPr>
        <p:spPr>
          <a:xfrm>
            <a:off x="21871182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4" name="Ster"/>
          <p:cNvSpPr/>
          <p:nvPr/>
        </p:nvSpPr>
        <p:spPr>
          <a:xfrm>
            <a:off x="22209771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5" name="Ster"/>
          <p:cNvSpPr/>
          <p:nvPr/>
        </p:nvSpPr>
        <p:spPr>
          <a:xfrm>
            <a:off x="22548360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6" name="Ster"/>
          <p:cNvSpPr/>
          <p:nvPr/>
        </p:nvSpPr>
        <p:spPr>
          <a:xfrm>
            <a:off x="22886948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7" name="Ster"/>
          <p:cNvSpPr/>
          <p:nvPr/>
        </p:nvSpPr>
        <p:spPr>
          <a:xfrm>
            <a:off x="23221539" y="6023405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8" name="Ster"/>
          <p:cNvSpPr/>
          <p:nvPr/>
        </p:nvSpPr>
        <p:spPr>
          <a:xfrm>
            <a:off x="23560127" y="6023405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59" name="Ster"/>
          <p:cNvSpPr/>
          <p:nvPr/>
        </p:nvSpPr>
        <p:spPr>
          <a:xfrm>
            <a:off x="20521565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0" name="Ster"/>
          <p:cNvSpPr/>
          <p:nvPr/>
        </p:nvSpPr>
        <p:spPr>
          <a:xfrm>
            <a:off x="20860154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1" name="Ster"/>
          <p:cNvSpPr/>
          <p:nvPr/>
        </p:nvSpPr>
        <p:spPr>
          <a:xfrm>
            <a:off x="21198743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2" name="Ster"/>
          <p:cNvSpPr/>
          <p:nvPr/>
        </p:nvSpPr>
        <p:spPr>
          <a:xfrm>
            <a:off x="21537331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3" name="Ster"/>
          <p:cNvSpPr/>
          <p:nvPr/>
        </p:nvSpPr>
        <p:spPr>
          <a:xfrm>
            <a:off x="21871182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4" name="Ster"/>
          <p:cNvSpPr/>
          <p:nvPr/>
        </p:nvSpPr>
        <p:spPr>
          <a:xfrm>
            <a:off x="22209771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5" name="Ster"/>
          <p:cNvSpPr/>
          <p:nvPr/>
        </p:nvSpPr>
        <p:spPr>
          <a:xfrm>
            <a:off x="22548360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6" name="Ster"/>
          <p:cNvSpPr/>
          <p:nvPr/>
        </p:nvSpPr>
        <p:spPr>
          <a:xfrm>
            <a:off x="22886948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7" name="Ster"/>
          <p:cNvSpPr/>
          <p:nvPr/>
        </p:nvSpPr>
        <p:spPr>
          <a:xfrm>
            <a:off x="23221539" y="4960334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168" name="Ster"/>
          <p:cNvSpPr/>
          <p:nvPr/>
        </p:nvSpPr>
        <p:spPr>
          <a:xfrm>
            <a:off x="23560127" y="4960334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grpSp>
        <p:nvGrpSpPr>
          <p:cNvPr id="1171" name="9"/>
          <p:cNvGrpSpPr/>
          <p:nvPr/>
        </p:nvGrpSpPr>
        <p:grpSpPr>
          <a:xfrm>
            <a:off x="5636046" y="9988295"/>
            <a:ext cx="369517" cy="383519"/>
            <a:chOff x="0" y="0"/>
            <a:chExt cx="369516" cy="383518"/>
          </a:xfrm>
        </p:grpSpPr>
        <p:sp>
          <p:nvSpPr>
            <p:cNvPr id="116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0" name="9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9</a:t>
              </a:r>
            </a:p>
          </p:txBody>
        </p:sp>
      </p:grpSp>
      <p:grpSp>
        <p:nvGrpSpPr>
          <p:cNvPr id="1174" name="11"/>
          <p:cNvGrpSpPr/>
          <p:nvPr/>
        </p:nvGrpSpPr>
        <p:grpSpPr>
          <a:xfrm>
            <a:off x="4831430" y="10316581"/>
            <a:ext cx="369517" cy="383519"/>
            <a:chOff x="0" y="0"/>
            <a:chExt cx="369516" cy="383518"/>
          </a:xfrm>
        </p:grpSpPr>
        <p:sp>
          <p:nvSpPr>
            <p:cNvPr id="1172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3" name="1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11</a:t>
              </a:r>
            </a:p>
          </p:txBody>
        </p:sp>
      </p:grpSp>
      <p:grpSp>
        <p:nvGrpSpPr>
          <p:cNvPr id="1177" name="7"/>
          <p:cNvGrpSpPr/>
          <p:nvPr/>
        </p:nvGrpSpPr>
        <p:grpSpPr>
          <a:xfrm>
            <a:off x="6440658" y="10316581"/>
            <a:ext cx="369517" cy="383519"/>
            <a:chOff x="0" y="0"/>
            <a:chExt cx="369516" cy="383518"/>
          </a:xfrm>
        </p:grpSpPr>
        <p:sp>
          <p:nvSpPr>
            <p:cNvPr id="1175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6" name="7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1180" name="8"/>
          <p:cNvGrpSpPr/>
          <p:nvPr/>
        </p:nvGrpSpPr>
        <p:grpSpPr>
          <a:xfrm>
            <a:off x="5244725" y="10893821"/>
            <a:ext cx="369517" cy="383519"/>
            <a:chOff x="0" y="0"/>
            <a:chExt cx="369516" cy="383518"/>
          </a:xfrm>
        </p:grpSpPr>
        <p:sp>
          <p:nvSpPr>
            <p:cNvPr id="1178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79" name="8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8</a:t>
              </a:r>
            </a:p>
          </p:txBody>
        </p:sp>
      </p:grpSp>
      <p:grpSp>
        <p:nvGrpSpPr>
          <p:cNvPr id="1183" name="6"/>
          <p:cNvGrpSpPr/>
          <p:nvPr/>
        </p:nvGrpSpPr>
        <p:grpSpPr>
          <a:xfrm>
            <a:off x="5636046" y="11377755"/>
            <a:ext cx="369517" cy="383519"/>
            <a:chOff x="0" y="0"/>
            <a:chExt cx="369516" cy="383518"/>
          </a:xfrm>
        </p:grpSpPr>
        <p:sp>
          <p:nvSpPr>
            <p:cNvPr id="1181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2" name="6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6</a:t>
              </a:r>
            </a:p>
          </p:txBody>
        </p:sp>
      </p:grpSp>
      <p:grpSp>
        <p:nvGrpSpPr>
          <p:cNvPr id="1186" name="5"/>
          <p:cNvGrpSpPr/>
          <p:nvPr/>
        </p:nvGrpSpPr>
        <p:grpSpPr>
          <a:xfrm>
            <a:off x="4778064" y="11609513"/>
            <a:ext cx="369517" cy="383519"/>
            <a:chOff x="0" y="0"/>
            <a:chExt cx="369516" cy="383518"/>
          </a:xfrm>
        </p:grpSpPr>
        <p:sp>
          <p:nvSpPr>
            <p:cNvPr id="1184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5" name="5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5</a:t>
              </a:r>
            </a:p>
          </p:txBody>
        </p:sp>
      </p:grpSp>
      <p:grpSp>
        <p:nvGrpSpPr>
          <p:cNvPr id="1189" name="2"/>
          <p:cNvGrpSpPr/>
          <p:nvPr/>
        </p:nvGrpSpPr>
        <p:grpSpPr>
          <a:xfrm>
            <a:off x="6511809" y="11609513"/>
            <a:ext cx="369517" cy="383519"/>
            <a:chOff x="0" y="0"/>
            <a:chExt cx="369516" cy="383518"/>
          </a:xfrm>
        </p:grpSpPr>
        <p:sp>
          <p:nvSpPr>
            <p:cNvPr id="1187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88" name="2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2</a:t>
              </a:r>
            </a:p>
          </p:txBody>
        </p:sp>
      </p:grpSp>
      <p:grpSp>
        <p:nvGrpSpPr>
          <p:cNvPr id="1192" name="4"/>
          <p:cNvGrpSpPr/>
          <p:nvPr/>
        </p:nvGrpSpPr>
        <p:grpSpPr>
          <a:xfrm>
            <a:off x="5244725" y="11923923"/>
            <a:ext cx="369517" cy="383519"/>
            <a:chOff x="0" y="0"/>
            <a:chExt cx="369516" cy="383518"/>
          </a:xfrm>
        </p:grpSpPr>
        <p:sp>
          <p:nvSpPr>
            <p:cNvPr id="1190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1" name="4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4</a:t>
              </a:r>
            </a:p>
          </p:txBody>
        </p:sp>
      </p:grpSp>
      <p:grpSp>
        <p:nvGrpSpPr>
          <p:cNvPr id="1195" name="3"/>
          <p:cNvGrpSpPr/>
          <p:nvPr/>
        </p:nvGrpSpPr>
        <p:grpSpPr>
          <a:xfrm>
            <a:off x="6029723" y="11923923"/>
            <a:ext cx="369517" cy="383519"/>
            <a:chOff x="0" y="0"/>
            <a:chExt cx="369516" cy="383518"/>
          </a:xfrm>
        </p:grpSpPr>
        <p:sp>
          <p:nvSpPr>
            <p:cNvPr id="1193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4" name="3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3</a:t>
              </a:r>
            </a:p>
          </p:txBody>
        </p:sp>
      </p:grpSp>
      <p:grpSp>
        <p:nvGrpSpPr>
          <p:cNvPr id="1198" name="1"/>
          <p:cNvGrpSpPr/>
          <p:nvPr/>
        </p:nvGrpSpPr>
        <p:grpSpPr>
          <a:xfrm>
            <a:off x="5636046" y="12531862"/>
            <a:ext cx="369517" cy="383519"/>
            <a:chOff x="0" y="0"/>
            <a:chExt cx="369516" cy="383518"/>
          </a:xfrm>
        </p:grpSpPr>
        <p:sp>
          <p:nvSpPr>
            <p:cNvPr id="1196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chemeClr val="accent3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197" name="1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</a:t>
              </a:r>
            </a:p>
          </p:txBody>
        </p:sp>
      </p:grpSp>
      <p:grpSp>
        <p:nvGrpSpPr>
          <p:cNvPr id="1201" name="10"/>
          <p:cNvGrpSpPr/>
          <p:nvPr/>
        </p:nvGrpSpPr>
        <p:grpSpPr>
          <a:xfrm>
            <a:off x="5858298" y="10651021"/>
            <a:ext cx="369517" cy="383519"/>
            <a:chOff x="0" y="0"/>
            <a:chExt cx="369516" cy="383518"/>
          </a:xfrm>
        </p:grpSpPr>
        <p:sp>
          <p:nvSpPr>
            <p:cNvPr id="1199" name="Ovaal"/>
            <p:cNvSpPr/>
            <p:nvPr/>
          </p:nvSpPr>
          <p:spPr>
            <a:xfrm>
              <a:off x="-1" y="-1"/>
              <a:ext cx="369518" cy="383520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pPr>
            </a:p>
          </p:txBody>
        </p:sp>
        <p:sp>
          <p:nvSpPr>
            <p:cNvPr id="1200" name="10"/>
            <p:cNvSpPr txBox="1"/>
            <p:nvPr/>
          </p:nvSpPr>
          <p:spPr>
            <a:xfrm>
              <a:off x="60463" y="71108"/>
              <a:ext cx="248589" cy="2413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 defTabSz="1155278">
                <a:lnSpc>
                  <a:spcPct val="100000"/>
                </a:lnSpc>
                <a:spcBef>
                  <a:spcPts val="0"/>
                </a:spcBef>
                <a:defRPr b="1" sz="1400">
                  <a:latin typeface="Avenir Next Condensed Regular"/>
                  <a:ea typeface="Avenir Next Condensed Regular"/>
                  <a:cs typeface="Avenir Next Condensed Regular"/>
                  <a:sym typeface="Avenir Next Condensed Regular"/>
                </a:defRPr>
              </a:lvl1pPr>
            </a:lstStyle>
            <a:p>
              <a:pPr/>
              <a:r>
                <a:t>10</a:t>
              </a:r>
            </a:p>
          </p:txBody>
        </p:sp>
      </p:grpSp>
      <p:sp>
        <p:nvSpPr>
          <p:cNvPr id="1202" name="TextBox 31"/>
          <p:cNvSpPr txBox="1"/>
          <p:nvPr/>
        </p:nvSpPr>
        <p:spPr>
          <a:xfrm>
            <a:off x="2609789" y="11554262"/>
            <a:ext cx="1556417" cy="167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  <a:p>
            <a:pPr defTabSz="1285875">
              <a:lnSpc>
                <a:spcPct val="100000"/>
              </a:lnSpc>
              <a:spcBef>
                <a:spcPts val="0"/>
              </a:spcBef>
              <a:defRPr sz="24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pPr>
            <a:r>
              <a:t>xx</a:t>
            </a:r>
          </a:p>
        </p:txBody>
      </p:sp>
      <p:pic>
        <p:nvPicPr>
          <p:cNvPr id="1203" name="Logo_Scisports.png" descr="Logo_Scisports.png">
            <a:hlinkClick r:id="rId2" invalidUrl="" action="" tgtFrame="" tooltip="" history="1" highlightClick="0" endSnd="0"/>
          </p:cNvPr>
          <p:cNvPicPr>
            <a:picLocks noChangeAspect="1"/>
          </p:cNvPicPr>
          <p:nvPr/>
        </p:nvPicPr>
        <p:blipFill>
          <a:blip r:embed="rId3">
            <a:extLst/>
          </a:blip>
          <a:srcRect l="37777" t="0" r="0" b="0"/>
          <a:stretch>
            <a:fillRect/>
          </a:stretch>
        </p:blipFill>
        <p:spPr>
          <a:xfrm>
            <a:off x="16586944" y="785320"/>
            <a:ext cx="922534" cy="510944"/>
          </a:xfrm>
          <a:prstGeom prst="rect">
            <a:avLst/>
          </a:prstGeom>
          <a:ln w="12700">
            <a:miter lim="400000"/>
          </a:ln>
        </p:spPr>
      </p:pic>
      <p:sp>
        <p:nvSpPr>
          <p:cNvPr id="1204" name="Browse…">
            <a:hlinkClick r:id="rId4" invalidUrl="" action="ppaction://hlinksldjump" tgtFrame="" tooltip="" history="1" highlightClick="0" endSnd="0"/>
          </p:cNvPr>
          <p:cNvSpPr/>
          <p:nvPr/>
        </p:nvSpPr>
        <p:spPr>
          <a:xfrm>
            <a:off x="463550" y="296333"/>
            <a:ext cx="1397069" cy="1397069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Browse 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defRPr cap="all" sz="2600">
                <a:solidFill>
                  <a:srgbClr val="FFFFFF"/>
                </a:solidFill>
                <a:latin typeface="Acumin Pro Condensed Regular"/>
                <a:ea typeface="Acumin Pro Condensed Regular"/>
                <a:cs typeface="Acumin Pro Condensed Regular"/>
                <a:sym typeface="Acumin Pro Condensed Regular"/>
              </a:defRPr>
            </a:pPr>
            <a:r>
              <a:t>Foto</a:t>
            </a:r>
          </a:p>
        </p:txBody>
      </p:sp>
      <p:sp>
        <p:nvSpPr>
          <p:cNvPr id="1205" name="Onverstoorbaarheid"/>
          <p:cNvSpPr txBox="1"/>
          <p:nvPr/>
        </p:nvSpPr>
        <p:spPr>
          <a:xfrm>
            <a:off x="16838432" y="7520984"/>
            <a:ext cx="2870201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20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Onverstoorbaarheid</a:t>
            </a:r>
          </a:p>
        </p:txBody>
      </p:sp>
      <p:sp>
        <p:nvSpPr>
          <p:cNvPr id="1206" name="Ster"/>
          <p:cNvSpPr/>
          <p:nvPr/>
        </p:nvSpPr>
        <p:spPr>
          <a:xfrm>
            <a:off x="20512512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7" name="Ster"/>
          <p:cNvSpPr/>
          <p:nvPr/>
        </p:nvSpPr>
        <p:spPr>
          <a:xfrm>
            <a:off x="20851100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8" name="Ster"/>
          <p:cNvSpPr/>
          <p:nvPr/>
        </p:nvSpPr>
        <p:spPr>
          <a:xfrm>
            <a:off x="21189691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09" name="Ster"/>
          <p:cNvSpPr/>
          <p:nvPr/>
        </p:nvSpPr>
        <p:spPr>
          <a:xfrm>
            <a:off x="21528279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0" name="Ster"/>
          <p:cNvSpPr/>
          <p:nvPr/>
        </p:nvSpPr>
        <p:spPr>
          <a:xfrm>
            <a:off x="21862129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1" name="Ster"/>
          <p:cNvSpPr/>
          <p:nvPr/>
        </p:nvSpPr>
        <p:spPr>
          <a:xfrm>
            <a:off x="2220071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2" name="Ster"/>
          <p:cNvSpPr/>
          <p:nvPr/>
        </p:nvSpPr>
        <p:spPr>
          <a:xfrm>
            <a:off x="22539307" y="7501870"/>
            <a:ext cx="297092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3" name="Ster"/>
          <p:cNvSpPr/>
          <p:nvPr/>
        </p:nvSpPr>
        <p:spPr>
          <a:xfrm>
            <a:off x="22877896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4" name="Ster"/>
          <p:cNvSpPr/>
          <p:nvPr/>
        </p:nvSpPr>
        <p:spPr>
          <a:xfrm>
            <a:off x="23212485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5" name="Ster"/>
          <p:cNvSpPr/>
          <p:nvPr/>
        </p:nvSpPr>
        <p:spPr>
          <a:xfrm>
            <a:off x="23551074" y="7501870"/>
            <a:ext cx="297091" cy="331552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16" name="GOALKeeper #01"/>
          <p:cNvSpPr txBox="1"/>
          <p:nvPr/>
        </p:nvSpPr>
        <p:spPr>
          <a:xfrm>
            <a:off x="374971" y="10045556"/>
            <a:ext cx="3265267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defTabSz="1285875">
              <a:lnSpc>
                <a:spcPct val="100000"/>
              </a:lnSpc>
              <a:spcBef>
                <a:spcPts val="0"/>
              </a:spcBef>
              <a:buClr>
                <a:srgbClr val="525252"/>
              </a:buClr>
              <a:buFont typeface="Gill Sans"/>
              <a:defRPr cap="all" sz="3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advClick="1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18" name="Tabel 1"/>
          <p:cNvGraphicFramePr/>
          <p:nvPr/>
        </p:nvGraphicFramePr>
        <p:xfrm>
          <a:off x="4052286" y="673006"/>
          <a:ext cx="17879300" cy="1238268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573319"/>
                <a:gridCol w="3573319"/>
                <a:gridCol w="4482413"/>
                <a:gridCol w="2664226"/>
                <a:gridCol w="3573319"/>
              </a:tblGrid>
              <a:tr h="1124544">
                <a:tc>
                  <a:txBody>
                    <a:bodyPr/>
                    <a:lstStyle/>
                    <a:p>
                      <a:pPr defTabSz="914400"/>
                      <a:r>
                        <a:rPr sz="2900"/>
                        <a:t>GK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900"/>
                        <a:t>Vermenigvuldigingsfactor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Resultaat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Balbehandeling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Voorkomen vs verdedigen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Bal verwerking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Wendbaarheid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MOED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1,1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/>
                      <a:r>
                        <a: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rPr>
                        <a:t>Onverstoorbaarheid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1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1285875">
                        <a:defRPr b="1" sz="2600">
                          <a:solidFill>
                            <a:srgbClr val="FFFFFF"/>
                          </a:solidFill>
                          <a:uFill>
                            <a:solidFill>
                              <a:srgbClr val="525252"/>
                            </a:solidFill>
                          </a:uFill>
                          <a:latin typeface="Century Gothic"/>
                          <a:ea typeface="Century Gothic"/>
                          <a:cs typeface="Century Gothic"/>
                          <a:sym typeface="Century Gothic"/>
                        </a:defRPr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  <a:tr h="1124544"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Gemiddelde rating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3200"/>
                        <a:t>0,00</a:t>
                      </a: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z="3200"/>
                      </a:pPr>
                    </a:p>
                  </a:txBody>
                  <a:tcPr marL="50800" marR="50800" marT="50800" marB="50800" anchor="ctr" anchorCtr="0" horzOverflow="overflow"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0" name="9"/>
          <p:cNvSpPr/>
          <p:nvPr/>
        </p:nvSpPr>
        <p:spPr>
          <a:xfrm>
            <a:off x="20427404" y="495506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9</a:t>
            </a:r>
          </a:p>
        </p:txBody>
      </p:sp>
      <p:sp>
        <p:nvSpPr>
          <p:cNvPr id="1221" name="11"/>
          <p:cNvSpPr/>
          <p:nvPr/>
        </p:nvSpPr>
        <p:spPr>
          <a:xfrm>
            <a:off x="18995767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7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222" name="7"/>
          <p:cNvSpPr/>
          <p:nvPr/>
        </p:nvSpPr>
        <p:spPr>
          <a:xfrm>
            <a:off x="21859042" y="5275320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7</a:t>
            </a:r>
          </a:p>
        </p:txBody>
      </p:sp>
      <p:sp>
        <p:nvSpPr>
          <p:cNvPr id="1223" name="5"/>
          <p:cNvSpPr/>
          <p:nvPr/>
        </p:nvSpPr>
        <p:spPr>
          <a:xfrm>
            <a:off x="18900818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5</a:t>
            </a:r>
          </a:p>
        </p:txBody>
      </p:sp>
      <p:sp>
        <p:nvSpPr>
          <p:cNvPr id="1224" name="2"/>
          <p:cNvSpPr/>
          <p:nvPr/>
        </p:nvSpPr>
        <p:spPr>
          <a:xfrm>
            <a:off x="21985640" y="8341528"/>
            <a:ext cx="657473" cy="68238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1225" name="4"/>
          <p:cNvSpPr/>
          <p:nvPr/>
        </p:nvSpPr>
        <p:spPr>
          <a:xfrm>
            <a:off x="19731139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4</a:t>
            </a:r>
          </a:p>
        </p:txBody>
      </p:sp>
      <p:sp>
        <p:nvSpPr>
          <p:cNvPr id="1226" name="3"/>
          <p:cNvSpPr/>
          <p:nvPr/>
        </p:nvSpPr>
        <p:spPr>
          <a:xfrm>
            <a:off x="21127868" y="8900949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1227" name="1"/>
          <p:cNvSpPr/>
          <p:nvPr/>
        </p:nvSpPr>
        <p:spPr>
          <a:xfrm>
            <a:off x="20427404" y="9762007"/>
            <a:ext cx="657473" cy="682385"/>
          </a:xfrm>
          <a:prstGeom prst="ellipse">
            <a:avLst/>
          </a:prstGeom>
          <a:solidFill>
            <a:srgbClr val="173883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solidFill>
                  <a:srgbClr val="FFFFFF"/>
                </a:solidFill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1228" name="6"/>
          <p:cNvSpPr/>
          <p:nvPr/>
        </p:nvSpPr>
        <p:spPr>
          <a:xfrm>
            <a:off x="20653123" y="7600564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6</a:t>
            </a:r>
          </a:p>
        </p:txBody>
      </p:sp>
      <p:sp>
        <p:nvSpPr>
          <p:cNvPr id="1229" name="8"/>
          <p:cNvSpPr/>
          <p:nvPr/>
        </p:nvSpPr>
        <p:spPr>
          <a:xfrm>
            <a:off x="19920776" y="6914048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8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8</a:t>
            </a:r>
          </a:p>
        </p:txBody>
      </p:sp>
      <p:sp>
        <p:nvSpPr>
          <p:cNvPr id="1230" name="10"/>
          <p:cNvSpPr/>
          <p:nvPr/>
        </p:nvSpPr>
        <p:spPr>
          <a:xfrm>
            <a:off x="20933539" y="6424333"/>
            <a:ext cx="657473" cy="682385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1437" tIns="71437" rIns="71437" bIns="71437" anchor="ctr"/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2600">
                <a:latin typeface="Futura Condensed"/>
                <a:ea typeface="Futura Condensed"/>
                <a:cs typeface="Futura Condensed"/>
                <a:sym typeface="Futura Condensed"/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231" name="TextBox 17">
            <a:hlinkClick r:id="rId2" invalidUrl="" action="ppaction://hlinksldjump" tgtFrame="" tooltip="" history="1" highlightClick="0" endSnd="0"/>
          </p:cNvPr>
          <p:cNvSpPr txBox="1"/>
          <p:nvPr/>
        </p:nvSpPr>
        <p:spPr>
          <a:xfrm>
            <a:off x="2681283" y="614927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Balbehandeling</a:t>
            </a:r>
          </a:p>
        </p:txBody>
      </p:sp>
      <p:sp>
        <p:nvSpPr>
          <p:cNvPr id="1232" name="TextBox 17">
            <a:hlinkClick r:id="rId3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7046021"/>
            <a:ext cx="4370794" cy="787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233" name="TextBox 17">
            <a:hlinkClick r:id="rId4" invalidUrl="" action="ppaction://hlinksldjump" tgtFrame="" tooltip="" history="1" highlightClick="0" endSnd="0"/>
          </p:cNvPr>
          <p:cNvSpPr txBox="1"/>
          <p:nvPr/>
        </p:nvSpPr>
        <p:spPr>
          <a:xfrm>
            <a:off x="2700811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234" name="TextBox 17">
            <a:hlinkClick r:id="rId5" invalidUrl="" action="ppaction://hlinksldjump" tgtFrame="" tooltip="" history="1" highlightClick="0" endSnd="0"/>
          </p:cNvPr>
          <p:cNvSpPr txBox="1"/>
          <p:nvPr/>
        </p:nvSpPr>
        <p:spPr>
          <a:xfrm>
            <a:off x="7588917" y="616832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235" name="TextBox 17">
            <a:hlinkClick r:id="rId6" invalidUrl="" action="ppaction://hlinksldjump" tgtFrame="" tooltip="" history="1" highlightClick="0" endSnd="0"/>
          </p:cNvPr>
          <p:cNvSpPr txBox="1"/>
          <p:nvPr/>
        </p:nvSpPr>
        <p:spPr>
          <a:xfrm>
            <a:off x="12365868" y="6157140"/>
            <a:ext cx="4370793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236" name="TextBox 17">
            <a:hlinkClick r:id="rId7" invalidUrl="" action="ppaction://hlinksldjump" tgtFrame="" tooltip="" history="1" highlightClick="0" endSnd="0"/>
          </p:cNvPr>
          <p:cNvSpPr txBox="1"/>
          <p:nvPr/>
        </p:nvSpPr>
        <p:spPr>
          <a:xfrm>
            <a:off x="12421113" y="9967987"/>
            <a:ext cx="4370794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25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Onverstoorbaarheid</a:t>
            </a:r>
          </a:p>
        </p:txBody>
      </p:sp>
      <p:sp>
        <p:nvSpPr>
          <p:cNvPr id="1237" name="Goalkeeper #01"/>
          <p:cNvSpPr txBox="1"/>
          <p:nvPr/>
        </p:nvSpPr>
        <p:spPr>
          <a:xfrm>
            <a:off x="2585137" y="43415"/>
            <a:ext cx="11134958" cy="927101"/>
          </a:xfrm>
          <a:prstGeom prst="rect">
            <a:avLst/>
          </a:prstGeom>
          <a:ln w="12700">
            <a:miter lim="400000"/>
          </a:ln>
          <a:effectLst>
            <a:outerShdw sx="100000" sy="100000" kx="0" ky="0" algn="b" rotWithShape="0" blurRad="38100" dist="57611" dir="540000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defTabSz="12700">
              <a:lnSpc>
                <a:spcPct val="60000"/>
              </a:lnSpc>
              <a:spcBef>
                <a:spcPts val="0"/>
              </a:spcBef>
              <a:defRPr b="1" cap="all" sz="6000">
                <a:solidFill>
                  <a:srgbClr val="183883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Goalkeeper #01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TextBox 31"/>
          <p:cNvSpPr txBox="1"/>
          <p:nvPr/>
        </p:nvSpPr>
        <p:spPr>
          <a:xfrm>
            <a:off x="469900" y="4585372"/>
            <a:ext cx="488760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Buiten de 16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1 op 1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Standaard situaties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0" name="TextBox 30"/>
          <p:cNvSpPr txBox="1"/>
          <p:nvPr/>
        </p:nvSpPr>
        <p:spPr>
          <a:xfrm>
            <a:off x="240575" y="270067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“Houdt veel ballen tegen”</a:t>
            </a:r>
          </a:p>
        </p:txBody>
      </p:sp>
      <p:sp>
        <p:nvSpPr>
          <p:cNvPr id="1241" name="TextBox 17"/>
          <p:cNvSpPr txBox="1"/>
          <p:nvPr/>
        </p:nvSpPr>
        <p:spPr>
          <a:xfrm>
            <a:off x="242426" y="121369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Balbehandeling</a:t>
            </a:r>
          </a:p>
        </p:txBody>
      </p:sp>
      <p:sp>
        <p:nvSpPr>
          <p:cNvPr id="1242" name="TextBox 31"/>
          <p:cNvSpPr txBox="1"/>
          <p:nvPr/>
        </p:nvSpPr>
        <p:spPr>
          <a:xfrm>
            <a:off x="6439242" y="4585372"/>
            <a:ext cx="4887609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Positie kiezen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Coaching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Keuzes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Vervolg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3" name="TextBox 30"/>
          <p:cNvSpPr txBox="1"/>
          <p:nvPr/>
        </p:nvSpPr>
        <p:spPr>
          <a:xfrm>
            <a:off x="6232100" y="2298990"/>
            <a:ext cx="5891026" cy="121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“Lezen, anticiperen en reageren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op 1vs1, diepte bespelen </a:t>
            </a:r>
          </a:p>
          <a:p>
            <a: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en flankballen”</a:t>
            </a:r>
          </a:p>
        </p:txBody>
      </p:sp>
      <p:sp>
        <p:nvSpPr>
          <p:cNvPr id="1244" name="TextBox 17"/>
          <p:cNvSpPr txBox="1"/>
          <p:nvPr/>
        </p:nvSpPr>
        <p:spPr>
          <a:xfrm>
            <a:off x="6233952" y="1294610"/>
            <a:ext cx="5878328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1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Voorkomen vs verdedigen</a:t>
            </a:r>
          </a:p>
        </p:txBody>
      </p:sp>
      <p:sp>
        <p:nvSpPr>
          <p:cNvPr id="1245" name="TextBox 30"/>
          <p:cNvSpPr txBox="1"/>
          <p:nvPr/>
        </p:nvSpPr>
        <p:spPr>
          <a:xfrm>
            <a:off x="12222267" y="2705390"/>
            <a:ext cx="58910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“Uittrappen, passen en gooien”</a:t>
            </a:r>
          </a:p>
        </p:txBody>
      </p:sp>
      <p:sp>
        <p:nvSpPr>
          <p:cNvPr id="1246" name="TextBox 17"/>
          <p:cNvSpPr txBox="1"/>
          <p:nvPr/>
        </p:nvSpPr>
        <p:spPr>
          <a:xfrm>
            <a:off x="12224118" y="12311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BAL Verwerking</a:t>
            </a:r>
          </a:p>
        </p:txBody>
      </p:sp>
      <p:sp>
        <p:nvSpPr>
          <p:cNvPr id="1247" name="TextBox 31"/>
          <p:cNvSpPr txBox="1"/>
          <p:nvPr/>
        </p:nvSpPr>
        <p:spPr>
          <a:xfrm>
            <a:off x="12440273" y="4585372"/>
            <a:ext cx="5102071" cy="2514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van acties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Type passes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pc="-53"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Beide benen / armen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 &amp; timing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Snelheid &amp; hoogte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Voorbereiding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Hoe vaak?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Eindresultaat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8" name="TextBox 31"/>
          <p:cNvSpPr txBox="1"/>
          <p:nvPr/>
        </p:nvSpPr>
        <p:spPr>
          <a:xfrm>
            <a:off x="18441305" y="4585372"/>
            <a:ext cx="3780774" cy="195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(Reactie) snelheid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Voetenwerk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Balans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Zwaartepunt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Richtingsverandering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Mobiliteit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49" name="TextBox 30"/>
          <p:cNvSpPr txBox="1"/>
          <p:nvPr/>
        </p:nvSpPr>
        <p:spPr>
          <a:xfrm>
            <a:off x="18203191" y="2339630"/>
            <a:ext cx="5891026" cy="11379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“Snel en effectief de </a:t>
            </a:r>
          </a:p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lichaamspositie- en richting </a:t>
            </a:r>
          </a:p>
          <a:p>
            <a:pPr algn="ctr" defTabSz="1285875"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kunnen veranderen”</a:t>
            </a:r>
          </a:p>
        </p:txBody>
      </p:sp>
      <p:sp>
        <p:nvSpPr>
          <p:cNvPr id="1250" name="TextBox 17"/>
          <p:cNvSpPr txBox="1"/>
          <p:nvPr/>
        </p:nvSpPr>
        <p:spPr>
          <a:xfrm>
            <a:off x="18205043" y="123111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wendbaarheid</a:t>
            </a:r>
          </a:p>
        </p:txBody>
      </p:sp>
      <p:sp>
        <p:nvSpPr>
          <p:cNvPr id="1251" name="TextBox 30"/>
          <p:cNvSpPr txBox="1"/>
          <p:nvPr/>
        </p:nvSpPr>
        <p:spPr>
          <a:xfrm>
            <a:off x="550879" y="8758218"/>
            <a:ext cx="5359311" cy="812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sz="26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“Volhouden van de positie specifieke voetbalacties”</a:t>
            </a:r>
          </a:p>
        </p:txBody>
      </p:sp>
      <p:sp>
        <p:nvSpPr>
          <p:cNvPr id="1252" name="TextBox 17"/>
          <p:cNvSpPr txBox="1"/>
          <p:nvPr/>
        </p:nvSpPr>
        <p:spPr>
          <a:xfrm>
            <a:off x="263590" y="7474438"/>
            <a:ext cx="5883091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MOED</a:t>
            </a:r>
          </a:p>
        </p:txBody>
      </p:sp>
      <p:sp>
        <p:nvSpPr>
          <p:cNvPr id="1253" name="TextBox 31"/>
          <p:cNvSpPr txBox="1"/>
          <p:nvPr/>
        </p:nvSpPr>
        <p:spPr>
          <a:xfrm>
            <a:off x="480211" y="10841514"/>
            <a:ext cx="2750188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Initiatief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Risico’s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Vrijheid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Verrassen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Creativiteit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Vrijuit spelen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Zelfvertrouwen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4" name="TextBox 31"/>
          <p:cNvSpPr txBox="1"/>
          <p:nvPr/>
        </p:nvSpPr>
        <p:spPr>
          <a:xfrm>
            <a:off x="6445592" y="10841514"/>
            <a:ext cx="3780774" cy="2235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Stabiel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Beïnvloeden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Solide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In control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Bewust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Reactie na een fout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Omgaan met stress</a:t>
            </a:r>
          </a:p>
          <a:p>
            <a:pPr lvl="1" marL="190500" indent="-190500" defTabSz="1285875">
              <a:lnSpc>
                <a:spcPct val="100000"/>
              </a:lnSpc>
              <a:spcBef>
                <a:spcPts val="0"/>
              </a:spcBef>
              <a:buSzPct val="100000"/>
              <a:buFont typeface="Arial"/>
              <a:buChar char="•"/>
              <a:defRPr sz="18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  <a:r>
              <a:t>?</a:t>
            </a:r>
          </a:p>
        </p:txBody>
      </p:sp>
      <p:sp>
        <p:nvSpPr>
          <p:cNvPr id="1255" name="TextBox 30"/>
          <p:cNvSpPr txBox="1"/>
          <p:nvPr/>
        </p:nvSpPr>
        <p:spPr>
          <a:xfrm>
            <a:off x="6231304" y="8761565"/>
            <a:ext cx="5891026" cy="7480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 defTabSz="1285875">
              <a:spcBef>
                <a:spcPts val="0"/>
              </a:spcBef>
              <a:defRPr sz="2500">
                <a:solidFill>
                  <a:srgbClr val="173883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“Voert zijn taken uit ongeacht de omstandigheden”</a:t>
            </a:r>
          </a:p>
        </p:txBody>
      </p:sp>
      <p:sp>
        <p:nvSpPr>
          <p:cNvPr id="1256" name="TextBox 17"/>
          <p:cNvSpPr txBox="1"/>
          <p:nvPr/>
        </p:nvSpPr>
        <p:spPr>
          <a:xfrm>
            <a:off x="6233156" y="7458100"/>
            <a:ext cx="5878328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1285875">
              <a:lnSpc>
                <a:spcPct val="100000"/>
              </a:lnSpc>
              <a:spcBef>
                <a:spcPts val="0"/>
              </a:spcBef>
              <a:defRPr b="1" cap="all" sz="3600">
                <a:solidFill>
                  <a:srgbClr val="FFFFFF"/>
                </a:solidFill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lvl1pPr>
          </a:lstStyle>
          <a:p>
            <a:pPr/>
            <a:r>
              <a:t>Onverstoorbaarheid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1500">
        <p14:flip dir="r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59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0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1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2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3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4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5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6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7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68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69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7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2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73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4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5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6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7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8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79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0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1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2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83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84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287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8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89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0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1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2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3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4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5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296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297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298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01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2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3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4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5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6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7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8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09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0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11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12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15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6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7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8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19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0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1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2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3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24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25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26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8" name="TextBox 31"/>
          <p:cNvSpPr txBox="1"/>
          <p:nvPr/>
        </p:nvSpPr>
        <p:spPr>
          <a:xfrm>
            <a:off x="588823" y="11323899"/>
            <a:ext cx="23457773" cy="3937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spAutoFit/>
          </a:bodyPr>
          <a:lstStyle/>
          <a:p>
            <a:pPr lvl="1" indent="0" defTabSz="1285875">
              <a:lnSpc>
                <a:spcPct val="100000"/>
              </a:lnSpc>
              <a:spcBef>
                <a:spcPts val="0"/>
              </a:spcBef>
              <a:buFont typeface="Arial"/>
              <a:defRPr sz="2500">
                <a:uFill>
                  <a:solidFill>
                    <a:srgbClr val="525252"/>
                  </a:solidFill>
                </a:uFill>
                <a:latin typeface="Century Gothic"/>
                <a:ea typeface="Century Gothic"/>
                <a:cs typeface="Century Gothic"/>
                <a:sym typeface="Century Gothic"/>
              </a:defRPr>
            </a:pPr>
          </a:p>
        </p:txBody>
      </p:sp>
      <p:sp>
        <p:nvSpPr>
          <p:cNvPr id="1329" name="Ster"/>
          <p:cNvSpPr/>
          <p:nvPr/>
        </p:nvSpPr>
        <p:spPr>
          <a:xfrm>
            <a:off x="2387850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0" name="Ster"/>
          <p:cNvSpPr/>
          <p:nvPr/>
        </p:nvSpPr>
        <p:spPr>
          <a:xfrm>
            <a:off x="23389550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1" name="Ster"/>
          <p:cNvSpPr/>
          <p:nvPr/>
        </p:nvSpPr>
        <p:spPr>
          <a:xfrm>
            <a:off x="228963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2" name="Ster"/>
          <p:cNvSpPr/>
          <p:nvPr/>
        </p:nvSpPr>
        <p:spPr>
          <a:xfrm>
            <a:off x="2240740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3" name="Ster"/>
          <p:cNvSpPr/>
          <p:nvPr/>
        </p:nvSpPr>
        <p:spPr>
          <a:xfrm>
            <a:off x="21918451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4" name="Ster"/>
          <p:cNvSpPr/>
          <p:nvPr/>
        </p:nvSpPr>
        <p:spPr>
          <a:xfrm>
            <a:off x="2142525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5" name="Ster"/>
          <p:cNvSpPr/>
          <p:nvPr/>
        </p:nvSpPr>
        <p:spPr>
          <a:xfrm>
            <a:off x="20936301" y="10496267"/>
            <a:ext cx="400419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6" name="Ster"/>
          <p:cNvSpPr/>
          <p:nvPr/>
        </p:nvSpPr>
        <p:spPr>
          <a:xfrm>
            <a:off x="204431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7" name="Ster"/>
          <p:cNvSpPr/>
          <p:nvPr/>
        </p:nvSpPr>
        <p:spPr>
          <a:xfrm>
            <a:off x="1995415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sp>
        <p:nvSpPr>
          <p:cNvPr id="1338" name="Ster"/>
          <p:cNvSpPr/>
          <p:nvPr/>
        </p:nvSpPr>
        <p:spPr>
          <a:xfrm>
            <a:off x="19465202" y="10496267"/>
            <a:ext cx="400418" cy="380821"/>
          </a:xfrm>
          <a:prstGeom prst="star5">
            <a:avLst>
              <a:gd name="adj" fmla="val 25120"/>
              <a:gd name="hf" fmla="val 105146"/>
              <a:gd name="vf" fmla="val 110557"/>
            </a:avLst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</a:p>
        </p:txBody>
      </p:sp>
      <p:pic>
        <p:nvPicPr>
          <p:cNvPr id="1339" name="Schermafbeelding 2026-03-23 om 12.30.50.png" descr="Schermafbeelding 2026-03-23 om 12.30.50.png"/>
          <p:cNvPicPr>
            <a:picLocks noChangeAspect="1"/>
          </p:cNvPicPr>
          <p:nvPr/>
        </p:nvPicPr>
        <p:blipFill>
          <a:blip r:embed="rId2">
            <a:extLst/>
          </a:blip>
          <a:srcRect l="0" t="59" r="0" b="59"/>
          <a:stretch>
            <a:fillRect/>
          </a:stretch>
        </p:blipFill>
        <p:spPr>
          <a:xfrm>
            <a:off x="333997" y="231011"/>
            <a:ext cx="19021778" cy="10699751"/>
          </a:xfrm>
          <a:prstGeom prst="rect">
            <a:avLst/>
          </a:prstGeom>
          <a:ln w="25400">
            <a:solidFill>
              <a:srgbClr val="173883"/>
            </a:solidFill>
            <a:miter lim="400000"/>
          </a:ln>
        </p:spPr>
      </p:pic>
      <p:pic>
        <p:nvPicPr>
          <p:cNvPr id="1340" name="FC DEN BOSCH LOGO.png" descr="FC DEN BOSCH LOGO.png">
            <a:hlinkClick r:id="rId3" invalidUrl="" action="ppaction://hlinksldjump" tgtFrame="" tooltip="" history="1" highlightClick="0" endSnd="0"/>
          </p:cNvPr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3397940" y="9333138"/>
            <a:ext cx="782321" cy="78232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TextBox 28"/>
          <p:cNvSpPr txBox="1"/>
          <p:nvPr/>
        </p:nvSpPr>
        <p:spPr>
          <a:xfrm>
            <a:off x="14881271" y="8777643"/>
            <a:ext cx="2374698" cy="11049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 anchor="ctr">
            <a:spAutoFit/>
          </a:bodyPr>
          <a:lstStyle/>
          <a:p>
            <a:pPr algn="r" defTabSz="457200">
              <a:lnSpc>
                <a:spcPct val="100000"/>
              </a:lnSpc>
              <a:spcBef>
                <a:spcPts val="0"/>
              </a:spcBef>
              <a:defRPr cap="all" sz="6400">
                <a:solidFill>
                  <a:srgbClr val="2769C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Click="1" p14:dur="2000">
        <p:wipe dir="r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