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Shape 72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0" name="Shape 73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1.tif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tif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1.tif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tif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(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Rectangle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" name="Line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1" name="Line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52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53" name="Rectangle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VOETBAL</a:t>
            </a:r>
          </a:p>
        </p:txBody>
      </p:sp>
      <p:sp>
        <p:nvSpPr>
          <p:cNvPr id="55" name="Rectangle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6" name="Rectangle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59" name="Group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57" name="Rounded Rectangle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58" name="Image" descr="Image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60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" name="Line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5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BEHOEFTEN</a:t>
            </a:r>
          </a:p>
        </p:txBody>
      </p:sp>
      <p:sp>
        <p:nvSpPr>
          <p:cNvPr id="74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VOORKEUR</a:t>
            </a:r>
          </a:p>
        </p:txBody>
      </p:sp>
      <p:sp>
        <p:nvSpPr>
          <p:cNvPr id="75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FYSIEK</a:t>
            </a:r>
          </a:p>
        </p:txBody>
      </p:sp>
      <p:sp>
        <p:nvSpPr>
          <p:cNvPr id="76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PERSOONLIJKHEID</a:t>
            </a:r>
          </a:p>
        </p:txBody>
      </p:sp>
      <p:sp>
        <p:nvSpPr>
          <p:cNvPr id="77" name="Line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lide Number"/>
          <p:cNvSpPr txBox="1"/>
          <p:nvPr>
            <p:ph type="sldNum" sz="quarter" idx="2"/>
          </p:nvPr>
        </p:nvSpPr>
        <p:spPr>
          <a:xfrm>
            <a:off x="12051322" y="12344399"/>
            <a:ext cx="1969479" cy="736601"/>
          </a:xfrm>
          <a:prstGeom prst="rect">
            <a:avLst/>
          </a:prstGeom>
        </p:spPr>
        <p:txBody>
          <a:bodyPr lIns="12660" tIns="12660" rIns="12660" bIns="12660" anchor="ctr"/>
          <a:lstStyle>
            <a:lvl1pPr algn="r" defTabSz="126609">
              <a:defRPr sz="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3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7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4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"/>
          <p:cNvSpPr/>
          <p:nvPr/>
        </p:nvSpPr>
        <p:spPr>
          <a:xfrm>
            <a:off x="228588" y="9285347"/>
            <a:ext cx="7296900" cy="415911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" name="Rectangle"/>
          <p:cNvSpPr/>
          <p:nvPr/>
        </p:nvSpPr>
        <p:spPr>
          <a:xfrm>
            <a:off x="16452494" y="4482161"/>
            <a:ext cx="7806637" cy="3843630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" name="Rectangle"/>
          <p:cNvSpPr/>
          <p:nvPr/>
        </p:nvSpPr>
        <p:spPr>
          <a:xfrm>
            <a:off x="7857335" y="8533674"/>
            <a:ext cx="8290361" cy="492066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" name="Rectangle"/>
          <p:cNvSpPr/>
          <p:nvPr/>
        </p:nvSpPr>
        <p:spPr>
          <a:xfrm>
            <a:off x="16452494" y="8534379"/>
            <a:ext cx="7806637" cy="491925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" name="Rectangle"/>
          <p:cNvSpPr/>
          <p:nvPr/>
        </p:nvSpPr>
        <p:spPr>
          <a:xfrm>
            <a:off x="16452494" y="238399"/>
            <a:ext cx="7806637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2" name="Rectangle"/>
          <p:cNvSpPr/>
          <p:nvPr/>
        </p:nvSpPr>
        <p:spPr>
          <a:xfrm>
            <a:off x="7815068" y="4485154"/>
            <a:ext cx="3971648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" name="Rectangle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4" name="Rectangle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5" name="TextBox 38"/>
          <p:cNvSpPr txBox="1"/>
          <p:nvPr/>
        </p:nvSpPr>
        <p:spPr>
          <a:xfrm>
            <a:off x="891013" y="17960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Date of birth</a:t>
            </a:r>
          </a:p>
        </p:txBody>
      </p:sp>
      <p:sp>
        <p:nvSpPr>
          <p:cNvPr id="116" name="TextBox 38"/>
          <p:cNvSpPr txBox="1"/>
          <p:nvPr/>
        </p:nvSpPr>
        <p:spPr>
          <a:xfrm>
            <a:off x="891013" y="25563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City of Birth </a:t>
            </a:r>
          </a:p>
        </p:txBody>
      </p:sp>
      <p:sp>
        <p:nvSpPr>
          <p:cNvPr id="117" name="TextBox 38"/>
          <p:cNvSpPr txBox="1"/>
          <p:nvPr/>
        </p:nvSpPr>
        <p:spPr>
          <a:xfrm>
            <a:off x="123369" y="3288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Nationality</a:t>
            </a:r>
          </a:p>
        </p:txBody>
      </p:sp>
      <p:sp>
        <p:nvSpPr>
          <p:cNvPr id="118" name="TextBox 38"/>
          <p:cNvSpPr txBox="1"/>
          <p:nvPr/>
        </p:nvSpPr>
        <p:spPr>
          <a:xfrm>
            <a:off x="891013" y="40809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119" name="TextBox 38"/>
          <p:cNvSpPr txBox="1"/>
          <p:nvPr/>
        </p:nvSpPr>
        <p:spPr>
          <a:xfrm>
            <a:off x="891013" y="48066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Preferred foot</a:t>
            </a:r>
          </a:p>
        </p:txBody>
      </p:sp>
      <p:sp>
        <p:nvSpPr>
          <p:cNvPr id="120" name="TextBox 38"/>
          <p:cNvSpPr txBox="1"/>
          <p:nvPr/>
        </p:nvSpPr>
        <p:spPr>
          <a:xfrm>
            <a:off x="891013" y="55710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121" name="TextBox 38"/>
          <p:cNvSpPr txBox="1"/>
          <p:nvPr/>
        </p:nvSpPr>
        <p:spPr>
          <a:xfrm>
            <a:off x="891013" y="62641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League</a:t>
            </a:r>
          </a:p>
        </p:txBody>
      </p:sp>
      <p:sp>
        <p:nvSpPr>
          <p:cNvPr id="122" name="Freeform 5"/>
          <p:cNvSpPr/>
          <p:nvPr/>
        </p:nvSpPr>
        <p:spPr>
          <a:xfrm>
            <a:off x="1391022" y="1783354"/>
            <a:ext cx="5347679" cy="25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" name="Rectangle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4" name="Rectangle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" name="Rectangle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" name="Rectangle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" name="Rectangle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" name="Rectangle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" name="Rectangle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" name="Rectangle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132" name="TextBox 41"/>
          <p:cNvSpPr txBox="1"/>
          <p:nvPr/>
        </p:nvSpPr>
        <p:spPr>
          <a:xfrm>
            <a:off x="7997574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RATING</a:t>
            </a:r>
          </a:p>
        </p:txBody>
      </p:sp>
      <p:sp>
        <p:nvSpPr>
          <p:cNvPr id="133" name="TextBox 46"/>
          <p:cNvSpPr txBox="1"/>
          <p:nvPr/>
        </p:nvSpPr>
        <p:spPr>
          <a:xfrm>
            <a:off x="16850858" y="1036124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value</a:t>
            </a:r>
          </a:p>
        </p:txBody>
      </p:sp>
      <p:sp>
        <p:nvSpPr>
          <p:cNvPr id="134" name="Rectangle"/>
          <p:cNvSpPr/>
          <p:nvPr/>
        </p:nvSpPr>
        <p:spPr>
          <a:xfrm>
            <a:off x="19705480" y="11071458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5" name="Rectangle"/>
          <p:cNvSpPr/>
          <p:nvPr/>
        </p:nvSpPr>
        <p:spPr>
          <a:xfrm>
            <a:off x="19705480" y="11818374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6" name="Rectangle"/>
          <p:cNvSpPr/>
          <p:nvPr/>
        </p:nvSpPr>
        <p:spPr>
          <a:xfrm>
            <a:off x="19705480" y="12548075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7" name="Rectangle"/>
          <p:cNvSpPr/>
          <p:nvPr/>
        </p:nvSpPr>
        <p:spPr>
          <a:xfrm>
            <a:off x="18197104" y="397811"/>
            <a:ext cx="5799755" cy="3717054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" name="TextBox 43"/>
          <p:cNvSpPr txBox="1"/>
          <p:nvPr/>
        </p:nvSpPr>
        <p:spPr>
          <a:xfrm>
            <a:off x="11203802" y="334915"/>
            <a:ext cx="213896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CURRENT SEASON</a:t>
            </a:r>
          </a:p>
        </p:txBody>
      </p:sp>
      <p:sp>
        <p:nvSpPr>
          <p:cNvPr id="139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CAREER</a:t>
            </a:r>
          </a:p>
        </p:txBody>
      </p:sp>
      <p:sp>
        <p:nvSpPr>
          <p:cNvPr id="140" name="TextBox 46"/>
          <p:cNvSpPr txBox="1"/>
          <p:nvPr/>
        </p:nvSpPr>
        <p:spPr>
          <a:xfrm>
            <a:off x="16766170" y="8728014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details</a:t>
            </a:r>
          </a:p>
        </p:txBody>
      </p:sp>
      <p:sp>
        <p:nvSpPr>
          <p:cNvPr id="141" name="TextBox 45"/>
          <p:cNvSpPr txBox="1"/>
          <p:nvPr/>
        </p:nvSpPr>
        <p:spPr>
          <a:xfrm>
            <a:off x="16681484" y="388073"/>
            <a:ext cx="174382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Scouting</a:t>
            </a:r>
          </a:p>
        </p:txBody>
      </p:sp>
      <p:sp>
        <p:nvSpPr>
          <p:cNvPr id="142" name="TextBox 47"/>
          <p:cNvSpPr txBox="1"/>
          <p:nvPr/>
        </p:nvSpPr>
        <p:spPr>
          <a:xfrm>
            <a:off x="8044076" y="86523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sp>
        <p:nvSpPr>
          <p:cNvPr id="143" name="Rectangle"/>
          <p:cNvSpPr/>
          <p:nvPr/>
        </p:nvSpPr>
        <p:spPr>
          <a:xfrm>
            <a:off x="3602054" y="2095922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" name="Rectangle"/>
          <p:cNvSpPr/>
          <p:nvPr/>
        </p:nvSpPr>
        <p:spPr>
          <a:xfrm>
            <a:off x="3602054" y="284964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5" name="Rectangle"/>
          <p:cNvSpPr/>
          <p:nvPr/>
        </p:nvSpPr>
        <p:spPr>
          <a:xfrm>
            <a:off x="3602054" y="3607060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6" name="Rectangle"/>
          <p:cNvSpPr/>
          <p:nvPr/>
        </p:nvSpPr>
        <p:spPr>
          <a:xfrm>
            <a:off x="3602054" y="436447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7" name="Rectangle"/>
          <p:cNvSpPr/>
          <p:nvPr/>
        </p:nvSpPr>
        <p:spPr>
          <a:xfrm>
            <a:off x="3602054" y="5118199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" name="Rectangle"/>
          <p:cNvSpPr/>
          <p:nvPr/>
        </p:nvSpPr>
        <p:spPr>
          <a:xfrm>
            <a:off x="3602054" y="5861842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" name="Rectangle"/>
          <p:cNvSpPr/>
          <p:nvPr/>
        </p:nvSpPr>
        <p:spPr>
          <a:xfrm>
            <a:off x="3602054" y="6609877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0" name="TextBox 38"/>
          <p:cNvSpPr txBox="1"/>
          <p:nvPr/>
        </p:nvSpPr>
        <p:spPr>
          <a:xfrm>
            <a:off x="890861" y="6999515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Agency</a:t>
            </a:r>
          </a:p>
        </p:txBody>
      </p:sp>
      <p:sp>
        <p:nvSpPr>
          <p:cNvPr id="151" name="Rectangle"/>
          <p:cNvSpPr/>
          <p:nvPr/>
        </p:nvSpPr>
        <p:spPr>
          <a:xfrm>
            <a:off x="3601902" y="7345231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2" name="TextBox 38"/>
          <p:cNvSpPr txBox="1"/>
          <p:nvPr/>
        </p:nvSpPr>
        <p:spPr>
          <a:xfrm>
            <a:off x="890861" y="7733610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153" name="Rectangle"/>
          <p:cNvSpPr/>
          <p:nvPr/>
        </p:nvSpPr>
        <p:spPr>
          <a:xfrm>
            <a:off x="3601902" y="8079326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4" name="Rectangle"/>
          <p:cNvSpPr/>
          <p:nvPr/>
        </p:nvSpPr>
        <p:spPr>
          <a:xfrm>
            <a:off x="19705480" y="10315740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" name="Rectangle"/>
          <p:cNvSpPr/>
          <p:nvPr/>
        </p:nvSpPr>
        <p:spPr>
          <a:xfrm>
            <a:off x="19717846" y="9560023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" name="TextBox 46"/>
          <p:cNvSpPr txBox="1"/>
          <p:nvPr/>
        </p:nvSpPr>
        <p:spPr>
          <a:xfrm>
            <a:off x="16850858" y="12641529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Next step</a:t>
            </a:r>
          </a:p>
        </p:txBody>
      </p:sp>
      <p:sp>
        <p:nvSpPr>
          <p:cNvPr id="157" name="TextBox 46"/>
          <p:cNvSpPr txBox="1"/>
          <p:nvPr/>
        </p:nvSpPr>
        <p:spPr>
          <a:xfrm>
            <a:off x="16850858" y="11884115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2</a:t>
            </a:r>
          </a:p>
        </p:txBody>
      </p:sp>
      <p:sp>
        <p:nvSpPr>
          <p:cNvPr id="158" name="TextBox 46"/>
          <p:cNvSpPr txBox="1"/>
          <p:nvPr/>
        </p:nvSpPr>
        <p:spPr>
          <a:xfrm>
            <a:off x="16850858" y="11101413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</a:p>
        </p:txBody>
      </p:sp>
      <p:sp>
        <p:nvSpPr>
          <p:cNvPr id="159" name="TextBox 46"/>
          <p:cNvSpPr txBox="1"/>
          <p:nvPr/>
        </p:nvSpPr>
        <p:spPr>
          <a:xfrm>
            <a:off x="16850858" y="961506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End of contract</a:t>
            </a:r>
          </a:p>
        </p:txBody>
      </p:sp>
      <p:sp>
        <p:nvSpPr>
          <p:cNvPr id="160" name="Rectangle"/>
          <p:cNvSpPr/>
          <p:nvPr/>
        </p:nvSpPr>
        <p:spPr>
          <a:xfrm>
            <a:off x="12133781" y="4485154"/>
            <a:ext cx="3980337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" name="TextBox 41"/>
          <p:cNvSpPr txBox="1"/>
          <p:nvPr/>
        </p:nvSpPr>
        <p:spPr>
          <a:xfrm>
            <a:off x="12316287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AVAILABILITY</a:t>
            </a:r>
          </a:p>
        </p:txBody>
      </p:sp>
      <p:pic>
        <p:nvPicPr>
          <p:cNvPr id="162" name="Image" descr="Image"/>
          <p:cNvPicPr>
            <a:picLocks noChangeAspect="1"/>
          </p:cNvPicPr>
          <p:nvPr/>
        </p:nvPicPr>
        <p:blipFill>
          <a:blip r:embed="rId3">
            <a:alphaModFix amt="85000"/>
            <a:extLst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63" name="Rectangle"/>
          <p:cNvSpPr/>
          <p:nvPr/>
        </p:nvSpPr>
        <p:spPr>
          <a:xfrm>
            <a:off x="4407241" y="9341001"/>
            <a:ext cx="2808750" cy="4047809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64" name="TextBox 41"/>
          <p:cNvSpPr txBox="1"/>
          <p:nvPr/>
        </p:nvSpPr>
        <p:spPr>
          <a:xfrm>
            <a:off x="407134" y="9496137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PLAYERS PROFILE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389737" y="11554262"/>
            <a:ext cx="2152563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Total Distance: 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HI-runs: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Sprints: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Top speed:</a:t>
            </a:r>
          </a:p>
        </p:txBody>
      </p:sp>
      <p:sp>
        <p:nvSpPr>
          <p:cNvPr id="1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nelheid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5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6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7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9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81" name="Snelheid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182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“Absolute snelheid zonder bal” “Snelheid in de acties met bal” “Startsnelheid”</a:t>
            </a:r>
          </a:p>
        </p:txBody>
      </p:sp>
      <p:sp>
        <p:nvSpPr>
          <p:cNvPr id="183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Paslengte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Grote / kleine afstanden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1e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Uithoudingsvermogen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3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4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5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7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99" name="Uithoudings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Uithoudings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vermogen</a:t>
            </a:r>
          </a:p>
        </p:txBody>
      </p:sp>
      <p:sp>
        <p:nvSpPr>
          <p:cNvPr id="200" name="TextBox 30"/>
          <p:cNvSpPr txBox="1"/>
          <p:nvPr/>
        </p:nvSpPr>
        <p:spPr>
          <a:xfrm>
            <a:off x="19792143" y="2397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“Volhouden van de positie specifieke voetbalacties”</a:t>
            </a:r>
          </a:p>
        </p:txBody>
      </p:sp>
      <p:sp>
        <p:nvSpPr>
          <p:cNvPr id="201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90 min volhouden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Gemiddelde p/w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oorzettingsvermogen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1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2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3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17" name="Doorzettings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Doorzettings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vermogen</a:t>
            </a:r>
          </a:p>
        </p:txBody>
      </p:sp>
      <p:sp>
        <p:nvSpPr>
          <p:cNvPr id="218" name="TextBox 30"/>
          <p:cNvSpPr txBox="1"/>
          <p:nvPr/>
        </p:nvSpPr>
        <p:spPr>
          <a:xfrm>
            <a:off x="19792143" y="2104358"/>
            <a:ext cx="4159834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“Heeft een echte winnaarsmentaliteit, geeft nooit op en probeert teamgenoten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stimuleren”</a:t>
            </a:r>
          </a:p>
        </p:txBody>
      </p:sp>
      <p:sp>
        <p:nvSpPr>
          <p:cNvPr id="219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Emotie 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Gedrag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Rouwmomenten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Anderen inspireren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Nooit opgeven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 het einde vechten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Altijd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p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9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0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1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34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5" name="Speed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236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“Top speed and acceleration capabilities”</a:t>
            </a:r>
          </a:p>
        </p:txBody>
      </p:sp>
      <p:sp>
        <p:nvSpPr>
          <p:cNvPr id="23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Stride length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Big / small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First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tam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46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7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8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9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1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52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3" name="Stamina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254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“Sustain prolonged effort and maintain performance throughout a match without excessive fatigue”</a:t>
            </a:r>
          </a:p>
        </p:txBody>
      </p:sp>
      <p:sp>
        <p:nvSpPr>
          <p:cNvPr id="255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Maintaining 90 mins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Average mins p/g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termi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64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5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6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7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9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70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1" name="Determination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272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“Showing strong will, persistence, and commitment to succeed, even in difficult situations”</a:t>
            </a:r>
          </a:p>
        </p:txBody>
      </p:sp>
      <p:sp>
        <p:nvSpPr>
          <p:cNvPr id="273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Emotion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Behaviour (by result)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Mourning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Inspiring others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Never give 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Fight until the end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Always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siste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3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4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5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7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88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9" name="Consistenc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Consistency</a:t>
            </a:r>
          </a:p>
        </p:txBody>
      </p:sp>
      <p:sp>
        <p:nvSpPr>
          <p:cNvPr id="290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“Perform at a similar level of quality repeatedly over time, across matches or actions”</a:t>
            </a:r>
          </a:p>
        </p:txBody>
      </p:sp>
      <p:sp>
        <p:nvSpPr>
          <p:cNvPr id="291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Steady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Influential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Solid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Conscious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React after mistakes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Dealing with stress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werp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00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1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2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3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5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306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7" name="Power pla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 play</a:t>
            </a:r>
          </a:p>
        </p:txBody>
      </p:sp>
      <p:sp>
        <p:nvSpPr>
          <p:cNvPr id="308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“Attempts by physical strength and forceful challenges to dominate opponents in duels”</a:t>
            </a:r>
          </a:p>
        </p:txBody>
      </p:sp>
      <p:sp>
        <p:nvSpPr>
          <p:cNvPr id="309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Strong body part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Groundduels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Aerial 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ffensive positio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18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9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0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1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324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5" name="Of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326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“Ball receptions in halfspace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and/or final third”</a:t>
            </a:r>
          </a:p>
        </p:txBody>
      </p:sp>
      <p:sp>
        <p:nvSpPr>
          <p:cNvPr id="32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Awareness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3rd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Reachable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Rotating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Areas of play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ensive positio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7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8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9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1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342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3" name="De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344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“Prevent the direct opponent from finishing, crossing, dribbling or passing by defending well”</a:t>
            </a:r>
          </a:p>
        </p:txBody>
      </p:sp>
      <p:sp>
        <p:nvSpPr>
          <p:cNvPr id="345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ball?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Body position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High or low line?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Danger recognition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Distance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Press opponent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 passing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as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5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6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7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5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9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360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1" name="Passing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Passing</a:t>
            </a:r>
          </a:p>
        </p:txBody>
      </p:sp>
      <p:sp>
        <p:nvSpPr>
          <p:cNvPr id="362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“Open play pass &lt;10m (under pressure or through the lines) or open play pass &gt;30m”</a:t>
            </a:r>
          </a:p>
        </p:txBody>
      </p:sp>
      <p:sp>
        <p:nvSpPr>
          <p:cNvPr id="363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Speed of actions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of pass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Both legs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height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 kopie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2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3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4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5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376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377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8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9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0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1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2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3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4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5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6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7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8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9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390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391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392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3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4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5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6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397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8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9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0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1" name="Freeform 7"/>
          <p:cNvSpPr/>
          <p:nvPr/>
        </p:nvSpPr>
        <p:spPr>
          <a:xfrm>
            <a:off x="18234941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2" name="Freeform 7"/>
          <p:cNvSpPr/>
          <p:nvPr/>
        </p:nvSpPr>
        <p:spPr>
          <a:xfrm>
            <a:off x="18234147" y="1016289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3" name="Freeform 7"/>
          <p:cNvSpPr/>
          <p:nvPr/>
        </p:nvSpPr>
        <p:spPr>
          <a:xfrm>
            <a:off x="18234941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4" name="Freeform 7"/>
          <p:cNvSpPr/>
          <p:nvPr/>
        </p:nvSpPr>
        <p:spPr>
          <a:xfrm>
            <a:off x="18234941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5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6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7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8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9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10" name="TextBox 20"/>
          <p:cNvSpPr txBox="1"/>
          <p:nvPr/>
        </p:nvSpPr>
        <p:spPr>
          <a:xfrm>
            <a:off x="18450666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11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 kopie 3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0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1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2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3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24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4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33" name="Rectangle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4" name="Line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35" name="Line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436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437" name="Rectangle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8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FOOTBALL</a:t>
            </a:r>
          </a:p>
        </p:txBody>
      </p:sp>
      <p:sp>
        <p:nvSpPr>
          <p:cNvPr id="439" name="Rectangle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0" name="Rectangle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443" name="Group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441" name="Rounded Rectangle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442" name="Image" descr="Image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444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5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6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7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8" name="Line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49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0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1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2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3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4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5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6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7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NEEDS</a:t>
            </a:r>
          </a:p>
        </p:txBody>
      </p:sp>
      <p:sp>
        <p:nvSpPr>
          <p:cNvPr id="458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PREFENCES</a:t>
            </a:r>
          </a:p>
        </p:txBody>
      </p:sp>
      <p:sp>
        <p:nvSpPr>
          <p:cNvPr id="459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Physical</a:t>
            </a:r>
          </a:p>
        </p:txBody>
      </p:sp>
      <p:sp>
        <p:nvSpPr>
          <p:cNvPr id="460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PERSONALITY</a:t>
            </a:r>
          </a:p>
        </p:txBody>
      </p:sp>
      <p:sp>
        <p:nvSpPr>
          <p:cNvPr id="461" name="Line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verstoorbaarheid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70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1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2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3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7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5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7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77" name="Onverstoor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Onverstoor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baarheid</a:t>
            </a:r>
          </a:p>
        </p:txBody>
      </p:sp>
      <p:sp>
        <p:nvSpPr>
          <p:cNvPr id="478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“Voert zijn taken uit ongeacht de omstandigheden”</a:t>
            </a:r>
          </a:p>
        </p:txBody>
      </p:sp>
      <p:sp>
        <p:nvSpPr>
          <p:cNvPr id="479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Stabiel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Beïnvloeden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Solide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Bewust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Reactie na een fout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Omgaan met stress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48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uelkracht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88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89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0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1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9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3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9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95" name="Duelkracht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496" name="TextBox 30"/>
          <p:cNvSpPr txBox="1"/>
          <p:nvPr/>
        </p:nvSpPr>
        <p:spPr>
          <a:xfrm>
            <a:off x="19792143" y="2271998"/>
            <a:ext cx="4159834" cy="782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“Geslaagde pogingen om de bal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winnen / behouden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fysieke duels”</a:t>
            </a:r>
          </a:p>
        </p:txBody>
      </p:sp>
      <p:sp>
        <p:nvSpPr>
          <p:cNvPr id="49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Lichaamsdeel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Luchtduels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49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sitie kiezen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06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7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8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9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1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1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1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13" name="Positie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kiezen (A)</a:t>
            </a:r>
          </a:p>
        </p:txBody>
      </p:sp>
      <p:sp>
        <p:nvSpPr>
          <p:cNvPr id="514" name="TextBox 30"/>
          <p:cNvSpPr txBox="1"/>
          <p:nvPr/>
        </p:nvSpPr>
        <p:spPr>
          <a:xfrm>
            <a:off x="19855643" y="2185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“Passes ontvangen of geslaagde vrijloop-acties voor teamgenoten in de half-spaces en/of final third”</a:t>
            </a:r>
          </a:p>
        </p:txBody>
      </p:sp>
      <p:sp>
        <p:nvSpPr>
          <p:cNvPr id="515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Ruimte herkenning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Inzicht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3e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Aanspeelbaar zijn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Actieve zones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sitie kiezen (V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24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5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6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7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2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9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0" name="Positie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kiezen (V)</a:t>
            </a:r>
          </a:p>
        </p:txBody>
      </p:sp>
      <p:sp>
        <p:nvSpPr>
          <p:cNvPr id="531" name="TextBox 30"/>
          <p:cNvSpPr txBox="1"/>
          <p:nvPr/>
        </p:nvSpPr>
        <p:spPr>
          <a:xfrm>
            <a:off x="19855643" y="2087268"/>
            <a:ext cx="4159834" cy="1033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“Voorkomen van doelpogingen of potentieel gevaar (voorzet, dribbel, pass of schot) van de tegenstander d.m.v. de positiekeuze”</a:t>
            </a:r>
          </a:p>
        </p:txBody>
      </p:sp>
      <p:sp>
        <p:nvSpPr>
          <p:cNvPr id="532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Lichaamspositie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Hoge of lage lijn?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Gevaarherkenning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Afstanden linies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Drukzetten / doordekken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Lijnen dichtzetten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3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assing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42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3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4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5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4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7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4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49" name="Passing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Passing</a:t>
            </a:r>
          </a:p>
        </p:txBody>
      </p:sp>
      <p:sp>
        <p:nvSpPr>
          <p:cNvPr id="550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“Passing korter dan 10-15m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(onder druk of door de linies)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 passing langer dan 30m</a:t>
            </a:r>
          </a:p>
        </p:txBody>
      </p:sp>
      <p:sp>
        <p:nvSpPr>
          <p:cNvPr id="551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van acties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passes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&amp; hoogte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0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1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2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3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64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565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6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7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8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9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0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1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2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3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4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5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6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7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78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79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80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1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2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3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4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85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6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7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8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9" name="Freeform 7"/>
          <p:cNvSpPr/>
          <p:nvPr/>
        </p:nvSpPr>
        <p:spPr>
          <a:xfrm>
            <a:off x="18234941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0" name="Freeform 7"/>
          <p:cNvSpPr/>
          <p:nvPr/>
        </p:nvSpPr>
        <p:spPr>
          <a:xfrm>
            <a:off x="18234147" y="1016289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1" name="Freeform 7"/>
          <p:cNvSpPr/>
          <p:nvPr/>
        </p:nvSpPr>
        <p:spPr>
          <a:xfrm>
            <a:off x="18234941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2" name="Freeform 7"/>
          <p:cNvSpPr/>
          <p:nvPr/>
        </p:nvSpPr>
        <p:spPr>
          <a:xfrm>
            <a:off x="18234941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3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4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5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6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7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98" name="TextBox 20"/>
          <p:cNvSpPr txBox="1"/>
          <p:nvPr/>
        </p:nvSpPr>
        <p:spPr>
          <a:xfrm>
            <a:off x="18450666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99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 kopie 2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8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9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0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1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12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6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 2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23" name="Group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621" name="Rounded Rectangle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622" name="Image" descr="Image"/>
            <p:cNvPicPr>
              <a:picLocks noChangeAspect="1"/>
            </p:cNvPicPr>
            <p:nvPr/>
          </p:nvPicPr>
          <p:blipFill>
            <a:blip r:embed="rId3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624" name="Rectangle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25" name="TextBox 28"/>
          <p:cNvSpPr txBox="1"/>
          <p:nvPr/>
        </p:nvSpPr>
        <p:spPr>
          <a:xfrm>
            <a:off x="9228608" y="5951167"/>
            <a:ext cx="6159931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WELKOM</a:t>
            </a:r>
          </a:p>
        </p:txBody>
      </p:sp>
      <p:pic>
        <p:nvPicPr>
          <p:cNvPr id="626" name="FC DEN BOSCH LOGO.png" descr="FC DEN BOSCH LOGO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627" name="Afbeelding" descr="Afbeeldi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28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6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6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637" name="CLub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638" name="Line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639" name="TextBox 21"/>
          <p:cNvSpPr txBox="1"/>
          <p:nvPr/>
        </p:nvSpPr>
        <p:spPr>
          <a:xfrm>
            <a:off x="5171907" y="1741291"/>
            <a:ext cx="15078763" cy="5207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Bossche club, een Bosschenaar is trots op onze stad en club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strijdbaar, we buigen wel, maar barsten niet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Met heel ons hart staan we achter FC Den Bosch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Hier leren we van tegenslagen om vervolgens samen te groeien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hartverwarmende Bossche club, voor iedereen</a:t>
            </a:r>
          </a:p>
        </p:txBody>
      </p:sp>
      <p:pic>
        <p:nvPicPr>
          <p:cNvPr id="640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641" name="geplakte-afbeelding.pdf" descr="geplakte-afbeelding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642" name="Heart"/>
          <p:cNvSpPr/>
          <p:nvPr/>
        </p:nvSpPr>
        <p:spPr>
          <a:xfrm>
            <a:off x="12037284" y="9582878"/>
            <a:ext cx="1791039" cy="1582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6" h="21433" fill="norm" stroke="1" extrusionOk="0">
                <a:moveTo>
                  <a:pt x="5838" y="8"/>
                </a:moveTo>
                <a:cubicBezTo>
                  <a:pt x="3712" y="114"/>
                  <a:pt x="158" y="1891"/>
                  <a:pt x="2" y="7232"/>
                </a:cubicBezTo>
                <a:cubicBezTo>
                  <a:pt x="-54" y="9134"/>
                  <a:pt x="1253" y="14877"/>
                  <a:pt x="10702" y="21433"/>
                </a:cubicBezTo>
                <a:cubicBezTo>
                  <a:pt x="20130" y="14892"/>
                  <a:pt x="21546" y="9139"/>
                  <a:pt x="21505" y="7232"/>
                </a:cubicBezTo>
                <a:cubicBezTo>
                  <a:pt x="21391" y="1889"/>
                  <a:pt x="17806" y="115"/>
                  <a:pt x="15669" y="8"/>
                </a:cubicBezTo>
                <a:cubicBezTo>
                  <a:pt x="12170" y="-167"/>
                  <a:pt x="10753" y="2729"/>
                  <a:pt x="10753" y="2729"/>
                </a:cubicBezTo>
                <a:cubicBezTo>
                  <a:pt x="10753" y="2729"/>
                  <a:pt x="9337" y="-167"/>
                  <a:pt x="5838" y="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3" name="Hartstocht"/>
          <p:cNvSpPr txBox="1"/>
          <p:nvPr/>
        </p:nvSpPr>
        <p:spPr>
          <a:xfrm>
            <a:off x="11012435" y="8175049"/>
            <a:ext cx="3840739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Hartstocht</a:t>
            </a:r>
          </a:p>
        </p:txBody>
      </p:sp>
      <p:sp>
        <p:nvSpPr>
          <p:cNvPr id="644" name="Growth"/>
          <p:cNvSpPr/>
          <p:nvPr/>
        </p:nvSpPr>
        <p:spPr>
          <a:xfrm>
            <a:off x="16601766" y="9575118"/>
            <a:ext cx="1878982" cy="1453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6" h="21598" fill="norm" stroke="1" extrusionOk="0">
                <a:moveTo>
                  <a:pt x="21464" y="6"/>
                </a:moveTo>
                <a:cubicBezTo>
                  <a:pt x="21442" y="-2"/>
                  <a:pt x="21417" y="-2"/>
                  <a:pt x="21392" y="8"/>
                </a:cubicBezTo>
                <a:lnTo>
                  <a:pt x="18267" y="1242"/>
                </a:lnTo>
                <a:cubicBezTo>
                  <a:pt x="18161" y="1283"/>
                  <a:pt x="18132" y="1450"/>
                  <a:pt x="18212" y="1547"/>
                </a:cubicBezTo>
                <a:lnTo>
                  <a:pt x="18753" y="2202"/>
                </a:lnTo>
                <a:cubicBezTo>
                  <a:pt x="18809" y="2274"/>
                  <a:pt x="18815" y="2386"/>
                  <a:pt x="18759" y="2459"/>
                </a:cubicBezTo>
                <a:lnTo>
                  <a:pt x="13208" y="10155"/>
                </a:lnTo>
                <a:cubicBezTo>
                  <a:pt x="13152" y="10227"/>
                  <a:pt x="13058" y="10235"/>
                  <a:pt x="13002" y="10155"/>
                </a:cubicBezTo>
                <a:lnTo>
                  <a:pt x="9056" y="4932"/>
                </a:lnTo>
                <a:cubicBezTo>
                  <a:pt x="9000" y="4859"/>
                  <a:pt x="8907" y="4859"/>
                  <a:pt x="8851" y="4932"/>
                </a:cubicBezTo>
                <a:lnTo>
                  <a:pt x="39" y="17166"/>
                </a:lnTo>
                <a:cubicBezTo>
                  <a:pt x="-17" y="17238"/>
                  <a:pt x="-11" y="17350"/>
                  <a:pt x="45" y="17423"/>
                </a:cubicBezTo>
                <a:lnTo>
                  <a:pt x="941" y="18503"/>
                </a:lnTo>
                <a:cubicBezTo>
                  <a:pt x="997" y="18576"/>
                  <a:pt x="1084" y="18568"/>
                  <a:pt x="1140" y="18495"/>
                </a:cubicBezTo>
                <a:lnTo>
                  <a:pt x="8877" y="7770"/>
                </a:lnTo>
                <a:cubicBezTo>
                  <a:pt x="8933" y="7697"/>
                  <a:pt x="9025" y="7689"/>
                  <a:pt x="9081" y="7770"/>
                </a:cubicBezTo>
                <a:lnTo>
                  <a:pt x="13047" y="13016"/>
                </a:lnTo>
                <a:cubicBezTo>
                  <a:pt x="13103" y="13096"/>
                  <a:pt x="13201" y="13089"/>
                  <a:pt x="13251" y="13008"/>
                </a:cubicBezTo>
                <a:lnTo>
                  <a:pt x="13706" y="12315"/>
                </a:lnTo>
                <a:lnTo>
                  <a:pt x="19848" y="3796"/>
                </a:lnTo>
                <a:cubicBezTo>
                  <a:pt x="19904" y="3723"/>
                  <a:pt x="19992" y="3716"/>
                  <a:pt x="20048" y="3788"/>
                </a:cubicBezTo>
                <a:lnTo>
                  <a:pt x="20589" y="4441"/>
                </a:lnTo>
                <a:cubicBezTo>
                  <a:pt x="20670" y="4537"/>
                  <a:pt x="20802" y="4490"/>
                  <a:pt x="20826" y="4353"/>
                </a:cubicBezTo>
                <a:lnTo>
                  <a:pt x="21560" y="235"/>
                </a:lnTo>
                <a:cubicBezTo>
                  <a:pt x="21583" y="126"/>
                  <a:pt x="21533" y="30"/>
                  <a:pt x="21464" y="6"/>
                </a:cubicBezTo>
                <a:close/>
                <a:moveTo>
                  <a:pt x="20260" y="5385"/>
                </a:moveTo>
                <a:cubicBezTo>
                  <a:pt x="20232" y="5392"/>
                  <a:pt x="20204" y="5410"/>
                  <a:pt x="20179" y="5440"/>
                </a:cubicBezTo>
                <a:lnTo>
                  <a:pt x="17857" y="8656"/>
                </a:lnTo>
                <a:lnTo>
                  <a:pt x="17347" y="9429"/>
                </a:lnTo>
                <a:cubicBezTo>
                  <a:pt x="17328" y="9462"/>
                  <a:pt x="17316" y="9510"/>
                  <a:pt x="17316" y="9550"/>
                </a:cubicBezTo>
                <a:lnTo>
                  <a:pt x="17316" y="21412"/>
                </a:lnTo>
                <a:cubicBezTo>
                  <a:pt x="17316" y="21516"/>
                  <a:pt x="17377" y="21598"/>
                  <a:pt x="17458" y="21598"/>
                </a:cubicBezTo>
                <a:lnTo>
                  <a:pt x="20290" y="21598"/>
                </a:lnTo>
                <a:cubicBezTo>
                  <a:pt x="20371" y="21598"/>
                  <a:pt x="20434" y="21516"/>
                  <a:pt x="20434" y="21412"/>
                </a:cubicBezTo>
                <a:lnTo>
                  <a:pt x="20434" y="5561"/>
                </a:lnTo>
                <a:cubicBezTo>
                  <a:pt x="20434" y="5440"/>
                  <a:pt x="20346" y="5364"/>
                  <a:pt x="20260" y="5385"/>
                </a:cubicBezTo>
                <a:close/>
                <a:moveTo>
                  <a:pt x="9174" y="9548"/>
                </a:moveTo>
                <a:cubicBezTo>
                  <a:pt x="9094" y="9530"/>
                  <a:pt x="9007" y="9606"/>
                  <a:pt x="9007" y="9727"/>
                </a:cubicBezTo>
                <a:lnTo>
                  <a:pt x="9007" y="21412"/>
                </a:lnTo>
                <a:cubicBezTo>
                  <a:pt x="9007" y="21516"/>
                  <a:pt x="9068" y="21598"/>
                  <a:pt x="9149" y="21598"/>
                </a:cubicBezTo>
                <a:lnTo>
                  <a:pt x="11981" y="21598"/>
                </a:lnTo>
                <a:cubicBezTo>
                  <a:pt x="12062" y="21598"/>
                  <a:pt x="12125" y="21516"/>
                  <a:pt x="12125" y="21412"/>
                </a:cubicBezTo>
                <a:lnTo>
                  <a:pt x="12125" y="13474"/>
                </a:lnTo>
                <a:cubicBezTo>
                  <a:pt x="12125" y="13426"/>
                  <a:pt x="12113" y="13386"/>
                  <a:pt x="12082" y="13345"/>
                </a:cubicBezTo>
                <a:lnTo>
                  <a:pt x="9250" y="9598"/>
                </a:lnTo>
                <a:cubicBezTo>
                  <a:pt x="9228" y="9570"/>
                  <a:pt x="9201" y="9554"/>
                  <a:pt x="9174" y="9548"/>
                </a:cubicBezTo>
                <a:close/>
                <a:moveTo>
                  <a:pt x="16102" y="10653"/>
                </a:moveTo>
                <a:cubicBezTo>
                  <a:pt x="16074" y="10659"/>
                  <a:pt x="16045" y="10676"/>
                  <a:pt x="16021" y="10704"/>
                </a:cubicBezTo>
                <a:lnTo>
                  <a:pt x="13700" y="13917"/>
                </a:lnTo>
                <a:lnTo>
                  <a:pt x="13189" y="14693"/>
                </a:lnTo>
                <a:cubicBezTo>
                  <a:pt x="13170" y="14725"/>
                  <a:pt x="13158" y="14773"/>
                  <a:pt x="13158" y="14814"/>
                </a:cubicBezTo>
                <a:lnTo>
                  <a:pt x="13158" y="21412"/>
                </a:lnTo>
                <a:cubicBezTo>
                  <a:pt x="13158" y="21516"/>
                  <a:pt x="13221" y="21598"/>
                  <a:pt x="13301" y="21598"/>
                </a:cubicBezTo>
                <a:lnTo>
                  <a:pt x="16133" y="21598"/>
                </a:lnTo>
                <a:cubicBezTo>
                  <a:pt x="16214" y="21598"/>
                  <a:pt x="16275" y="21516"/>
                  <a:pt x="16275" y="21412"/>
                </a:cubicBezTo>
                <a:lnTo>
                  <a:pt x="16275" y="10832"/>
                </a:lnTo>
                <a:cubicBezTo>
                  <a:pt x="16275" y="10711"/>
                  <a:pt x="16188" y="10636"/>
                  <a:pt x="16102" y="10653"/>
                </a:cubicBezTo>
                <a:close/>
                <a:moveTo>
                  <a:pt x="7801" y="10923"/>
                </a:moveTo>
                <a:cubicBezTo>
                  <a:pt x="7774" y="10930"/>
                  <a:pt x="7747" y="10946"/>
                  <a:pt x="7725" y="10976"/>
                </a:cubicBezTo>
                <a:lnTo>
                  <a:pt x="4894" y="14902"/>
                </a:lnTo>
                <a:cubicBezTo>
                  <a:pt x="4869" y="14934"/>
                  <a:pt x="4855" y="14974"/>
                  <a:pt x="4855" y="15023"/>
                </a:cubicBezTo>
                <a:lnTo>
                  <a:pt x="4855" y="21412"/>
                </a:lnTo>
                <a:cubicBezTo>
                  <a:pt x="4855" y="21516"/>
                  <a:pt x="4918" y="21598"/>
                  <a:pt x="4999" y="21598"/>
                </a:cubicBezTo>
                <a:lnTo>
                  <a:pt x="7830" y="21598"/>
                </a:lnTo>
                <a:cubicBezTo>
                  <a:pt x="7911" y="21598"/>
                  <a:pt x="7974" y="21516"/>
                  <a:pt x="7974" y="21412"/>
                </a:cubicBezTo>
                <a:lnTo>
                  <a:pt x="7974" y="11097"/>
                </a:lnTo>
                <a:cubicBezTo>
                  <a:pt x="7974" y="10976"/>
                  <a:pt x="7884" y="10902"/>
                  <a:pt x="7801" y="10923"/>
                </a:cubicBezTo>
                <a:close/>
                <a:moveTo>
                  <a:pt x="3680" y="16498"/>
                </a:moveTo>
                <a:cubicBezTo>
                  <a:pt x="3652" y="16505"/>
                  <a:pt x="3626" y="16524"/>
                  <a:pt x="3604" y="16554"/>
                </a:cubicBezTo>
                <a:lnTo>
                  <a:pt x="772" y="20477"/>
                </a:lnTo>
                <a:cubicBezTo>
                  <a:pt x="747" y="20510"/>
                  <a:pt x="735" y="20550"/>
                  <a:pt x="735" y="20598"/>
                </a:cubicBezTo>
                <a:lnTo>
                  <a:pt x="735" y="21412"/>
                </a:lnTo>
                <a:cubicBezTo>
                  <a:pt x="735" y="21516"/>
                  <a:pt x="798" y="21598"/>
                  <a:pt x="879" y="21598"/>
                </a:cubicBezTo>
                <a:lnTo>
                  <a:pt x="3711" y="21598"/>
                </a:lnTo>
                <a:cubicBezTo>
                  <a:pt x="3792" y="21598"/>
                  <a:pt x="3853" y="21516"/>
                  <a:pt x="3853" y="21412"/>
                </a:cubicBezTo>
                <a:lnTo>
                  <a:pt x="3853" y="16682"/>
                </a:lnTo>
                <a:cubicBezTo>
                  <a:pt x="3853" y="16555"/>
                  <a:pt x="3762" y="16478"/>
                  <a:pt x="3680" y="1649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5" name="Groei"/>
          <p:cNvSpPr txBox="1"/>
          <p:nvPr/>
        </p:nvSpPr>
        <p:spPr>
          <a:xfrm>
            <a:off x="16444772" y="8175049"/>
            <a:ext cx="1999735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Groei</a:t>
            </a:r>
          </a:p>
        </p:txBody>
      </p:sp>
      <p:sp>
        <p:nvSpPr>
          <p:cNvPr id="646" name="Bosch"/>
          <p:cNvSpPr txBox="1"/>
          <p:nvPr/>
        </p:nvSpPr>
        <p:spPr>
          <a:xfrm>
            <a:off x="1511459" y="8175049"/>
            <a:ext cx="2207202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Bosch</a:t>
            </a:r>
          </a:p>
        </p:txBody>
      </p:sp>
      <p:sp>
        <p:nvSpPr>
          <p:cNvPr id="647" name="Strijdbaar"/>
          <p:cNvSpPr txBox="1"/>
          <p:nvPr/>
        </p:nvSpPr>
        <p:spPr>
          <a:xfrm>
            <a:off x="5860490" y="8175049"/>
            <a:ext cx="356034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Strijdbaar</a:t>
            </a:r>
          </a:p>
        </p:txBody>
      </p:sp>
      <p:sp>
        <p:nvSpPr>
          <p:cNvPr id="648" name="Gastvrij"/>
          <p:cNvSpPr txBox="1"/>
          <p:nvPr/>
        </p:nvSpPr>
        <p:spPr>
          <a:xfrm>
            <a:off x="20229340" y="8175049"/>
            <a:ext cx="291413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Gastvrij</a:t>
            </a:r>
          </a:p>
        </p:txBody>
      </p:sp>
      <p:pic>
        <p:nvPicPr>
          <p:cNvPr id="649" name="png-clipart-handshake-others-blue-hand.png" descr="png-clipart-handshake-others-blue-hand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427039" y="9537758"/>
            <a:ext cx="2518735" cy="1528033"/>
          </a:xfrm>
          <a:prstGeom prst="rect">
            <a:avLst/>
          </a:prstGeom>
          <a:ln w="12700">
            <a:miter lim="400000"/>
          </a:ln>
        </p:spPr>
      </p:pic>
      <p:sp>
        <p:nvSpPr>
          <p:cNvPr id="650" name="Rectangle"/>
          <p:cNvSpPr/>
          <p:nvPr/>
        </p:nvSpPr>
        <p:spPr>
          <a:xfrm>
            <a:off x="6192523" y="10189485"/>
            <a:ext cx="994252" cy="931864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1" name="Rectangle"/>
          <p:cNvSpPr/>
          <p:nvPr/>
        </p:nvSpPr>
        <p:spPr>
          <a:xfrm>
            <a:off x="8111162" y="10189484"/>
            <a:ext cx="994252" cy="931863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2" name="Rectangle"/>
          <p:cNvSpPr/>
          <p:nvPr/>
        </p:nvSpPr>
        <p:spPr>
          <a:xfrm>
            <a:off x="7177419" y="9627182"/>
            <a:ext cx="994252" cy="1494166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3" name="1"/>
          <p:cNvSpPr txBox="1"/>
          <p:nvPr/>
        </p:nvSpPr>
        <p:spPr>
          <a:xfrm>
            <a:off x="7412014" y="9859236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54" name="3"/>
          <p:cNvSpPr txBox="1"/>
          <p:nvPr/>
        </p:nvSpPr>
        <p:spPr>
          <a:xfrm>
            <a:off x="8455107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55" name="2"/>
          <p:cNvSpPr txBox="1"/>
          <p:nvPr/>
        </p:nvSpPr>
        <p:spPr>
          <a:xfrm>
            <a:off x="6427118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656" name="2b0643c0c0b5949fdfe730edb3ff8947.psd" descr="2b0643c0c0b5949fdfe730edb3ff8947.ps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16132" y="8946827"/>
            <a:ext cx="2854876" cy="2854876"/>
          </a:xfrm>
          <a:prstGeom prst="rect">
            <a:avLst/>
          </a:prstGeom>
          <a:ln w="12700">
            <a:miter lim="400000"/>
          </a:ln>
        </p:spPr>
      </p:pic>
      <p:sp>
        <p:nvSpPr>
          <p:cNvPr id="657" name="Line"/>
          <p:cNvSpPr/>
          <p:nvPr/>
        </p:nvSpPr>
        <p:spPr>
          <a:xfrm flipV="1">
            <a:off x="5064691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8" name="Line"/>
          <p:cNvSpPr/>
          <p:nvPr/>
        </p:nvSpPr>
        <p:spPr>
          <a:xfrm flipV="1">
            <a:off x="10216635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9" name="Line"/>
          <p:cNvSpPr/>
          <p:nvPr/>
        </p:nvSpPr>
        <p:spPr>
          <a:xfrm flipV="1">
            <a:off x="15426918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0" name="Line"/>
          <p:cNvSpPr/>
          <p:nvPr/>
        </p:nvSpPr>
        <p:spPr>
          <a:xfrm flipV="1">
            <a:off x="19462360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1" name="Kernwaarden"/>
          <p:cNvSpPr txBox="1"/>
          <p:nvPr/>
        </p:nvSpPr>
        <p:spPr>
          <a:xfrm>
            <a:off x="5735738" y="16606"/>
            <a:ext cx="14379804" cy="2484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15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Kernwaarden</a:t>
            </a:r>
          </a:p>
        </p:txBody>
      </p:sp>
      <p:sp>
        <p:nvSpPr>
          <p:cNvPr id="6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5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670" name="Playing style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Playing style</a:t>
            </a:r>
          </a:p>
        </p:txBody>
      </p:sp>
      <p:sp>
        <p:nvSpPr>
          <p:cNvPr id="671" name="Line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672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673" name="geplakte-afbeelding.pdf" descr="geplakte-afbeelding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6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82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683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4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685" name="Rectangle"/>
          <p:cNvSpPr/>
          <p:nvPr/>
        </p:nvSpPr>
        <p:spPr>
          <a:xfrm>
            <a:off x="6746544" y="8618893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ribbelen met bal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694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5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6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7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9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9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0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01" name="Dribbelen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Dribbelen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met bal</a:t>
            </a:r>
          </a:p>
        </p:txBody>
      </p:sp>
      <p:sp>
        <p:nvSpPr>
          <p:cNvPr id="702" name="TextBox 30"/>
          <p:cNvSpPr txBox="1"/>
          <p:nvPr/>
        </p:nvSpPr>
        <p:spPr>
          <a:xfrm>
            <a:off x="19855643" y="2338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"Voorwaarts dribbelen met bal richting de open ruimtes”</a:t>
            </a:r>
          </a:p>
        </p:txBody>
      </p:sp>
      <p:sp>
        <p:nvSpPr>
          <p:cNvPr id="703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 overbruggen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7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r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712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3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4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5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1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7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718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719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720" name="Carries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Carries</a:t>
            </a:r>
          </a:p>
        </p:txBody>
      </p:sp>
      <p:sp>
        <p:nvSpPr>
          <p:cNvPr id="721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'"Dribble with the ball resulting in &gt;5m forward displacement”</a:t>
            </a:r>
          </a:p>
        </p:txBody>
      </p:sp>
      <p:sp>
        <p:nvSpPr>
          <p:cNvPr id="722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Which leg(s)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Covering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7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1.tif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5.xml"/><Relationship Id="rId20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4.xml"/><Relationship Id="rId29" Type="http://schemas.openxmlformats.org/officeDocument/2006/relationships/slideLayout" Target="../slideLayouts/slideLayout25.xml"/><Relationship Id="rId30" Type="http://schemas.openxmlformats.org/officeDocument/2006/relationships/slideLayout" Target="../slideLayouts/slideLayout26.xml"/><Relationship Id="rId31" Type="http://schemas.openxmlformats.org/officeDocument/2006/relationships/slideLayout" Target="../slideLayouts/slideLayout27.xml"/><Relationship Id="rId32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29.xml"/><Relationship Id="rId34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1.xml"/><Relationship Id="rId36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" name="Line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" name="Line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6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7" name="Rectangle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FOOTBALL</a:t>
            </a:r>
          </a:p>
        </p:txBody>
      </p:sp>
      <p:sp>
        <p:nvSpPr>
          <p:cNvPr id="9" name="Rectangle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" name="Rectangle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13" name="Group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11" name="Rounded Rectangle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12" name="Image" descr="Image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4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" name="Line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NEEDS</a:t>
            </a:r>
          </a:p>
        </p:txBody>
      </p:sp>
      <p:sp>
        <p:nvSpPr>
          <p:cNvPr id="28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PREFENCES</a:t>
            </a:r>
          </a:p>
        </p:txBody>
      </p:sp>
      <p:sp>
        <p:nvSpPr>
          <p:cNvPr id="29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physical</a:t>
            </a:r>
          </a:p>
        </p:txBody>
      </p:sp>
      <p:sp>
        <p:nvSpPr>
          <p:cNvPr id="30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PERSONALITY</a:t>
            </a:r>
          </a:p>
        </p:txBody>
      </p:sp>
      <p:sp>
        <p:nvSpPr>
          <p:cNvPr id="31" name="Line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" name="Naam dia"/>
          <p:cNvSpPr txBox="1"/>
          <p:nvPr>
            <p:ph type="title" hasCustomPrompt="1"/>
          </p:nvPr>
        </p:nvSpPr>
        <p:spPr>
          <a:xfrm>
            <a:off x="1206500" y="1079500"/>
            <a:ext cx="104775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Naam dia</a:t>
            </a:r>
          </a:p>
        </p:txBody>
      </p:sp>
      <p:sp>
        <p:nvSpPr>
          <p:cNvPr id="3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104775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Dia-opsommingstekst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1" r:id="rId27"/>
    <p:sldLayoutId id="2147483672" r:id="rId28"/>
    <p:sldLayoutId id="2147483673" r:id="rId29"/>
    <p:sldLayoutId id="2147483674" r:id="rId30"/>
    <p:sldLayoutId id="2147483675" r:id="rId31"/>
    <p:sldLayoutId id="2147483676" r:id="rId32"/>
    <p:sldLayoutId id="2147483677" r:id="rId33"/>
    <p:sldLayoutId id="2147483678" r:id="rId34"/>
    <p:sldLayoutId id="2147483679" r:id="rId35"/>
    <p:sldLayoutId id="2147483680" r:id="rId36"/>
    <p:sldLayoutId id="2147483681" r:id="rId37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9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recruitment.scisports.app/" TargetMode="External"/><Relationship Id="rId3" Type="http://schemas.openxmlformats.org/officeDocument/2006/relationships/image" Target="../media/image10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" Target="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1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11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1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1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1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11"/>
          <p:cNvSpPr/>
          <p:nvPr/>
        </p:nvSpPr>
        <p:spPr>
          <a:xfrm>
            <a:off x="16537263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33" name="7"/>
          <p:cNvSpPr/>
          <p:nvPr/>
        </p:nvSpPr>
        <p:spPr>
          <a:xfrm>
            <a:off x="18835144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34" name="5"/>
          <p:cNvSpPr/>
          <p:nvPr/>
        </p:nvSpPr>
        <p:spPr>
          <a:xfrm>
            <a:off x="16461063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35" name="2"/>
          <p:cNvSpPr/>
          <p:nvPr/>
        </p:nvSpPr>
        <p:spPr>
          <a:xfrm>
            <a:off x="18936744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36" name="4"/>
          <p:cNvSpPr/>
          <p:nvPr/>
        </p:nvSpPr>
        <p:spPr>
          <a:xfrm>
            <a:off x="17127425" y="6943530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37" name="3"/>
          <p:cNvSpPr/>
          <p:nvPr/>
        </p:nvSpPr>
        <p:spPr>
          <a:xfrm>
            <a:off x="18248351" y="6943530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38" name="1"/>
          <p:cNvSpPr/>
          <p:nvPr/>
        </p:nvSpPr>
        <p:spPr>
          <a:xfrm>
            <a:off x="17686204" y="7634559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39" name="9"/>
          <p:cNvSpPr/>
          <p:nvPr/>
        </p:nvSpPr>
        <p:spPr>
          <a:xfrm>
            <a:off x="17686204" y="356506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40" name="10"/>
          <p:cNvSpPr/>
          <p:nvPr/>
        </p:nvSpPr>
        <p:spPr>
          <a:xfrm>
            <a:off x="18041804" y="4945217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41" name="8"/>
          <p:cNvSpPr/>
          <p:nvPr/>
        </p:nvSpPr>
        <p:spPr>
          <a:xfrm>
            <a:off x="17229025" y="53382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42" name="6"/>
          <p:cNvSpPr/>
          <p:nvPr/>
        </p:nvSpPr>
        <p:spPr>
          <a:xfrm>
            <a:off x="17867351" y="5899923"/>
            <a:ext cx="527646" cy="547639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43" name="TextBox 28"/>
          <p:cNvSpPr txBox="1"/>
          <p:nvPr/>
        </p:nvSpPr>
        <p:spPr>
          <a:xfrm>
            <a:off x="13106657" y="7643110"/>
            <a:ext cx="194797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rgbClr val="2769C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744" name="achterkant FC Den Bosch nummer 6.png" descr="achterkant FC Den Bosch nummer 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508126" y="7472384"/>
            <a:ext cx="2642322" cy="2642322"/>
          </a:xfrm>
          <a:prstGeom prst="rect">
            <a:avLst/>
          </a:prstGeom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TextBox 21"/>
          <p:cNvSpPr txBox="1"/>
          <p:nvPr/>
        </p:nvSpPr>
        <p:spPr>
          <a:xfrm>
            <a:off x="4333035" y="1013466"/>
            <a:ext cx="15717931" cy="12446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Kernwaarden —&gt; Voetbal: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b="1" cap="all" sz="3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</a:t>
            </a:r>
            <a:r>
              <a:rPr b="0"/>
              <a:t>Strijders Die spelen om te winnen en die elke dag beter willen worden”</a:t>
            </a:r>
          </a:p>
        </p:txBody>
      </p:sp>
      <p:sp>
        <p:nvSpPr>
          <p:cNvPr id="748" name="Line"/>
          <p:cNvSpPr/>
          <p:nvPr/>
        </p:nvSpPr>
        <p:spPr>
          <a:xfrm>
            <a:off x="12152585" y="4118138"/>
            <a:ext cx="1" cy="3383270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749" name="Freeform 7"/>
          <p:cNvSpPr/>
          <p:nvPr/>
        </p:nvSpPr>
        <p:spPr>
          <a:xfrm>
            <a:off x="4473952" y="4440175"/>
            <a:ext cx="6261666" cy="2946401"/>
          </a:xfrm>
          <a:prstGeom prst="rect">
            <a:avLst/>
          </a:prstGeom>
          <a:solidFill>
            <a:srgbClr val="173883"/>
          </a:solidFill>
          <a:ln w="127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76200" dir="3243361">
              <a:srgbClr val="000000">
                <a:alpha val="38000"/>
              </a:srgbClr>
            </a:outerShdw>
          </a:effectLst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0" name="Rectangle"/>
          <p:cNvSpPr/>
          <p:nvPr/>
        </p:nvSpPr>
        <p:spPr>
          <a:xfrm>
            <a:off x="4506295" y="5470044"/>
            <a:ext cx="6196980" cy="2879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51" name="TextBox 13"/>
          <p:cNvSpPr txBox="1"/>
          <p:nvPr/>
        </p:nvSpPr>
        <p:spPr>
          <a:xfrm>
            <a:off x="4646195" y="5976140"/>
            <a:ext cx="5917180" cy="1156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KPI 1: Top-3 goals </a:t>
            </a:r>
            <a:r>
              <a:rPr>
                <a:solidFill>
                  <a:schemeClr val="accent4">
                    <a:hueOff val="-858837"/>
                    <a:lumOff val="-9791"/>
                  </a:schemeClr>
                </a:solidFill>
              </a:rPr>
              <a:t>(6th)</a:t>
            </a:r>
          </a:p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KPI 2: Top-3 challenge intensity </a:t>
            </a:r>
            <a:r>
              <a:rPr>
                <a:solidFill>
                  <a:schemeClr val="accent4">
                    <a:hueOff val="-858837"/>
                    <a:lumOff val="-9791"/>
                  </a:schemeClr>
                </a:solidFill>
              </a:rPr>
              <a:t>(10th)</a:t>
            </a:r>
          </a:p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KPI 3: Top-3 doelpogingen</a:t>
            </a:r>
            <a:r>
              <a:rPr>
                <a:solidFill>
                  <a:srgbClr val="FF2600"/>
                </a:solidFill>
              </a:rPr>
              <a:t>(12th)</a:t>
            </a:r>
          </a:p>
        </p:txBody>
      </p:sp>
      <p:sp>
        <p:nvSpPr>
          <p:cNvPr id="752" name="TextBox 16"/>
          <p:cNvSpPr txBox="1"/>
          <p:nvPr/>
        </p:nvSpPr>
        <p:spPr>
          <a:xfrm>
            <a:off x="5285314" y="4420544"/>
            <a:ext cx="4638942" cy="107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Speelstijl</a:t>
            </a:r>
          </a:p>
        </p:txBody>
      </p:sp>
      <p:sp>
        <p:nvSpPr>
          <p:cNvPr id="753" name="Freeform 7"/>
          <p:cNvSpPr/>
          <p:nvPr/>
        </p:nvSpPr>
        <p:spPr>
          <a:xfrm>
            <a:off x="13682778" y="4440175"/>
            <a:ext cx="6261666" cy="2946401"/>
          </a:xfrm>
          <a:prstGeom prst="rect">
            <a:avLst/>
          </a:prstGeom>
          <a:solidFill>
            <a:srgbClr val="173883"/>
          </a:solidFill>
          <a:ln w="127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76200" dir="3243361">
              <a:srgbClr val="000000">
                <a:alpha val="38000"/>
              </a:srgbClr>
            </a:outerShdw>
          </a:effectLst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4" name="Rectangle"/>
          <p:cNvSpPr/>
          <p:nvPr/>
        </p:nvSpPr>
        <p:spPr>
          <a:xfrm>
            <a:off x="13680723" y="5470044"/>
            <a:ext cx="6265774" cy="2879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55" name="TextBox 13"/>
          <p:cNvSpPr txBox="1"/>
          <p:nvPr/>
        </p:nvSpPr>
        <p:spPr>
          <a:xfrm>
            <a:off x="14077925" y="5944025"/>
            <a:ext cx="5471371" cy="879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Scouting</a:t>
            </a:r>
          </a:p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IDP</a:t>
            </a:r>
          </a:p>
        </p:txBody>
      </p:sp>
      <p:sp>
        <p:nvSpPr>
          <p:cNvPr id="756" name="TextBox 16"/>
          <p:cNvSpPr txBox="1"/>
          <p:nvPr/>
        </p:nvSpPr>
        <p:spPr>
          <a:xfrm>
            <a:off x="14494140" y="4420544"/>
            <a:ext cx="4638941" cy="107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Profielen &amp; Begrippen</a:t>
            </a:r>
          </a:p>
        </p:txBody>
      </p:sp>
      <p:sp>
        <p:nvSpPr>
          <p:cNvPr id="757" name="Rounded Rectangle"/>
          <p:cNvSpPr/>
          <p:nvPr/>
        </p:nvSpPr>
        <p:spPr>
          <a:xfrm>
            <a:off x="5718043" y="9151601"/>
            <a:ext cx="440356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8" name="Rounded Rectangle"/>
          <p:cNvSpPr/>
          <p:nvPr/>
        </p:nvSpPr>
        <p:spPr>
          <a:xfrm>
            <a:off x="6440531" y="9151601"/>
            <a:ext cx="440356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9" name="Rounded Rectangle"/>
          <p:cNvSpPr/>
          <p:nvPr/>
        </p:nvSpPr>
        <p:spPr>
          <a:xfrm>
            <a:off x="7163020" y="9151601"/>
            <a:ext cx="440355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0" name="Rounded Rectangle"/>
          <p:cNvSpPr/>
          <p:nvPr/>
        </p:nvSpPr>
        <p:spPr>
          <a:xfrm>
            <a:off x="7885510" y="9151601"/>
            <a:ext cx="440355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1" name="Freeform 7"/>
          <p:cNvSpPr/>
          <p:nvPr/>
        </p:nvSpPr>
        <p:spPr>
          <a:xfrm>
            <a:off x="5155257" y="9569121"/>
            <a:ext cx="3558234" cy="1938277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2" name="Rectangle"/>
          <p:cNvSpPr/>
          <p:nvPr/>
        </p:nvSpPr>
        <p:spPr>
          <a:xfrm>
            <a:off x="5153202" y="10368234"/>
            <a:ext cx="3562343" cy="11560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63" name="TextBox 8"/>
          <p:cNvSpPr txBox="1"/>
          <p:nvPr/>
        </p:nvSpPr>
        <p:spPr>
          <a:xfrm>
            <a:off x="5253436" y="10506338"/>
            <a:ext cx="3361875" cy="879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293914" indent="-293914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Transfer target: +€750K</a:t>
            </a:r>
          </a:p>
          <a:p>
            <a:pPr marL="339131" indent="-339131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i="1" sz="1800">
                <a:solidFill>
                  <a:srgbClr val="9BBB59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transfers: &gt;1M</a:t>
            </a:r>
          </a:p>
        </p:txBody>
      </p:sp>
      <p:sp>
        <p:nvSpPr>
          <p:cNvPr id="764" name="TextBox 16"/>
          <p:cNvSpPr txBox="1"/>
          <p:nvPr/>
        </p:nvSpPr>
        <p:spPr>
          <a:xfrm>
            <a:off x="5259874" y="9561502"/>
            <a:ext cx="3348999" cy="707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Goal 1</a:t>
            </a:r>
          </a:p>
        </p:txBody>
      </p:sp>
      <p:sp>
        <p:nvSpPr>
          <p:cNvPr id="765" name="Rounded Rectangle"/>
          <p:cNvSpPr/>
          <p:nvPr/>
        </p:nvSpPr>
        <p:spPr>
          <a:xfrm>
            <a:off x="10975668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6" name="Rounded Rectangle"/>
          <p:cNvSpPr/>
          <p:nvPr/>
        </p:nvSpPr>
        <p:spPr>
          <a:xfrm>
            <a:off x="11698158" y="9158784"/>
            <a:ext cx="440355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7" name="Rounded Rectangle"/>
          <p:cNvSpPr/>
          <p:nvPr/>
        </p:nvSpPr>
        <p:spPr>
          <a:xfrm>
            <a:off x="12420646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8" name="Rounded Rectangle"/>
          <p:cNvSpPr/>
          <p:nvPr/>
        </p:nvSpPr>
        <p:spPr>
          <a:xfrm>
            <a:off x="13143137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9" name="Freeform 7"/>
          <p:cNvSpPr/>
          <p:nvPr/>
        </p:nvSpPr>
        <p:spPr>
          <a:xfrm>
            <a:off x="10412883" y="9576304"/>
            <a:ext cx="3558234" cy="1938278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0" name="Rectangle"/>
          <p:cNvSpPr/>
          <p:nvPr/>
        </p:nvSpPr>
        <p:spPr>
          <a:xfrm>
            <a:off x="10410828" y="10375417"/>
            <a:ext cx="3562343" cy="11560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1" name="TextBox 8"/>
          <p:cNvSpPr txBox="1"/>
          <p:nvPr/>
        </p:nvSpPr>
        <p:spPr>
          <a:xfrm>
            <a:off x="10517501" y="10530274"/>
            <a:ext cx="3361876" cy="84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293914" indent="-293914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KKD: Top 10</a:t>
            </a:r>
          </a:p>
          <a:p>
            <a:pPr marL="339131" indent="-339131" defTabSz="1285875">
              <a:lnSpc>
                <a:spcPct val="130000"/>
              </a:lnSpc>
              <a:spcBef>
                <a:spcPts val="0"/>
              </a:spcBef>
              <a:buSzPct val="100000"/>
              <a:buChar char="•"/>
              <a:defRPr b="1" cap="all" i="1" sz="1800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10e positie in de KKD</a:t>
            </a:r>
          </a:p>
        </p:txBody>
      </p:sp>
      <p:sp>
        <p:nvSpPr>
          <p:cNvPr id="772" name="TextBox 16"/>
          <p:cNvSpPr txBox="1"/>
          <p:nvPr/>
        </p:nvSpPr>
        <p:spPr>
          <a:xfrm>
            <a:off x="10517501" y="9568684"/>
            <a:ext cx="3348998" cy="707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Goal 2</a:t>
            </a:r>
          </a:p>
        </p:txBody>
      </p:sp>
      <p:sp>
        <p:nvSpPr>
          <p:cNvPr id="773" name="Rounded Rectangle"/>
          <p:cNvSpPr/>
          <p:nvPr/>
        </p:nvSpPr>
        <p:spPr>
          <a:xfrm>
            <a:off x="16233295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4" name="Rounded Rectangle"/>
          <p:cNvSpPr/>
          <p:nvPr/>
        </p:nvSpPr>
        <p:spPr>
          <a:xfrm>
            <a:off x="16955785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5" name="Rounded Rectangle"/>
          <p:cNvSpPr/>
          <p:nvPr/>
        </p:nvSpPr>
        <p:spPr>
          <a:xfrm>
            <a:off x="17678271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6" name="Rounded Rectangle"/>
          <p:cNvSpPr/>
          <p:nvPr/>
        </p:nvSpPr>
        <p:spPr>
          <a:xfrm>
            <a:off x="18400762" y="9158784"/>
            <a:ext cx="440355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7" name="Freeform 7"/>
          <p:cNvSpPr/>
          <p:nvPr/>
        </p:nvSpPr>
        <p:spPr>
          <a:xfrm>
            <a:off x="15670510" y="9576304"/>
            <a:ext cx="3558234" cy="1938278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8" name="Rectangle"/>
          <p:cNvSpPr/>
          <p:nvPr/>
        </p:nvSpPr>
        <p:spPr>
          <a:xfrm>
            <a:off x="15668456" y="10375417"/>
            <a:ext cx="3562342" cy="11560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9" name="TextBox 8"/>
          <p:cNvSpPr txBox="1"/>
          <p:nvPr/>
        </p:nvSpPr>
        <p:spPr>
          <a:xfrm>
            <a:off x="15775128" y="10530274"/>
            <a:ext cx="3361876" cy="84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293914" indent="-293914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Academy players: 50%*</a:t>
            </a:r>
          </a:p>
          <a:p>
            <a:pPr marL="339131" indent="-339131" defTabSz="1285875">
              <a:lnSpc>
                <a:spcPct val="130000"/>
              </a:lnSpc>
              <a:spcBef>
                <a:spcPts val="0"/>
              </a:spcBef>
              <a:buSzPct val="100000"/>
              <a:buChar char="•"/>
              <a:defRPr b="1" cap="all" i="1" sz="1800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Competitieminuten: 38%</a:t>
            </a:r>
          </a:p>
        </p:txBody>
      </p:sp>
      <p:sp>
        <p:nvSpPr>
          <p:cNvPr id="780" name="TextBox 16"/>
          <p:cNvSpPr txBox="1"/>
          <p:nvPr/>
        </p:nvSpPr>
        <p:spPr>
          <a:xfrm>
            <a:off x="15775128" y="9568684"/>
            <a:ext cx="3348999" cy="707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Goal 3</a:t>
            </a:r>
          </a:p>
        </p:txBody>
      </p:sp>
      <p:sp>
        <p:nvSpPr>
          <p:cNvPr id="781" name="**Minimaal 3 jaar in de academy…"/>
          <p:cNvSpPr txBox="1"/>
          <p:nvPr/>
        </p:nvSpPr>
        <p:spPr>
          <a:xfrm>
            <a:off x="458653" y="12996598"/>
            <a:ext cx="484336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1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**Minimaal 3 jaar in de academy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1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(Stan, Mees, Kevin, Danny, Nick, Sheddy, TJemme, Ilias)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3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TextBox 11"/>
          <p:cNvSpPr txBox="1"/>
          <p:nvPr/>
        </p:nvSpPr>
        <p:spPr>
          <a:xfrm>
            <a:off x="3436486" y="2190748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784" name="TextBox 37"/>
          <p:cNvSpPr txBox="1"/>
          <p:nvPr/>
        </p:nvSpPr>
        <p:spPr>
          <a:xfrm>
            <a:off x="2262943" y="839474"/>
            <a:ext cx="4440638" cy="65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5200"/>
              </a:lnSpc>
              <a:spcBef>
                <a:spcPts val="0"/>
              </a:spcBef>
              <a:defRPr b="1" sz="450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defRPr>
            </a:lvl1pPr>
          </a:lstStyle>
          <a:p>
            <a:pPr/>
            <a:r>
              <a:t>Player name</a:t>
            </a:r>
          </a:p>
        </p:txBody>
      </p:sp>
      <p:sp>
        <p:nvSpPr>
          <p:cNvPr id="785" name="TextBox 23"/>
          <p:cNvSpPr txBox="1"/>
          <p:nvPr/>
        </p:nvSpPr>
        <p:spPr>
          <a:xfrm>
            <a:off x="18363004" y="584214"/>
            <a:ext cx="5467955" cy="3223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</p:txBody>
      </p:sp>
      <p:sp>
        <p:nvSpPr>
          <p:cNvPr id="786" name="TextBox 11"/>
          <p:cNvSpPr txBox="1"/>
          <p:nvPr/>
        </p:nvSpPr>
        <p:spPr>
          <a:xfrm>
            <a:off x="3445861" y="294447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787" name="TextBox 11"/>
          <p:cNvSpPr txBox="1"/>
          <p:nvPr/>
        </p:nvSpPr>
        <p:spPr>
          <a:xfrm>
            <a:off x="3443265" y="3701887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788" name="TextBox 11"/>
          <p:cNvSpPr txBox="1"/>
          <p:nvPr/>
        </p:nvSpPr>
        <p:spPr>
          <a:xfrm>
            <a:off x="3468167" y="445930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789" name="TextBox 11"/>
          <p:cNvSpPr txBox="1"/>
          <p:nvPr/>
        </p:nvSpPr>
        <p:spPr>
          <a:xfrm>
            <a:off x="3468167" y="5211678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790" name="TextBox 11"/>
          <p:cNvSpPr txBox="1"/>
          <p:nvPr/>
        </p:nvSpPr>
        <p:spPr>
          <a:xfrm>
            <a:off x="3468167" y="5945826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791" name="TextBox 11"/>
          <p:cNvSpPr txBox="1"/>
          <p:nvPr/>
        </p:nvSpPr>
        <p:spPr>
          <a:xfrm>
            <a:off x="3468167" y="6678032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792" name="TextBox 11"/>
          <p:cNvSpPr txBox="1"/>
          <p:nvPr/>
        </p:nvSpPr>
        <p:spPr>
          <a:xfrm>
            <a:off x="11203802" y="1088478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793" name="TextBox 11"/>
          <p:cNvSpPr txBox="1"/>
          <p:nvPr/>
        </p:nvSpPr>
        <p:spPr>
          <a:xfrm>
            <a:off x="11203802" y="1806760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794" name="TextBox 11"/>
          <p:cNvSpPr txBox="1"/>
          <p:nvPr/>
        </p:nvSpPr>
        <p:spPr>
          <a:xfrm>
            <a:off x="11203802" y="2611665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795" name="TextBox 11"/>
          <p:cNvSpPr txBox="1"/>
          <p:nvPr/>
        </p:nvSpPr>
        <p:spPr>
          <a:xfrm>
            <a:off x="11203802" y="3370677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796" name="TextBox 11"/>
          <p:cNvSpPr txBox="1"/>
          <p:nvPr/>
        </p:nvSpPr>
        <p:spPr>
          <a:xfrm>
            <a:off x="13587460" y="1088478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797" name="TextBox 11"/>
          <p:cNvSpPr txBox="1"/>
          <p:nvPr/>
        </p:nvSpPr>
        <p:spPr>
          <a:xfrm>
            <a:off x="13587460" y="1806760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798" name="TextBox 11"/>
          <p:cNvSpPr txBox="1"/>
          <p:nvPr/>
        </p:nvSpPr>
        <p:spPr>
          <a:xfrm>
            <a:off x="13587460" y="2611665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799" name="TextBox 11"/>
          <p:cNvSpPr txBox="1"/>
          <p:nvPr/>
        </p:nvSpPr>
        <p:spPr>
          <a:xfrm>
            <a:off x="13587460" y="3370677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00" name="xxxx"/>
          <p:cNvSpPr txBox="1"/>
          <p:nvPr/>
        </p:nvSpPr>
        <p:spPr>
          <a:xfrm>
            <a:off x="19741483" y="9664487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801" name="xxxx"/>
          <p:cNvSpPr txBox="1"/>
          <p:nvPr/>
        </p:nvSpPr>
        <p:spPr>
          <a:xfrm>
            <a:off x="19741483" y="10420204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802" name="xxxx"/>
          <p:cNvSpPr txBox="1"/>
          <p:nvPr/>
        </p:nvSpPr>
        <p:spPr>
          <a:xfrm>
            <a:off x="19741483" y="11197829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803" name="xxxx"/>
          <p:cNvSpPr txBox="1"/>
          <p:nvPr/>
        </p:nvSpPr>
        <p:spPr>
          <a:xfrm>
            <a:off x="19753848" y="11925556"/>
            <a:ext cx="3576987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804" name="xxxx"/>
          <p:cNvSpPr txBox="1"/>
          <p:nvPr/>
        </p:nvSpPr>
        <p:spPr>
          <a:xfrm>
            <a:off x="19753848" y="12652539"/>
            <a:ext cx="3576987" cy="39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805" name="TextBox 31"/>
          <p:cNvSpPr txBox="1"/>
          <p:nvPr/>
        </p:nvSpPr>
        <p:spPr>
          <a:xfrm>
            <a:off x="8032505" y="9220708"/>
            <a:ext cx="7940022" cy="342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06" name="TextBox 11"/>
          <p:cNvSpPr txBox="1"/>
          <p:nvPr/>
        </p:nvSpPr>
        <p:spPr>
          <a:xfrm>
            <a:off x="3468167" y="7435014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07" name="TextBox 11"/>
          <p:cNvSpPr txBox="1"/>
          <p:nvPr/>
        </p:nvSpPr>
        <p:spPr>
          <a:xfrm>
            <a:off x="3468015" y="8147343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808" name="xx"/>
          <p:cNvSpPr/>
          <p:nvPr/>
        </p:nvSpPr>
        <p:spPr>
          <a:xfrm>
            <a:off x="8372141" y="5119587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</a:t>
            </a:r>
          </a:p>
        </p:txBody>
      </p:sp>
      <p:sp>
        <p:nvSpPr>
          <p:cNvPr id="809" name="xx%"/>
          <p:cNvSpPr/>
          <p:nvPr/>
        </p:nvSpPr>
        <p:spPr>
          <a:xfrm>
            <a:off x="12695199" y="5123876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xx%</a:t>
            </a:r>
          </a:p>
        </p:txBody>
      </p:sp>
      <p:sp>
        <p:nvSpPr>
          <p:cNvPr id="810" name="DATE: DD-MM-JJJJ"/>
          <p:cNvSpPr txBox="1"/>
          <p:nvPr/>
        </p:nvSpPr>
        <p:spPr>
          <a:xfrm>
            <a:off x="4875976" y="268498"/>
            <a:ext cx="26770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DATE: DD-MM-JJJJ</a:t>
            </a:r>
          </a:p>
        </p:txBody>
      </p:sp>
      <p:sp>
        <p:nvSpPr>
          <p:cNvPr id="811" name="Snelheid"/>
          <p:cNvSpPr txBox="1"/>
          <p:nvPr/>
        </p:nvSpPr>
        <p:spPr>
          <a:xfrm>
            <a:off x="16862722" y="7056552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812" name="Uithoudingsvermogen"/>
          <p:cNvSpPr txBox="1"/>
          <p:nvPr/>
        </p:nvSpPr>
        <p:spPr>
          <a:xfrm>
            <a:off x="16862722" y="6647764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Uithoudingsvermogen</a:t>
            </a:r>
          </a:p>
        </p:txBody>
      </p:sp>
      <p:sp>
        <p:nvSpPr>
          <p:cNvPr id="813" name="Duelkracht"/>
          <p:cNvSpPr txBox="1"/>
          <p:nvPr/>
        </p:nvSpPr>
        <p:spPr>
          <a:xfrm>
            <a:off x="16862722" y="6248611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814" name="Positie kiezen (A)"/>
          <p:cNvSpPr txBox="1"/>
          <p:nvPr/>
        </p:nvSpPr>
        <p:spPr>
          <a:xfrm>
            <a:off x="16849427" y="5837314"/>
            <a:ext cx="2138964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Positie kiezen (A)</a:t>
            </a:r>
          </a:p>
        </p:txBody>
      </p:sp>
      <p:sp>
        <p:nvSpPr>
          <p:cNvPr id="815" name="Positie kiezen (v)"/>
          <p:cNvSpPr txBox="1"/>
          <p:nvPr/>
        </p:nvSpPr>
        <p:spPr>
          <a:xfrm>
            <a:off x="16862722" y="5013607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Positie kiezen (v)</a:t>
            </a:r>
          </a:p>
        </p:txBody>
      </p:sp>
      <p:sp>
        <p:nvSpPr>
          <p:cNvPr id="816" name="Passing"/>
          <p:cNvSpPr txBox="1"/>
          <p:nvPr/>
        </p:nvSpPr>
        <p:spPr>
          <a:xfrm>
            <a:off x="16862722" y="4596144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Passing</a:t>
            </a:r>
          </a:p>
        </p:txBody>
      </p:sp>
      <p:sp>
        <p:nvSpPr>
          <p:cNvPr id="817" name="Star"/>
          <p:cNvSpPr/>
          <p:nvPr/>
        </p:nvSpPr>
        <p:spPr>
          <a:xfrm>
            <a:off x="20494891" y="702390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18" name="Star"/>
          <p:cNvSpPr/>
          <p:nvPr/>
        </p:nvSpPr>
        <p:spPr>
          <a:xfrm>
            <a:off x="20833480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19" name="Star"/>
          <p:cNvSpPr/>
          <p:nvPr/>
        </p:nvSpPr>
        <p:spPr>
          <a:xfrm>
            <a:off x="21172070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0" name="Star"/>
          <p:cNvSpPr/>
          <p:nvPr/>
        </p:nvSpPr>
        <p:spPr>
          <a:xfrm>
            <a:off x="21510659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1" name="Star"/>
          <p:cNvSpPr/>
          <p:nvPr/>
        </p:nvSpPr>
        <p:spPr>
          <a:xfrm>
            <a:off x="21844508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2" name="Star"/>
          <p:cNvSpPr/>
          <p:nvPr/>
        </p:nvSpPr>
        <p:spPr>
          <a:xfrm>
            <a:off x="22183097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3" name="Star"/>
          <p:cNvSpPr/>
          <p:nvPr/>
        </p:nvSpPr>
        <p:spPr>
          <a:xfrm>
            <a:off x="22521687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4" name="Star"/>
          <p:cNvSpPr/>
          <p:nvPr/>
        </p:nvSpPr>
        <p:spPr>
          <a:xfrm>
            <a:off x="22860275" y="702390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5" name="Star"/>
          <p:cNvSpPr/>
          <p:nvPr/>
        </p:nvSpPr>
        <p:spPr>
          <a:xfrm>
            <a:off x="23194864" y="702390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6" name="Star"/>
          <p:cNvSpPr/>
          <p:nvPr/>
        </p:nvSpPr>
        <p:spPr>
          <a:xfrm>
            <a:off x="23533453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7" name="Star"/>
          <p:cNvSpPr/>
          <p:nvPr/>
        </p:nvSpPr>
        <p:spPr>
          <a:xfrm>
            <a:off x="20494891" y="661287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8" name="Star"/>
          <p:cNvSpPr/>
          <p:nvPr/>
        </p:nvSpPr>
        <p:spPr>
          <a:xfrm>
            <a:off x="20833480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9" name="Star"/>
          <p:cNvSpPr/>
          <p:nvPr/>
        </p:nvSpPr>
        <p:spPr>
          <a:xfrm>
            <a:off x="21172070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0" name="Star"/>
          <p:cNvSpPr/>
          <p:nvPr/>
        </p:nvSpPr>
        <p:spPr>
          <a:xfrm>
            <a:off x="21510659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1" name="Star"/>
          <p:cNvSpPr/>
          <p:nvPr/>
        </p:nvSpPr>
        <p:spPr>
          <a:xfrm>
            <a:off x="21844508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2" name="Star"/>
          <p:cNvSpPr/>
          <p:nvPr/>
        </p:nvSpPr>
        <p:spPr>
          <a:xfrm>
            <a:off x="22183097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3" name="Star"/>
          <p:cNvSpPr/>
          <p:nvPr/>
        </p:nvSpPr>
        <p:spPr>
          <a:xfrm>
            <a:off x="22521687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4" name="Star"/>
          <p:cNvSpPr/>
          <p:nvPr/>
        </p:nvSpPr>
        <p:spPr>
          <a:xfrm>
            <a:off x="22860275" y="661287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5" name="Star"/>
          <p:cNvSpPr/>
          <p:nvPr/>
        </p:nvSpPr>
        <p:spPr>
          <a:xfrm>
            <a:off x="23194864" y="661287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6" name="Star"/>
          <p:cNvSpPr/>
          <p:nvPr/>
        </p:nvSpPr>
        <p:spPr>
          <a:xfrm>
            <a:off x="23533453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7" name="Star"/>
          <p:cNvSpPr/>
          <p:nvPr/>
        </p:nvSpPr>
        <p:spPr>
          <a:xfrm>
            <a:off x="20494891" y="5828342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8" name="Star"/>
          <p:cNvSpPr/>
          <p:nvPr/>
        </p:nvSpPr>
        <p:spPr>
          <a:xfrm>
            <a:off x="20833480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9" name="Star"/>
          <p:cNvSpPr/>
          <p:nvPr/>
        </p:nvSpPr>
        <p:spPr>
          <a:xfrm>
            <a:off x="21172068" y="5828342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0" name="Star"/>
          <p:cNvSpPr/>
          <p:nvPr/>
        </p:nvSpPr>
        <p:spPr>
          <a:xfrm>
            <a:off x="21510657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1" name="Star"/>
          <p:cNvSpPr/>
          <p:nvPr/>
        </p:nvSpPr>
        <p:spPr>
          <a:xfrm>
            <a:off x="21844508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2" name="Star"/>
          <p:cNvSpPr/>
          <p:nvPr/>
        </p:nvSpPr>
        <p:spPr>
          <a:xfrm>
            <a:off x="22183097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3" name="Star"/>
          <p:cNvSpPr/>
          <p:nvPr/>
        </p:nvSpPr>
        <p:spPr>
          <a:xfrm>
            <a:off x="22521685" y="5828342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4" name="Star"/>
          <p:cNvSpPr/>
          <p:nvPr/>
        </p:nvSpPr>
        <p:spPr>
          <a:xfrm>
            <a:off x="22860274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5" name="Star"/>
          <p:cNvSpPr/>
          <p:nvPr/>
        </p:nvSpPr>
        <p:spPr>
          <a:xfrm>
            <a:off x="23194864" y="5828342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6" name="Star"/>
          <p:cNvSpPr/>
          <p:nvPr/>
        </p:nvSpPr>
        <p:spPr>
          <a:xfrm>
            <a:off x="23533453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7" name="Star"/>
          <p:cNvSpPr/>
          <p:nvPr/>
        </p:nvSpPr>
        <p:spPr>
          <a:xfrm>
            <a:off x="20494891" y="621746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8" name="Star"/>
          <p:cNvSpPr/>
          <p:nvPr/>
        </p:nvSpPr>
        <p:spPr>
          <a:xfrm>
            <a:off x="20833480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9" name="Star"/>
          <p:cNvSpPr/>
          <p:nvPr/>
        </p:nvSpPr>
        <p:spPr>
          <a:xfrm>
            <a:off x="21172068" y="621746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0" name="Star"/>
          <p:cNvSpPr/>
          <p:nvPr/>
        </p:nvSpPr>
        <p:spPr>
          <a:xfrm>
            <a:off x="21510657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1" name="Star"/>
          <p:cNvSpPr/>
          <p:nvPr/>
        </p:nvSpPr>
        <p:spPr>
          <a:xfrm>
            <a:off x="21844508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2" name="Star"/>
          <p:cNvSpPr/>
          <p:nvPr/>
        </p:nvSpPr>
        <p:spPr>
          <a:xfrm>
            <a:off x="22183097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3" name="Star"/>
          <p:cNvSpPr/>
          <p:nvPr/>
        </p:nvSpPr>
        <p:spPr>
          <a:xfrm>
            <a:off x="22521685" y="621746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4" name="Star"/>
          <p:cNvSpPr/>
          <p:nvPr/>
        </p:nvSpPr>
        <p:spPr>
          <a:xfrm>
            <a:off x="22860274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5" name="Star"/>
          <p:cNvSpPr/>
          <p:nvPr/>
        </p:nvSpPr>
        <p:spPr>
          <a:xfrm>
            <a:off x="23194864" y="621746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6" name="Star"/>
          <p:cNvSpPr/>
          <p:nvPr/>
        </p:nvSpPr>
        <p:spPr>
          <a:xfrm>
            <a:off x="23533453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7" name="Star"/>
          <p:cNvSpPr/>
          <p:nvPr/>
        </p:nvSpPr>
        <p:spPr>
          <a:xfrm>
            <a:off x="20490918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8" name="Star"/>
          <p:cNvSpPr/>
          <p:nvPr/>
        </p:nvSpPr>
        <p:spPr>
          <a:xfrm>
            <a:off x="20829506" y="4981350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9" name="Star"/>
          <p:cNvSpPr/>
          <p:nvPr/>
        </p:nvSpPr>
        <p:spPr>
          <a:xfrm>
            <a:off x="21168095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0" name="Star"/>
          <p:cNvSpPr/>
          <p:nvPr/>
        </p:nvSpPr>
        <p:spPr>
          <a:xfrm>
            <a:off x="21506684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1" name="Star"/>
          <p:cNvSpPr/>
          <p:nvPr/>
        </p:nvSpPr>
        <p:spPr>
          <a:xfrm>
            <a:off x="21840535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2" name="Star"/>
          <p:cNvSpPr/>
          <p:nvPr/>
        </p:nvSpPr>
        <p:spPr>
          <a:xfrm>
            <a:off x="22179123" y="4981350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3" name="Star"/>
          <p:cNvSpPr/>
          <p:nvPr/>
        </p:nvSpPr>
        <p:spPr>
          <a:xfrm>
            <a:off x="22517712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4" name="Star"/>
          <p:cNvSpPr/>
          <p:nvPr/>
        </p:nvSpPr>
        <p:spPr>
          <a:xfrm>
            <a:off x="22856301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5" name="Star"/>
          <p:cNvSpPr/>
          <p:nvPr/>
        </p:nvSpPr>
        <p:spPr>
          <a:xfrm>
            <a:off x="23190891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6" name="Star"/>
          <p:cNvSpPr/>
          <p:nvPr/>
        </p:nvSpPr>
        <p:spPr>
          <a:xfrm>
            <a:off x="23529480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7" name="Star"/>
          <p:cNvSpPr/>
          <p:nvPr/>
        </p:nvSpPr>
        <p:spPr>
          <a:xfrm>
            <a:off x="20494891" y="4577666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8" name="Star"/>
          <p:cNvSpPr/>
          <p:nvPr/>
        </p:nvSpPr>
        <p:spPr>
          <a:xfrm>
            <a:off x="20833480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9" name="Star"/>
          <p:cNvSpPr/>
          <p:nvPr/>
        </p:nvSpPr>
        <p:spPr>
          <a:xfrm>
            <a:off x="21172068" y="4577666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0" name="Star"/>
          <p:cNvSpPr/>
          <p:nvPr/>
        </p:nvSpPr>
        <p:spPr>
          <a:xfrm>
            <a:off x="21510657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1" name="Star"/>
          <p:cNvSpPr/>
          <p:nvPr/>
        </p:nvSpPr>
        <p:spPr>
          <a:xfrm>
            <a:off x="21844508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2" name="Star"/>
          <p:cNvSpPr/>
          <p:nvPr/>
        </p:nvSpPr>
        <p:spPr>
          <a:xfrm>
            <a:off x="22183097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3" name="Star"/>
          <p:cNvSpPr/>
          <p:nvPr/>
        </p:nvSpPr>
        <p:spPr>
          <a:xfrm>
            <a:off x="22521685" y="4577666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4" name="Star"/>
          <p:cNvSpPr/>
          <p:nvPr/>
        </p:nvSpPr>
        <p:spPr>
          <a:xfrm>
            <a:off x="22860274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5" name="Star"/>
          <p:cNvSpPr/>
          <p:nvPr/>
        </p:nvSpPr>
        <p:spPr>
          <a:xfrm>
            <a:off x="23194864" y="4577666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6" name="Star"/>
          <p:cNvSpPr/>
          <p:nvPr/>
        </p:nvSpPr>
        <p:spPr>
          <a:xfrm>
            <a:off x="23533453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879" name="9"/>
          <p:cNvGrpSpPr/>
          <p:nvPr/>
        </p:nvGrpSpPr>
        <p:grpSpPr>
          <a:xfrm>
            <a:off x="5636046" y="9988295"/>
            <a:ext cx="369517" cy="383519"/>
            <a:chOff x="0" y="0"/>
            <a:chExt cx="369516" cy="383518"/>
          </a:xfrm>
        </p:grpSpPr>
        <p:sp>
          <p:nvSpPr>
            <p:cNvPr id="877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878" name="9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882" name="11"/>
          <p:cNvGrpSpPr/>
          <p:nvPr/>
        </p:nvGrpSpPr>
        <p:grpSpPr>
          <a:xfrm>
            <a:off x="4831430" y="10316581"/>
            <a:ext cx="369517" cy="383519"/>
            <a:chOff x="0" y="0"/>
            <a:chExt cx="369516" cy="383518"/>
          </a:xfrm>
        </p:grpSpPr>
        <p:sp>
          <p:nvSpPr>
            <p:cNvPr id="880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881" name="1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11</a:t>
              </a:r>
            </a:p>
          </p:txBody>
        </p:sp>
      </p:grpSp>
      <p:grpSp>
        <p:nvGrpSpPr>
          <p:cNvPr id="885" name="7"/>
          <p:cNvGrpSpPr/>
          <p:nvPr/>
        </p:nvGrpSpPr>
        <p:grpSpPr>
          <a:xfrm>
            <a:off x="6440658" y="10316581"/>
            <a:ext cx="369517" cy="383519"/>
            <a:chOff x="0" y="0"/>
            <a:chExt cx="369516" cy="383518"/>
          </a:xfrm>
        </p:grpSpPr>
        <p:sp>
          <p:nvSpPr>
            <p:cNvPr id="883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884" name="7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888" name="8"/>
          <p:cNvGrpSpPr/>
          <p:nvPr/>
        </p:nvGrpSpPr>
        <p:grpSpPr>
          <a:xfrm>
            <a:off x="5244725" y="10893821"/>
            <a:ext cx="369517" cy="383519"/>
            <a:chOff x="0" y="0"/>
            <a:chExt cx="369516" cy="383518"/>
          </a:xfrm>
        </p:grpSpPr>
        <p:sp>
          <p:nvSpPr>
            <p:cNvPr id="886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887" name="8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891" name="6"/>
          <p:cNvGrpSpPr/>
          <p:nvPr/>
        </p:nvGrpSpPr>
        <p:grpSpPr>
          <a:xfrm>
            <a:off x="5636046" y="11377755"/>
            <a:ext cx="369517" cy="383519"/>
            <a:chOff x="0" y="0"/>
            <a:chExt cx="369516" cy="383518"/>
          </a:xfrm>
        </p:grpSpPr>
        <p:sp>
          <p:nvSpPr>
            <p:cNvPr id="889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chemeClr val="accent3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890" name="6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894" name="5"/>
          <p:cNvGrpSpPr/>
          <p:nvPr/>
        </p:nvGrpSpPr>
        <p:grpSpPr>
          <a:xfrm>
            <a:off x="4778064" y="11609513"/>
            <a:ext cx="369517" cy="383519"/>
            <a:chOff x="0" y="0"/>
            <a:chExt cx="369516" cy="383518"/>
          </a:xfrm>
        </p:grpSpPr>
        <p:sp>
          <p:nvSpPr>
            <p:cNvPr id="892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893" name="5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897" name="2"/>
          <p:cNvGrpSpPr/>
          <p:nvPr/>
        </p:nvGrpSpPr>
        <p:grpSpPr>
          <a:xfrm>
            <a:off x="6511809" y="11609513"/>
            <a:ext cx="369517" cy="383519"/>
            <a:chOff x="0" y="0"/>
            <a:chExt cx="369516" cy="383518"/>
          </a:xfrm>
        </p:grpSpPr>
        <p:sp>
          <p:nvSpPr>
            <p:cNvPr id="895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896" name="2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900" name="4"/>
          <p:cNvGrpSpPr/>
          <p:nvPr/>
        </p:nvGrpSpPr>
        <p:grpSpPr>
          <a:xfrm>
            <a:off x="5244725" y="11923923"/>
            <a:ext cx="369517" cy="383519"/>
            <a:chOff x="0" y="0"/>
            <a:chExt cx="369516" cy="383518"/>
          </a:xfrm>
        </p:grpSpPr>
        <p:sp>
          <p:nvSpPr>
            <p:cNvPr id="898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899" name="4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903" name="3"/>
          <p:cNvGrpSpPr/>
          <p:nvPr/>
        </p:nvGrpSpPr>
        <p:grpSpPr>
          <a:xfrm>
            <a:off x="6029723" y="11923923"/>
            <a:ext cx="369517" cy="383519"/>
            <a:chOff x="0" y="0"/>
            <a:chExt cx="369516" cy="383518"/>
          </a:xfrm>
        </p:grpSpPr>
        <p:sp>
          <p:nvSpPr>
            <p:cNvPr id="901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02" name="3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906" name="1"/>
          <p:cNvGrpSpPr/>
          <p:nvPr/>
        </p:nvGrpSpPr>
        <p:grpSpPr>
          <a:xfrm>
            <a:off x="5636046" y="12531862"/>
            <a:ext cx="369517" cy="383519"/>
            <a:chOff x="0" y="0"/>
            <a:chExt cx="369516" cy="383518"/>
          </a:xfrm>
        </p:grpSpPr>
        <p:sp>
          <p:nvSpPr>
            <p:cNvPr id="904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05" name="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909" name="10"/>
          <p:cNvGrpSpPr/>
          <p:nvPr/>
        </p:nvGrpSpPr>
        <p:grpSpPr>
          <a:xfrm>
            <a:off x="5858298" y="10651021"/>
            <a:ext cx="369517" cy="383519"/>
            <a:chOff x="0" y="0"/>
            <a:chExt cx="369516" cy="383518"/>
          </a:xfrm>
        </p:grpSpPr>
        <p:sp>
          <p:nvSpPr>
            <p:cNvPr id="907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08" name="10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10</a:t>
              </a:r>
            </a:p>
          </p:txBody>
        </p:sp>
      </p:grpSp>
      <p:sp>
        <p:nvSpPr>
          <p:cNvPr id="910" name="TextBox 31"/>
          <p:cNvSpPr txBox="1"/>
          <p:nvPr/>
        </p:nvSpPr>
        <p:spPr>
          <a:xfrm>
            <a:off x="2609789" y="11554262"/>
            <a:ext cx="1556417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</p:txBody>
      </p:sp>
      <p:pic>
        <p:nvPicPr>
          <p:cNvPr id="911" name="Logo_Scisports.png" descr="Logo_Scisports.png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rcRect l="37777" t="0" r="0" b="0"/>
          <a:stretch>
            <a:fillRect/>
          </a:stretch>
        </p:blipFill>
        <p:spPr>
          <a:xfrm>
            <a:off x="16586944" y="785320"/>
            <a:ext cx="922534" cy="510944"/>
          </a:xfrm>
          <a:prstGeom prst="rect">
            <a:avLst/>
          </a:prstGeom>
          <a:ln w="12700">
            <a:miter lim="400000"/>
          </a:ln>
        </p:spPr>
      </p:pic>
      <p:sp>
        <p:nvSpPr>
          <p:cNvPr id="912" name="Browse…"/>
          <p:cNvSpPr/>
          <p:nvPr/>
        </p:nvSpPr>
        <p:spPr>
          <a:xfrm>
            <a:off x="463550" y="296333"/>
            <a:ext cx="1397069" cy="1397069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Browse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Foto</a:t>
            </a:r>
          </a:p>
        </p:txBody>
      </p:sp>
      <p:sp>
        <p:nvSpPr>
          <p:cNvPr id="913" name="Doorzettingsvermogen"/>
          <p:cNvSpPr txBox="1"/>
          <p:nvPr/>
        </p:nvSpPr>
        <p:spPr>
          <a:xfrm>
            <a:off x="16864483" y="7433632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Doorzettingsvermogen</a:t>
            </a:r>
          </a:p>
        </p:txBody>
      </p:sp>
      <p:sp>
        <p:nvSpPr>
          <p:cNvPr id="914" name="Star"/>
          <p:cNvSpPr/>
          <p:nvPr/>
        </p:nvSpPr>
        <p:spPr>
          <a:xfrm>
            <a:off x="20490744" y="740336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5" name="Star"/>
          <p:cNvSpPr/>
          <p:nvPr/>
        </p:nvSpPr>
        <p:spPr>
          <a:xfrm>
            <a:off x="20829333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6" name="Star"/>
          <p:cNvSpPr/>
          <p:nvPr/>
        </p:nvSpPr>
        <p:spPr>
          <a:xfrm>
            <a:off x="21167923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7" name="Star"/>
          <p:cNvSpPr/>
          <p:nvPr/>
        </p:nvSpPr>
        <p:spPr>
          <a:xfrm>
            <a:off x="21506512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8" name="Star"/>
          <p:cNvSpPr/>
          <p:nvPr/>
        </p:nvSpPr>
        <p:spPr>
          <a:xfrm>
            <a:off x="21840361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9" name="Star"/>
          <p:cNvSpPr/>
          <p:nvPr/>
        </p:nvSpPr>
        <p:spPr>
          <a:xfrm>
            <a:off x="22178950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0" name="Star"/>
          <p:cNvSpPr/>
          <p:nvPr/>
        </p:nvSpPr>
        <p:spPr>
          <a:xfrm>
            <a:off x="22517540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1" name="Star"/>
          <p:cNvSpPr/>
          <p:nvPr/>
        </p:nvSpPr>
        <p:spPr>
          <a:xfrm>
            <a:off x="22856128" y="740336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2" name="Star"/>
          <p:cNvSpPr/>
          <p:nvPr/>
        </p:nvSpPr>
        <p:spPr>
          <a:xfrm>
            <a:off x="23190717" y="740336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3" name="Star"/>
          <p:cNvSpPr/>
          <p:nvPr/>
        </p:nvSpPr>
        <p:spPr>
          <a:xfrm>
            <a:off x="23529306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4" name="Onverstoorbaarheid"/>
          <p:cNvSpPr txBox="1"/>
          <p:nvPr/>
        </p:nvSpPr>
        <p:spPr>
          <a:xfrm>
            <a:off x="16862722" y="7834390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Onverstoorbaarheid</a:t>
            </a:r>
          </a:p>
        </p:txBody>
      </p:sp>
      <p:sp>
        <p:nvSpPr>
          <p:cNvPr id="925" name="Star"/>
          <p:cNvSpPr/>
          <p:nvPr/>
        </p:nvSpPr>
        <p:spPr>
          <a:xfrm>
            <a:off x="20494891" y="7800685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6" name="Star"/>
          <p:cNvSpPr/>
          <p:nvPr/>
        </p:nvSpPr>
        <p:spPr>
          <a:xfrm>
            <a:off x="20833480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7" name="Star"/>
          <p:cNvSpPr/>
          <p:nvPr/>
        </p:nvSpPr>
        <p:spPr>
          <a:xfrm>
            <a:off x="21172070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8" name="Star"/>
          <p:cNvSpPr/>
          <p:nvPr/>
        </p:nvSpPr>
        <p:spPr>
          <a:xfrm>
            <a:off x="21510659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9" name="Star"/>
          <p:cNvSpPr/>
          <p:nvPr/>
        </p:nvSpPr>
        <p:spPr>
          <a:xfrm>
            <a:off x="21844508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0" name="Star"/>
          <p:cNvSpPr/>
          <p:nvPr/>
        </p:nvSpPr>
        <p:spPr>
          <a:xfrm>
            <a:off x="22183097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1" name="Star"/>
          <p:cNvSpPr/>
          <p:nvPr/>
        </p:nvSpPr>
        <p:spPr>
          <a:xfrm>
            <a:off x="22521687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2" name="Star"/>
          <p:cNvSpPr/>
          <p:nvPr/>
        </p:nvSpPr>
        <p:spPr>
          <a:xfrm>
            <a:off x="22860275" y="7800685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3" name="Star"/>
          <p:cNvSpPr/>
          <p:nvPr/>
        </p:nvSpPr>
        <p:spPr>
          <a:xfrm>
            <a:off x="23194864" y="7800685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4" name="Star"/>
          <p:cNvSpPr/>
          <p:nvPr/>
        </p:nvSpPr>
        <p:spPr>
          <a:xfrm>
            <a:off x="23533453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5" name="Deep lying playmaker #06"/>
          <p:cNvSpPr txBox="1"/>
          <p:nvPr/>
        </p:nvSpPr>
        <p:spPr>
          <a:xfrm>
            <a:off x="374971" y="10045556"/>
            <a:ext cx="2870201" cy="1122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7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3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Deep lying playmaker #06</a:t>
            </a:r>
          </a:p>
        </p:txBody>
      </p:sp>
      <p:sp>
        <p:nvSpPr>
          <p:cNvPr id="936" name="Dribbelen met bal"/>
          <p:cNvSpPr txBox="1"/>
          <p:nvPr/>
        </p:nvSpPr>
        <p:spPr>
          <a:xfrm>
            <a:off x="16862722" y="5425461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Dribbelen met bal</a:t>
            </a:r>
          </a:p>
        </p:txBody>
      </p:sp>
      <p:sp>
        <p:nvSpPr>
          <p:cNvPr id="937" name="Star"/>
          <p:cNvSpPr/>
          <p:nvPr/>
        </p:nvSpPr>
        <p:spPr>
          <a:xfrm>
            <a:off x="20494891" y="5388614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8" name="Star"/>
          <p:cNvSpPr/>
          <p:nvPr/>
        </p:nvSpPr>
        <p:spPr>
          <a:xfrm>
            <a:off x="20833480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9" name="Star"/>
          <p:cNvSpPr/>
          <p:nvPr/>
        </p:nvSpPr>
        <p:spPr>
          <a:xfrm>
            <a:off x="21172068" y="5388614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0" name="Star"/>
          <p:cNvSpPr/>
          <p:nvPr/>
        </p:nvSpPr>
        <p:spPr>
          <a:xfrm>
            <a:off x="21510657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1" name="Star"/>
          <p:cNvSpPr/>
          <p:nvPr/>
        </p:nvSpPr>
        <p:spPr>
          <a:xfrm>
            <a:off x="21844508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2" name="Star"/>
          <p:cNvSpPr/>
          <p:nvPr/>
        </p:nvSpPr>
        <p:spPr>
          <a:xfrm>
            <a:off x="22183097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3" name="Star"/>
          <p:cNvSpPr/>
          <p:nvPr/>
        </p:nvSpPr>
        <p:spPr>
          <a:xfrm>
            <a:off x="22521685" y="5388614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4" name="Star"/>
          <p:cNvSpPr/>
          <p:nvPr/>
        </p:nvSpPr>
        <p:spPr>
          <a:xfrm>
            <a:off x="22860274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5" name="Star"/>
          <p:cNvSpPr/>
          <p:nvPr/>
        </p:nvSpPr>
        <p:spPr>
          <a:xfrm>
            <a:off x="23194864" y="5388614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6" name="Star"/>
          <p:cNvSpPr/>
          <p:nvPr/>
        </p:nvSpPr>
        <p:spPr>
          <a:xfrm>
            <a:off x="23533453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8" name="Tabel 1"/>
          <p:cNvGraphicFramePr/>
          <p:nvPr/>
        </p:nvGraphicFramePr>
        <p:xfrm>
          <a:off x="4077686" y="673006"/>
          <a:ext cx="17879300" cy="1238268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573319"/>
                <a:gridCol w="3573319"/>
                <a:gridCol w="4482413"/>
                <a:gridCol w="2664226"/>
                <a:gridCol w="3573319"/>
              </a:tblGrid>
              <a:tr h="1030832">
                <a:tc>
                  <a:txBody>
                    <a:bodyPr/>
                    <a:lstStyle/>
                    <a:p>
                      <a:pPr defTabSz="914400"/>
                      <a:r>
                        <a:rPr sz="2900"/>
                        <a:t>Deep lying playmaker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900"/>
                        <a:t>Multiplication factor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Result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Passing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Positie kiezen (v)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Dribbelen met bal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Positie kiezen (A)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Duelkracht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Uithoudings
vermogen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Snelheid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Doorzettings
vermogen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Onverstoor
baarheid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1285875">
                        <a:def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030832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Average 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0.00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Deep lying playmaker #06"/>
          <p:cNvSpPr txBox="1"/>
          <p:nvPr/>
        </p:nvSpPr>
        <p:spPr>
          <a:xfrm>
            <a:off x="5159004" y="43415"/>
            <a:ext cx="11134957" cy="9271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" dist="57611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700">
              <a:lnSpc>
                <a:spcPct val="60000"/>
              </a:lnSpc>
              <a:spcBef>
                <a:spcPts val="0"/>
              </a:spcBef>
              <a:defRPr b="1" cap="all" sz="6000">
                <a:solidFill>
                  <a:srgbClr val="18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Deep lying playmaker #06</a:t>
            </a:r>
          </a:p>
        </p:txBody>
      </p:sp>
      <p:sp>
        <p:nvSpPr>
          <p:cNvPr id="951" name="9"/>
          <p:cNvSpPr/>
          <p:nvPr/>
        </p:nvSpPr>
        <p:spPr>
          <a:xfrm>
            <a:off x="20427404" y="4955068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952" name="11"/>
          <p:cNvSpPr/>
          <p:nvPr/>
        </p:nvSpPr>
        <p:spPr>
          <a:xfrm>
            <a:off x="18995767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7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953" name="7"/>
          <p:cNvSpPr/>
          <p:nvPr/>
        </p:nvSpPr>
        <p:spPr>
          <a:xfrm>
            <a:off x="21859042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954" name="5"/>
          <p:cNvSpPr/>
          <p:nvPr/>
        </p:nvSpPr>
        <p:spPr>
          <a:xfrm>
            <a:off x="18900818" y="8341528"/>
            <a:ext cx="657473" cy="68238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55" name="2"/>
          <p:cNvSpPr/>
          <p:nvPr/>
        </p:nvSpPr>
        <p:spPr>
          <a:xfrm>
            <a:off x="21985640" y="8341528"/>
            <a:ext cx="657473" cy="68238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56" name="4"/>
          <p:cNvSpPr/>
          <p:nvPr/>
        </p:nvSpPr>
        <p:spPr>
          <a:xfrm>
            <a:off x="19731139" y="8900949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57" name="3"/>
          <p:cNvSpPr/>
          <p:nvPr/>
        </p:nvSpPr>
        <p:spPr>
          <a:xfrm>
            <a:off x="21127868" y="8900949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58" name="1"/>
          <p:cNvSpPr/>
          <p:nvPr/>
        </p:nvSpPr>
        <p:spPr>
          <a:xfrm>
            <a:off x="20427404" y="9762007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59" name="6"/>
          <p:cNvSpPr/>
          <p:nvPr/>
        </p:nvSpPr>
        <p:spPr>
          <a:xfrm>
            <a:off x="20653123" y="7600564"/>
            <a:ext cx="657473" cy="682385"/>
          </a:xfrm>
          <a:prstGeom prst="ellipse">
            <a:avLst/>
          </a:prstGeom>
          <a:solidFill>
            <a:srgbClr val="173883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960" name="8"/>
          <p:cNvSpPr/>
          <p:nvPr/>
        </p:nvSpPr>
        <p:spPr>
          <a:xfrm>
            <a:off x="19920776" y="6914048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961" name="10"/>
          <p:cNvSpPr/>
          <p:nvPr/>
        </p:nvSpPr>
        <p:spPr>
          <a:xfrm>
            <a:off x="20933539" y="6424333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6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962" name="TextBox 17"/>
          <p:cNvSpPr txBox="1"/>
          <p:nvPr/>
        </p:nvSpPr>
        <p:spPr>
          <a:xfrm>
            <a:off x="2655883" y="614927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Passing</a:t>
            </a:r>
          </a:p>
        </p:txBody>
      </p:sp>
      <p:sp>
        <p:nvSpPr>
          <p:cNvPr id="963" name="TextBox 17"/>
          <p:cNvSpPr txBox="1"/>
          <p:nvPr/>
        </p:nvSpPr>
        <p:spPr>
          <a:xfrm>
            <a:off x="7588917" y="616832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964" name="TextBox 17"/>
          <p:cNvSpPr txBox="1"/>
          <p:nvPr/>
        </p:nvSpPr>
        <p:spPr>
          <a:xfrm>
            <a:off x="12365868" y="615714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Doorzettingsvermogen</a:t>
            </a:r>
          </a:p>
        </p:txBody>
      </p:sp>
      <p:sp>
        <p:nvSpPr>
          <p:cNvPr id="965" name="TextBox 17"/>
          <p:cNvSpPr txBox="1"/>
          <p:nvPr/>
        </p:nvSpPr>
        <p:spPr>
          <a:xfrm>
            <a:off x="2700811" y="9967987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Dribbelen met bal</a:t>
            </a:r>
          </a:p>
        </p:txBody>
      </p:sp>
      <p:sp>
        <p:nvSpPr>
          <p:cNvPr id="966" name="TextBox 17"/>
          <p:cNvSpPr txBox="1"/>
          <p:nvPr/>
        </p:nvSpPr>
        <p:spPr>
          <a:xfrm>
            <a:off x="7588917" y="9976654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967" name="TextBox 17"/>
          <p:cNvSpPr txBox="1"/>
          <p:nvPr/>
        </p:nvSpPr>
        <p:spPr>
          <a:xfrm>
            <a:off x="2700811" y="7220021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Positie kiezen (v)</a:t>
            </a:r>
          </a:p>
        </p:txBody>
      </p:sp>
      <p:sp>
        <p:nvSpPr>
          <p:cNvPr id="968" name="TextBox 17"/>
          <p:cNvSpPr txBox="1"/>
          <p:nvPr/>
        </p:nvSpPr>
        <p:spPr>
          <a:xfrm>
            <a:off x="7588917" y="7212448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Uithoudingsvermogen</a:t>
            </a:r>
          </a:p>
        </p:txBody>
      </p:sp>
      <p:sp>
        <p:nvSpPr>
          <p:cNvPr id="969" name="TextBox 17"/>
          <p:cNvSpPr txBox="1"/>
          <p:nvPr/>
        </p:nvSpPr>
        <p:spPr>
          <a:xfrm>
            <a:off x="12365868" y="9967987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Onverstoorbaarheid</a:t>
            </a:r>
          </a:p>
        </p:txBody>
      </p:sp>
      <p:sp>
        <p:nvSpPr>
          <p:cNvPr id="970" name="TextBox 17"/>
          <p:cNvSpPr txBox="1"/>
          <p:nvPr/>
        </p:nvSpPr>
        <p:spPr>
          <a:xfrm>
            <a:off x="2700811" y="11031166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Positie kiezen (A)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TextBox 31"/>
          <p:cNvSpPr txBox="1"/>
          <p:nvPr/>
        </p:nvSpPr>
        <p:spPr>
          <a:xfrm>
            <a:off x="469900" y="4585372"/>
            <a:ext cx="4887608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van acties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passes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&amp; hoogte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73" name="TextBox 30"/>
          <p:cNvSpPr txBox="1"/>
          <p:nvPr/>
        </p:nvSpPr>
        <p:spPr>
          <a:xfrm>
            <a:off x="240575" y="229427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“Passing korter dan 10-15m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(onder druk of door de linies)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 passing langer dan 30m</a:t>
            </a:r>
          </a:p>
        </p:txBody>
      </p:sp>
      <p:sp>
        <p:nvSpPr>
          <p:cNvPr id="974" name="TextBox 17"/>
          <p:cNvSpPr txBox="1"/>
          <p:nvPr/>
        </p:nvSpPr>
        <p:spPr>
          <a:xfrm>
            <a:off x="242426" y="122639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Passing</a:t>
            </a:r>
          </a:p>
        </p:txBody>
      </p:sp>
      <p:sp>
        <p:nvSpPr>
          <p:cNvPr id="975" name="TextBox 31"/>
          <p:cNvSpPr txBox="1"/>
          <p:nvPr/>
        </p:nvSpPr>
        <p:spPr>
          <a:xfrm>
            <a:off x="6439242" y="4585372"/>
            <a:ext cx="4887609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1285875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bal?</a:t>
            </a:r>
            <a:endParaRPr>
              <a:solidFill>
                <a:srgbClr val="000000"/>
              </a:solidFill>
            </a:endParaRPr>
          </a:p>
          <a:p>
            <a:pPr marL="190500" indent="-190500" defTabSz="1285875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Lichaamspositie</a:t>
            </a:r>
            <a:endParaRPr>
              <a:solidFill>
                <a:srgbClr val="000000"/>
              </a:solidFill>
            </a:endParaRPr>
          </a:p>
          <a:p>
            <a:pPr marL="190500" indent="-190500" defTabSz="1285875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Hoge of lage lijn?</a:t>
            </a:r>
            <a:endParaRPr>
              <a:solidFill>
                <a:srgbClr val="000000"/>
              </a:solidFill>
            </a:endParaRPr>
          </a:p>
          <a:p>
            <a:pPr marL="190500" indent="-190500" defTabSz="1285875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Gevaarherkenning</a:t>
            </a:r>
          </a:p>
          <a:p>
            <a:pPr marL="190500" indent="-190500" defTabSz="1285875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Afstanden linies</a:t>
            </a:r>
            <a:endParaRPr>
              <a:solidFill>
                <a:srgbClr val="000000"/>
              </a:solidFill>
            </a:endParaRPr>
          </a:p>
          <a:p>
            <a:pPr marL="190500" indent="-190500" defTabSz="1285875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Drukzetten / doordekken</a:t>
            </a:r>
            <a:endParaRPr>
              <a:solidFill>
                <a:srgbClr val="000000"/>
              </a:solidFill>
            </a:endParaRPr>
          </a:p>
          <a:p>
            <a:pPr marL="190500" indent="-190500" defTabSz="1285875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Lijnen dichtzetten</a:t>
            </a:r>
          </a:p>
          <a:p>
            <a:pPr marL="190500" indent="-190500" defTabSz="1285875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76" name="TextBox 17"/>
          <p:cNvSpPr txBox="1"/>
          <p:nvPr/>
        </p:nvSpPr>
        <p:spPr>
          <a:xfrm>
            <a:off x="6232610" y="1220390"/>
            <a:ext cx="5883091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Positie kiezen (V)</a:t>
            </a:r>
          </a:p>
        </p:txBody>
      </p:sp>
      <p:sp>
        <p:nvSpPr>
          <p:cNvPr id="977" name="TextBox 30"/>
          <p:cNvSpPr txBox="1"/>
          <p:nvPr/>
        </p:nvSpPr>
        <p:spPr>
          <a:xfrm>
            <a:off x="6272350" y="2112962"/>
            <a:ext cx="5778212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“Voorkomen van doelpogingen of potentieel gevaar (voorzet, dribbel, pass of schot) van de tegenstander d.m.v. de positiekeuze”</a:t>
            </a:r>
          </a:p>
        </p:txBody>
      </p:sp>
      <p:sp>
        <p:nvSpPr>
          <p:cNvPr id="978" name="TextBox 30"/>
          <p:cNvSpPr txBox="1"/>
          <p:nvPr/>
        </p:nvSpPr>
        <p:spPr>
          <a:xfrm>
            <a:off x="12222267" y="2522510"/>
            <a:ext cx="5891026" cy="772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"Voorwaarts dribbelen met bal richting de open ruimtes”</a:t>
            </a:r>
          </a:p>
        </p:txBody>
      </p:sp>
      <p:sp>
        <p:nvSpPr>
          <p:cNvPr id="979" name="TextBox 17"/>
          <p:cNvSpPr txBox="1"/>
          <p:nvPr/>
        </p:nvSpPr>
        <p:spPr>
          <a:xfrm>
            <a:off x="12224118" y="12311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Dribbelen met bal</a:t>
            </a:r>
          </a:p>
        </p:txBody>
      </p:sp>
      <p:sp>
        <p:nvSpPr>
          <p:cNvPr id="980" name="TextBox 31"/>
          <p:cNvSpPr txBox="1"/>
          <p:nvPr/>
        </p:nvSpPr>
        <p:spPr>
          <a:xfrm>
            <a:off x="12440273" y="4585372"/>
            <a:ext cx="4099713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 overbruggen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81" name="TextBox 31"/>
          <p:cNvSpPr txBox="1"/>
          <p:nvPr/>
        </p:nvSpPr>
        <p:spPr>
          <a:xfrm>
            <a:off x="18441305" y="4585372"/>
            <a:ext cx="3780774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Ruimte herkenning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Inzicht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3e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Aanspeelbaar zijn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Actieve zones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82" name="TextBox 30"/>
          <p:cNvSpPr txBox="1"/>
          <p:nvPr/>
        </p:nvSpPr>
        <p:spPr>
          <a:xfrm>
            <a:off x="18203191" y="229899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“Passes ontvangen of geslaagde vrijloop-acties voor teamgenoten in de half-spaces en/of final third”</a:t>
            </a:r>
          </a:p>
        </p:txBody>
      </p:sp>
      <p:sp>
        <p:nvSpPr>
          <p:cNvPr id="983" name="TextBox 17"/>
          <p:cNvSpPr txBox="1"/>
          <p:nvPr/>
        </p:nvSpPr>
        <p:spPr>
          <a:xfrm>
            <a:off x="18205043" y="12311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Positie kiezen (A)</a:t>
            </a:r>
          </a:p>
        </p:txBody>
      </p:sp>
      <p:sp>
        <p:nvSpPr>
          <p:cNvPr id="984" name="TextBox 31"/>
          <p:cNvSpPr txBox="1"/>
          <p:nvPr/>
        </p:nvSpPr>
        <p:spPr>
          <a:xfrm>
            <a:off x="480211" y="10841514"/>
            <a:ext cx="3913231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Lichaamsdeel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Luchtduels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85" name="TextBox 30"/>
          <p:cNvSpPr txBox="1"/>
          <p:nvPr/>
        </p:nvSpPr>
        <p:spPr>
          <a:xfrm>
            <a:off x="239779" y="8561900"/>
            <a:ext cx="5891026" cy="1137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“Geslaagde pogingen om de bal </a:t>
            </a:r>
          </a:p>
          <a:p>
            <a: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winnen / behouden </a:t>
            </a:r>
          </a:p>
          <a:p>
            <a: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fysieke duels”</a:t>
            </a:r>
          </a:p>
        </p:txBody>
      </p:sp>
      <p:sp>
        <p:nvSpPr>
          <p:cNvPr id="986" name="TextBox 17"/>
          <p:cNvSpPr txBox="1"/>
          <p:nvPr/>
        </p:nvSpPr>
        <p:spPr>
          <a:xfrm>
            <a:off x="241631" y="745338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987" name="TextBox 17"/>
          <p:cNvSpPr txBox="1"/>
          <p:nvPr/>
        </p:nvSpPr>
        <p:spPr>
          <a:xfrm>
            <a:off x="6249662" y="7474438"/>
            <a:ext cx="5883092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Uithoudingsvermogen</a:t>
            </a:r>
          </a:p>
        </p:txBody>
      </p:sp>
      <p:sp>
        <p:nvSpPr>
          <p:cNvPr id="988" name="TextBox 30"/>
          <p:cNvSpPr txBox="1"/>
          <p:nvPr/>
        </p:nvSpPr>
        <p:spPr>
          <a:xfrm>
            <a:off x="6536952" y="8758218"/>
            <a:ext cx="535931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“Volhouden van de positie specifieke voetbalacties”</a:t>
            </a:r>
          </a:p>
        </p:txBody>
      </p:sp>
      <p:sp>
        <p:nvSpPr>
          <p:cNvPr id="989" name="TextBox 31"/>
          <p:cNvSpPr txBox="1"/>
          <p:nvPr/>
        </p:nvSpPr>
        <p:spPr>
          <a:xfrm>
            <a:off x="6445592" y="10841514"/>
            <a:ext cx="2750189" cy="19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90 min volhouden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Gemiddelde p/w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90" name="TextBox 31"/>
          <p:cNvSpPr txBox="1"/>
          <p:nvPr/>
        </p:nvSpPr>
        <p:spPr>
          <a:xfrm>
            <a:off x="12446623" y="10841514"/>
            <a:ext cx="4087013" cy="19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Paslengte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Grote / kleine afstanden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1e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91" name="TextBox 30"/>
          <p:cNvSpPr txBox="1"/>
          <p:nvPr/>
        </p:nvSpPr>
        <p:spPr>
          <a:xfrm>
            <a:off x="12221471" y="852598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“Absolute snelheid zonder bal” “Snelheid in de acties met bal” “Startsnelheid”</a:t>
            </a:r>
          </a:p>
        </p:txBody>
      </p:sp>
      <p:sp>
        <p:nvSpPr>
          <p:cNvPr id="992" name="TextBox 17"/>
          <p:cNvSpPr txBox="1"/>
          <p:nvPr/>
        </p:nvSpPr>
        <p:spPr>
          <a:xfrm>
            <a:off x="12223323" y="745810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993" name="TextBox 17"/>
          <p:cNvSpPr txBox="1"/>
          <p:nvPr/>
        </p:nvSpPr>
        <p:spPr>
          <a:xfrm>
            <a:off x="18222179" y="7474438"/>
            <a:ext cx="585769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Doorzettingsvermogen</a:t>
            </a:r>
          </a:p>
        </p:txBody>
      </p:sp>
      <p:sp>
        <p:nvSpPr>
          <p:cNvPr id="994" name="TextBox 30"/>
          <p:cNvSpPr txBox="1"/>
          <p:nvPr/>
        </p:nvSpPr>
        <p:spPr>
          <a:xfrm>
            <a:off x="18522168" y="8351818"/>
            <a:ext cx="5359311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“Heeft een echte winnaarsmentaliteit, geeft nooit op en probeert teamgenoten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stimuleren”</a:t>
            </a:r>
          </a:p>
        </p:txBody>
      </p:sp>
      <p:sp>
        <p:nvSpPr>
          <p:cNvPr id="995" name="TextBox 31"/>
          <p:cNvSpPr txBox="1"/>
          <p:nvPr/>
        </p:nvSpPr>
        <p:spPr>
          <a:xfrm>
            <a:off x="18447655" y="10841514"/>
            <a:ext cx="2750189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Emotie 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Gedrag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Rouwmomenten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Anderen inspireren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Nooit opgeven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 het einde vechten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Altijd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TextBox 31"/>
          <p:cNvSpPr txBox="1"/>
          <p:nvPr/>
        </p:nvSpPr>
        <p:spPr>
          <a:xfrm>
            <a:off x="469900" y="4585372"/>
            <a:ext cx="4887608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Stabiel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Beïnvloeden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Solide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Bewust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Reactie na een fout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Omgaan met stress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98" name="TextBox 30"/>
          <p:cNvSpPr txBox="1"/>
          <p:nvPr/>
        </p:nvSpPr>
        <p:spPr>
          <a:xfrm>
            <a:off x="240575" y="2529855"/>
            <a:ext cx="5891026" cy="748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25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“Voert zijn taken uit ongeacht de omstandigheden”</a:t>
            </a:r>
          </a:p>
        </p:txBody>
      </p:sp>
      <p:sp>
        <p:nvSpPr>
          <p:cNvPr id="999" name="TextBox 17"/>
          <p:cNvSpPr txBox="1"/>
          <p:nvPr/>
        </p:nvSpPr>
        <p:spPr>
          <a:xfrm>
            <a:off x="242426" y="122639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Onverstoorbaarheid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002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3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4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5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6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7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8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9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0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1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012" name="FC DEN BOSCH LOGO.png" descr="FC DEN BOSCH LOGO.png">
            <a:hlinkClick r:id="rId2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3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4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016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7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8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9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0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1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2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3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4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5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026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027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030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1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2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3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4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5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6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7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8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9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040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041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044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5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6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7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8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9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0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1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2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3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054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055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058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9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0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1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2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3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4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5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6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7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068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069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072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3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4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5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6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7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8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9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0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1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082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083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086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7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8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9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0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1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2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3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4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5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096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097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00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1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2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3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4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5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6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7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8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9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10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11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14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5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6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7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8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9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0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1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2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3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24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25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TextBox 28"/>
          <p:cNvSpPr txBox="1"/>
          <p:nvPr/>
        </p:nvSpPr>
        <p:spPr>
          <a:xfrm>
            <a:off x="15307991" y="8777643"/>
            <a:ext cx="194797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rgbClr val="2769C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