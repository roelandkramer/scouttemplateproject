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7" name="Shape 57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tif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sitie kiezen (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ef Koppen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7" name="Defensief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Defensief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koppen</a:t>
            </a:r>
          </a:p>
        </p:txBody>
      </p:sp>
      <p:sp>
        <p:nvSpPr>
          <p:cNvPr id="38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“Kopduel winnen op eigen helft/ in eigen 16m”</a:t>
            </a:r>
          </a:p>
        </p:txBody>
      </p:sp>
      <p:sp>
        <p:nvSpPr>
          <p:cNvPr id="39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keuze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Duelkracht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 sprong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Slimheid / gogme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Sprongkracht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5" name="Passing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5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57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elen met bal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3" name="Dribbelen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Dribbelen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met bal</a:t>
            </a:r>
          </a:p>
        </p:txBody>
      </p:sp>
      <p:sp>
        <p:nvSpPr>
          <p:cNvPr id="74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75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uelkracht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91" name="Duelkracht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92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9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nelheid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09" name="Snelhei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1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1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orzettingsvermogen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27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28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12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4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5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14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14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148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8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63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4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headers</a:t>
            </a:r>
          </a:p>
        </p:txBody>
      </p:sp>
      <p:sp>
        <p:nvSpPr>
          <p:cNvPr id="165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“Open play defensive air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challenge”</a:t>
            </a:r>
          </a:p>
        </p:txBody>
      </p:sp>
      <p:sp>
        <p:nvSpPr>
          <p:cNvPr id="166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Jumping power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of headers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Blocking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167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(E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82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183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Passing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185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186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6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7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8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01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0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204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20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20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2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22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22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4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5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3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40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242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24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5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59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26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26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3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74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275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6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277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8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81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279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280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282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4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5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7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0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1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2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3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4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296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297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298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299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0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1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12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3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314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5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18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316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17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19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0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2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4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5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6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7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8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2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333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334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335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336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3" name="Rectangle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4" name="Rectangle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Rectangle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6" name="Rectangle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7" name="Rectangle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Rectangle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9" name="Rectangle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0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361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362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363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364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365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366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367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8" name="Rectangle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9" name="Rectangle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0" name="Rectangle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1" name="Rectangle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2" name="Rectangle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Rectangle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4" name="Rectangle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5" name="Rectangle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377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378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379" name="Rectangle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Rectangle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1" name="Rectangle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2" name="Rectangle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384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385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386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387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388" name="Rectangle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Rectangle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Rectangle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Rectangle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Rectangle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Rectangle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Rectangle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5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396" name="Rectangle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398" name="Rectangle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9" name="Rectangle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Rectangle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402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403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404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405" name="Rectangle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407" name="Image" descr="Image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08" name="Rectangle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409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410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4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23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424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8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4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37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38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39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44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8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9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1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2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53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66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46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8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8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8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8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96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7" name="Group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505" name="Rounded Rectangle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506" name="Image" descr="Image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508" name="Rectangle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9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510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5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521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522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23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524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525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526" name="He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528" name="Growth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9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530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531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532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533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534" name="Rectangle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5" name="Rectangle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Rectangle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7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38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9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540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541" name="Line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Line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3" name="Line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4" name="Line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5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554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555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556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557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5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569" name="Rectangle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(V)</a:t>
            </a:r>
          </a:p>
        </p:txBody>
      </p:sp>
      <p:sp>
        <p:nvSpPr>
          <p:cNvPr id="10" name="TextBox 30"/>
          <p:cNvSpPr txBox="1"/>
          <p:nvPr/>
        </p:nvSpPr>
        <p:spPr>
          <a:xfrm>
            <a:off x="19855643" y="2087268"/>
            <a:ext cx="4159834" cy="103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11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3" name="Naam dia"/>
          <p:cNvSpPr txBox="1"/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Naam dia</a:t>
            </a:r>
          </a:p>
        </p:txBody>
      </p:sp>
      <p:sp>
        <p:nvSpPr>
          <p:cNvPr id="14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1.png"/><Relationship Id="rId4" Type="http://schemas.openxmlformats.org/officeDocument/2006/relationships/slide" Target="slide1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slide" Target="slide12.xml"/><Relationship Id="rId5" Type="http://schemas.openxmlformats.org/officeDocument/2006/relationships/slide" Target="slide14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80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81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2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83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84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5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86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87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88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89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90" name="TextBox 28"/>
          <p:cNvSpPr txBox="1"/>
          <p:nvPr/>
        </p:nvSpPr>
        <p:spPr>
          <a:xfrm>
            <a:off x="13106657" y="7643110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591" name="achterkant FC Den Bosch nummer 3.png" descr="achterkant FC Den Bosch nummer 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08126" y="7472384"/>
            <a:ext cx="2642322" cy="2642322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  <p:pic>
        <p:nvPicPr>
          <p:cNvPr id="592" name="achterkant FC Den Bosch nummer 4.png" descr="achterkant FC Den Bosch nummer 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997539" y="7472420"/>
            <a:ext cx="2642322" cy="2642323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TextBox 21"/>
          <p:cNvSpPr txBox="1"/>
          <p:nvPr/>
        </p:nvSpPr>
        <p:spPr>
          <a:xfrm>
            <a:off x="4333035" y="1013466"/>
            <a:ext cx="15717931" cy="1244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Kernwaarden —&gt; Voetbal: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 sz="3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</a:t>
            </a:r>
            <a:r>
              <a:rPr b="0"/>
              <a:t>Strijders Die spelen om te winnen en die elke dag beter willen worden”</a:t>
            </a:r>
          </a:p>
        </p:txBody>
      </p:sp>
      <p:sp>
        <p:nvSpPr>
          <p:cNvPr id="596" name="Line"/>
          <p:cNvSpPr/>
          <p:nvPr/>
        </p:nvSpPr>
        <p:spPr>
          <a:xfrm>
            <a:off x="12152585" y="4118138"/>
            <a:ext cx="1" cy="3383270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97" name="Freeform 7"/>
          <p:cNvSpPr/>
          <p:nvPr/>
        </p:nvSpPr>
        <p:spPr>
          <a:xfrm>
            <a:off x="4473952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8" name="Rectangle"/>
          <p:cNvSpPr/>
          <p:nvPr/>
        </p:nvSpPr>
        <p:spPr>
          <a:xfrm>
            <a:off x="4506295" y="5470044"/>
            <a:ext cx="6196980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9" name="TextBox 13"/>
          <p:cNvSpPr txBox="1"/>
          <p:nvPr/>
        </p:nvSpPr>
        <p:spPr>
          <a:xfrm>
            <a:off x="4646195" y="5976140"/>
            <a:ext cx="5917180" cy="1156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1: Top-3 goals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(6th)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2: Top-3 challenge intensity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(10th)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3: Top-3 doelpogingen</a:t>
            </a:r>
            <a:r>
              <a:rPr>
                <a:solidFill>
                  <a:srgbClr val="FF2600"/>
                </a:solidFill>
              </a:rPr>
              <a:t>(12th)</a:t>
            </a:r>
          </a:p>
        </p:txBody>
      </p:sp>
      <p:sp>
        <p:nvSpPr>
          <p:cNvPr id="600" name="TextBox 16"/>
          <p:cNvSpPr txBox="1"/>
          <p:nvPr/>
        </p:nvSpPr>
        <p:spPr>
          <a:xfrm>
            <a:off x="5285314" y="4420544"/>
            <a:ext cx="4638942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Speelstijl</a:t>
            </a:r>
          </a:p>
        </p:txBody>
      </p:sp>
      <p:sp>
        <p:nvSpPr>
          <p:cNvPr id="601" name="Freeform 7"/>
          <p:cNvSpPr/>
          <p:nvPr/>
        </p:nvSpPr>
        <p:spPr>
          <a:xfrm>
            <a:off x="13682778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2" name="Rectangle"/>
          <p:cNvSpPr/>
          <p:nvPr/>
        </p:nvSpPr>
        <p:spPr>
          <a:xfrm>
            <a:off x="13680723" y="5470044"/>
            <a:ext cx="6265774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3" name="TextBox 13"/>
          <p:cNvSpPr txBox="1"/>
          <p:nvPr/>
        </p:nvSpPr>
        <p:spPr>
          <a:xfrm>
            <a:off x="14077925" y="5944025"/>
            <a:ext cx="5471371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Scouting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IDP</a:t>
            </a:r>
          </a:p>
        </p:txBody>
      </p:sp>
      <p:sp>
        <p:nvSpPr>
          <p:cNvPr id="604" name="TextBox 16"/>
          <p:cNvSpPr txBox="1"/>
          <p:nvPr/>
        </p:nvSpPr>
        <p:spPr>
          <a:xfrm>
            <a:off x="14494140" y="4420544"/>
            <a:ext cx="4638941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Profielen &amp; Begrippen</a:t>
            </a:r>
          </a:p>
        </p:txBody>
      </p:sp>
      <p:sp>
        <p:nvSpPr>
          <p:cNvPr id="605" name="Rounded Rectangle"/>
          <p:cNvSpPr/>
          <p:nvPr/>
        </p:nvSpPr>
        <p:spPr>
          <a:xfrm>
            <a:off x="5718043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6" name="Rounded Rectangle"/>
          <p:cNvSpPr/>
          <p:nvPr/>
        </p:nvSpPr>
        <p:spPr>
          <a:xfrm>
            <a:off x="6440531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7" name="Rounded Rectangle"/>
          <p:cNvSpPr/>
          <p:nvPr/>
        </p:nvSpPr>
        <p:spPr>
          <a:xfrm>
            <a:off x="716302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8" name="Rounded Rectangle"/>
          <p:cNvSpPr/>
          <p:nvPr/>
        </p:nvSpPr>
        <p:spPr>
          <a:xfrm>
            <a:off x="788551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9" name="Freeform 7"/>
          <p:cNvSpPr/>
          <p:nvPr/>
        </p:nvSpPr>
        <p:spPr>
          <a:xfrm>
            <a:off x="5155257" y="9569121"/>
            <a:ext cx="3558234" cy="1938277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0" name="Rectangle"/>
          <p:cNvSpPr/>
          <p:nvPr/>
        </p:nvSpPr>
        <p:spPr>
          <a:xfrm>
            <a:off x="5153202" y="10368234"/>
            <a:ext cx="3562343" cy="11560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1" name="TextBox 8"/>
          <p:cNvSpPr txBox="1"/>
          <p:nvPr/>
        </p:nvSpPr>
        <p:spPr>
          <a:xfrm>
            <a:off x="5253436" y="10506338"/>
            <a:ext cx="3361875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 target: +€750K</a:t>
            </a:r>
          </a:p>
          <a:p>
            <a:pPr marL="339131" indent="-339131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transfers: &gt;1M</a:t>
            </a:r>
          </a:p>
        </p:txBody>
      </p:sp>
      <p:sp>
        <p:nvSpPr>
          <p:cNvPr id="612" name="TextBox 16"/>
          <p:cNvSpPr txBox="1"/>
          <p:nvPr/>
        </p:nvSpPr>
        <p:spPr>
          <a:xfrm>
            <a:off x="5259874" y="9561502"/>
            <a:ext cx="3348999" cy="707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1</a:t>
            </a:r>
          </a:p>
        </p:txBody>
      </p:sp>
      <p:sp>
        <p:nvSpPr>
          <p:cNvPr id="613" name="Rounded Rectangle"/>
          <p:cNvSpPr/>
          <p:nvPr/>
        </p:nvSpPr>
        <p:spPr>
          <a:xfrm>
            <a:off x="10975668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4" name="Rounded Rectangle"/>
          <p:cNvSpPr/>
          <p:nvPr/>
        </p:nvSpPr>
        <p:spPr>
          <a:xfrm>
            <a:off x="11698158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5" name="Rounded Rectangle"/>
          <p:cNvSpPr/>
          <p:nvPr/>
        </p:nvSpPr>
        <p:spPr>
          <a:xfrm>
            <a:off x="12420646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Rounded Rectangle"/>
          <p:cNvSpPr/>
          <p:nvPr/>
        </p:nvSpPr>
        <p:spPr>
          <a:xfrm>
            <a:off x="13143137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Freeform 7"/>
          <p:cNvSpPr/>
          <p:nvPr/>
        </p:nvSpPr>
        <p:spPr>
          <a:xfrm>
            <a:off x="10412883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8" name="Rectangle"/>
          <p:cNvSpPr/>
          <p:nvPr/>
        </p:nvSpPr>
        <p:spPr>
          <a:xfrm>
            <a:off x="10410828" y="10375417"/>
            <a:ext cx="3562343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9" name="TextBox 8"/>
          <p:cNvSpPr txBox="1"/>
          <p:nvPr/>
        </p:nvSpPr>
        <p:spPr>
          <a:xfrm>
            <a:off x="10517501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KKD: Top 10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10e positie in de KKD</a:t>
            </a:r>
          </a:p>
        </p:txBody>
      </p:sp>
      <p:sp>
        <p:nvSpPr>
          <p:cNvPr id="620" name="TextBox 16"/>
          <p:cNvSpPr txBox="1"/>
          <p:nvPr/>
        </p:nvSpPr>
        <p:spPr>
          <a:xfrm>
            <a:off x="10517501" y="9568684"/>
            <a:ext cx="3348998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2</a:t>
            </a:r>
          </a:p>
        </p:txBody>
      </p:sp>
      <p:sp>
        <p:nvSpPr>
          <p:cNvPr id="621" name="Rounded Rectangle"/>
          <p:cNvSpPr/>
          <p:nvPr/>
        </p:nvSpPr>
        <p:spPr>
          <a:xfrm>
            <a:off x="1623329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2" name="Rounded Rectangle"/>
          <p:cNvSpPr/>
          <p:nvPr/>
        </p:nvSpPr>
        <p:spPr>
          <a:xfrm>
            <a:off x="1695578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3" name="Rounded Rectangle"/>
          <p:cNvSpPr/>
          <p:nvPr/>
        </p:nvSpPr>
        <p:spPr>
          <a:xfrm>
            <a:off x="17678271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4" name="Rounded Rectangle"/>
          <p:cNvSpPr/>
          <p:nvPr/>
        </p:nvSpPr>
        <p:spPr>
          <a:xfrm>
            <a:off x="18400762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5" name="Freeform 7"/>
          <p:cNvSpPr/>
          <p:nvPr/>
        </p:nvSpPr>
        <p:spPr>
          <a:xfrm>
            <a:off x="15670510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6" name="Rectangle"/>
          <p:cNvSpPr/>
          <p:nvPr/>
        </p:nvSpPr>
        <p:spPr>
          <a:xfrm>
            <a:off x="15668456" y="10375417"/>
            <a:ext cx="3562342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7" name="TextBox 8"/>
          <p:cNvSpPr txBox="1"/>
          <p:nvPr/>
        </p:nvSpPr>
        <p:spPr>
          <a:xfrm>
            <a:off x="15775128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Academy players: 50%*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Competitieminuten: 38%</a:t>
            </a:r>
          </a:p>
        </p:txBody>
      </p:sp>
      <p:sp>
        <p:nvSpPr>
          <p:cNvPr id="628" name="TextBox 16"/>
          <p:cNvSpPr txBox="1"/>
          <p:nvPr/>
        </p:nvSpPr>
        <p:spPr>
          <a:xfrm>
            <a:off x="15775128" y="9568684"/>
            <a:ext cx="3348999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3</a:t>
            </a:r>
          </a:p>
        </p:txBody>
      </p:sp>
      <p:sp>
        <p:nvSpPr>
          <p:cNvPr id="629" name="**Minimaal 3 jaar in de academy…"/>
          <p:cNvSpPr txBox="1"/>
          <p:nvPr/>
        </p:nvSpPr>
        <p:spPr>
          <a:xfrm>
            <a:off x="458653" y="12996598"/>
            <a:ext cx="484336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**Minimaal 3 jaar in de academy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(Stan, Mees, Kevin, Danny, Nick, Sheddy, TJemme, Ilias)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3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32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633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634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35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36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37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38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39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0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1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2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3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4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5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6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7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48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649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650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651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652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653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54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55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656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657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658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sp>
        <p:nvSpPr>
          <p:cNvPr id="659" name="Snelheid"/>
          <p:cNvSpPr txBox="1"/>
          <p:nvPr/>
        </p:nvSpPr>
        <p:spPr>
          <a:xfrm>
            <a:off x="16838432" y="731375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660" name="Duelkracht"/>
          <p:cNvSpPr txBox="1"/>
          <p:nvPr/>
        </p:nvSpPr>
        <p:spPr>
          <a:xfrm>
            <a:off x="16856595" y="6807672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661" name="Dribbelen met bal"/>
          <p:cNvSpPr txBox="1"/>
          <p:nvPr/>
        </p:nvSpPr>
        <p:spPr>
          <a:xfrm>
            <a:off x="16856595" y="6289566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662" name="Passing"/>
          <p:cNvSpPr txBox="1"/>
          <p:nvPr/>
        </p:nvSpPr>
        <p:spPr>
          <a:xfrm>
            <a:off x="16856595" y="5745514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663" name="Defensieve Koppen"/>
          <p:cNvSpPr txBox="1"/>
          <p:nvPr/>
        </p:nvSpPr>
        <p:spPr>
          <a:xfrm>
            <a:off x="16856595" y="5214708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Defensieve Koppen</a:t>
            </a:r>
          </a:p>
        </p:txBody>
      </p:sp>
      <p:sp>
        <p:nvSpPr>
          <p:cNvPr id="664" name="Positie kiezen (v)"/>
          <p:cNvSpPr txBox="1"/>
          <p:nvPr/>
        </p:nvSpPr>
        <p:spPr>
          <a:xfrm>
            <a:off x="16856595" y="4731517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665" name="Star"/>
          <p:cNvSpPr/>
          <p:nvPr/>
        </p:nvSpPr>
        <p:spPr>
          <a:xfrm>
            <a:off x="20512512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6" name="Star"/>
          <p:cNvSpPr/>
          <p:nvPr/>
        </p:nvSpPr>
        <p:spPr>
          <a:xfrm>
            <a:off x="20851100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7" name="Star"/>
          <p:cNvSpPr/>
          <p:nvPr/>
        </p:nvSpPr>
        <p:spPr>
          <a:xfrm>
            <a:off x="21189691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8" name="Star"/>
          <p:cNvSpPr/>
          <p:nvPr/>
        </p:nvSpPr>
        <p:spPr>
          <a:xfrm>
            <a:off x="21528279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9" name="Star"/>
          <p:cNvSpPr/>
          <p:nvPr/>
        </p:nvSpPr>
        <p:spPr>
          <a:xfrm>
            <a:off x="21862129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0" name="Star"/>
          <p:cNvSpPr/>
          <p:nvPr/>
        </p:nvSpPr>
        <p:spPr>
          <a:xfrm>
            <a:off x="2220071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1" name="Star"/>
          <p:cNvSpPr/>
          <p:nvPr/>
        </p:nvSpPr>
        <p:spPr>
          <a:xfrm>
            <a:off x="2253930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2" name="Star"/>
          <p:cNvSpPr/>
          <p:nvPr/>
        </p:nvSpPr>
        <p:spPr>
          <a:xfrm>
            <a:off x="22877896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3" name="Star"/>
          <p:cNvSpPr/>
          <p:nvPr/>
        </p:nvSpPr>
        <p:spPr>
          <a:xfrm>
            <a:off x="23212485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4" name="Star"/>
          <p:cNvSpPr/>
          <p:nvPr/>
        </p:nvSpPr>
        <p:spPr>
          <a:xfrm>
            <a:off x="23551074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5" name="Star"/>
          <p:cNvSpPr/>
          <p:nvPr/>
        </p:nvSpPr>
        <p:spPr>
          <a:xfrm>
            <a:off x="20516318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6" name="Star"/>
          <p:cNvSpPr/>
          <p:nvPr/>
        </p:nvSpPr>
        <p:spPr>
          <a:xfrm>
            <a:off x="20854906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7" name="Star"/>
          <p:cNvSpPr/>
          <p:nvPr/>
        </p:nvSpPr>
        <p:spPr>
          <a:xfrm>
            <a:off x="21193497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8" name="Star"/>
          <p:cNvSpPr/>
          <p:nvPr/>
        </p:nvSpPr>
        <p:spPr>
          <a:xfrm>
            <a:off x="21532085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9" name="Star"/>
          <p:cNvSpPr/>
          <p:nvPr/>
        </p:nvSpPr>
        <p:spPr>
          <a:xfrm>
            <a:off x="21865935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0" name="Star"/>
          <p:cNvSpPr/>
          <p:nvPr/>
        </p:nvSpPr>
        <p:spPr>
          <a:xfrm>
            <a:off x="2220452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1" name="Star"/>
          <p:cNvSpPr/>
          <p:nvPr/>
        </p:nvSpPr>
        <p:spPr>
          <a:xfrm>
            <a:off x="2254311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2" name="Star"/>
          <p:cNvSpPr/>
          <p:nvPr/>
        </p:nvSpPr>
        <p:spPr>
          <a:xfrm>
            <a:off x="22881702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3" name="Star"/>
          <p:cNvSpPr/>
          <p:nvPr/>
        </p:nvSpPr>
        <p:spPr>
          <a:xfrm>
            <a:off x="23216291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4" name="Star"/>
          <p:cNvSpPr/>
          <p:nvPr/>
        </p:nvSpPr>
        <p:spPr>
          <a:xfrm>
            <a:off x="23554880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5" name="Star"/>
          <p:cNvSpPr/>
          <p:nvPr/>
        </p:nvSpPr>
        <p:spPr>
          <a:xfrm>
            <a:off x="20521565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6" name="Star"/>
          <p:cNvSpPr/>
          <p:nvPr/>
        </p:nvSpPr>
        <p:spPr>
          <a:xfrm>
            <a:off x="20860154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7" name="Star"/>
          <p:cNvSpPr/>
          <p:nvPr/>
        </p:nvSpPr>
        <p:spPr>
          <a:xfrm>
            <a:off x="21198743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8" name="Star"/>
          <p:cNvSpPr/>
          <p:nvPr/>
        </p:nvSpPr>
        <p:spPr>
          <a:xfrm>
            <a:off x="21537331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9" name="Star"/>
          <p:cNvSpPr/>
          <p:nvPr/>
        </p:nvSpPr>
        <p:spPr>
          <a:xfrm>
            <a:off x="21871182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0" name="Star"/>
          <p:cNvSpPr/>
          <p:nvPr/>
        </p:nvSpPr>
        <p:spPr>
          <a:xfrm>
            <a:off x="22209771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1" name="Star"/>
          <p:cNvSpPr/>
          <p:nvPr/>
        </p:nvSpPr>
        <p:spPr>
          <a:xfrm>
            <a:off x="22548360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2" name="Star"/>
          <p:cNvSpPr/>
          <p:nvPr/>
        </p:nvSpPr>
        <p:spPr>
          <a:xfrm>
            <a:off x="22886948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3" name="Star"/>
          <p:cNvSpPr/>
          <p:nvPr/>
        </p:nvSpPr>
        <p:spPr>
          <a:xfrm>
            <a:off x="23221539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4" name="Star"/>
          <p:cNvSpPr/>
          <p:nvPr/>
        </p:nvSpPr>
        <p:spPr>
          <a:xfrm>
            <a:off x="23560127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5" name="Star"/>
          <p:cNvSpPr/>
          <p:nvPr/>
        </p:nvSpPr>
        <p:spPr>
          <a:xfrm>
            <a:off x="20521565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6" name="Star"/>
          <p:cNvSpPr/>
          <p:nvPr/>
        </p:nvSpPr>
        <p:spPr>
          <a:xfrm>
            <a:off x="20860154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7" name="Star"/>
          <p:cNvSpPr/>
          <p:nvPr/>
        </p:nvSpPr>
        <p:spPr>
          <a:xfrm>
            <a:off x="21198743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8" name="Star"/>
          <p:cNvSpPr/>
          <p:nvPr/>
        </p:nvSpPr>
        <p:spPr>
          <a:xfrm>
            <a:off x="21537331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9" name="Star"/>
          <p:cNvSpPr/>
          <p:nvPr/>
        </p:nvSpPr>
        <p:spPr>
          <a:xfrm>
            <a:off x="21871182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0" name="Star"/>
          <p:cNvSpPr/>
          <p:nvPr/>
        </p:nvSpPr>
        <p:spPr>
          <a:xfrm>
            <a:off x="22209771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1" name="Star"/>
          <p:cNvSpPr/>
          <p:nvPr/>
        </p:nvSpPr>
        <p:spPr>
          <a:xfrm>
            <a:off x="22548360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2" name="Star"/>
          <p:cNvSpPr/>
          <p:nvPr/>
        </p:nvSpPr>
        <p:spPr>
          <a:xfrm>
            <a:off x="22886948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3" name="Star"/>
          <p:cNvSpPr/>
          <p:nvPr/>
        </p:nvSpPr>
        <p:spPr>
          <a:xfrm>
            <a:off x="23221539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4" name="Star"/>
          <p:cNvSpPr/>
          <p:nvPr/>
        </p:nvSpPr>
        <p:spPr>
          <a:xfrm>
            <a:off x="23560127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5" name="Star"/>
          <p:cNvSpPr/>
          <p:nvPr/>
        </p:nvSpPr>
        <p:spPr>
          <a:xfrm>
            <a:off x="20521565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6" name="Star"/>
          <p:cNvSpPr/>
          <p:nvPr/>
        </p:nvSpPr>
        <p:spPr>
          <a:xfrm>
            <a:off x="20860154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7" name="Star"/>
          <p:cNvSpPr/>
          <p:nvPr/>
        </p:nvSpPr>
        <p:spPr>
          <a:xfrm>
            <a:off x="21198743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8" name="Star"/>
          <p:cNvSpPr/>
          <p:nvPr/>
        </p:nvSpPr>
        <p:spPr>
          <a:xfrm>
            <a:off x="21537331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9" name="Star"/>
          <p:cNvSpPr/>
          <p:nvPr/>
        </p:nvSpPr>
        <p:spPr>
          <a:xfrm>
            <a:off x="21871182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0" name="Star"/>
          <p:cNvSpPr/>
          <p:nvPr/>
        </p:nvSpPr>
        <p:spPr>
          <a:xfrm>
            <a:off x="22209771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1" name="Star"/>
          <p:cNvSpPr/>
          <p:nvPr/>
        </p:nvSpPr>
        <p:spPr>
          <a:xfrm>
            <a:off x="22548360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2" name="Star"/>
          <p:cNvSpPr/>
          <p:nvPr/>
        </p:nvSpPr>
        <p:spPr>
          <a:xfrm>
            <a:off x="22886948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3" name="Star"/>
          <p:cNvSpPr/>
          <p:nvPr/>
        </p:nvSpPr>
        <p:spPr>
          <a:xfrm>
            <a:off x="23221539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4" name="Star"/>
          <p:cNvSpPr/>
          <p:nvPr/>
        </p:nvSpPr>
        <p:spPr>
          <a:xfrm>
            <a:off x="23560127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5" name="Star"/>
          <p:cNvSpPr/>
          <p:nvPr/>
        </p:nvSpPr>
        <p:spPr>
          <a:xfrm>
            <a:off x="20525371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6" name="Star"/>
          <p:cNvSpPr/>
          <p:nvPr/>
        </p:nvSpPr>
        <p:spPr>
          <a:xfrm>
            <a:off x="20863960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7" name="Star"/>
          <p:cNvSpPr/>
          <p:nvPr/>
        </p:nvSpPr>
        <p:spPr>
          <a:xfrm>
            <a:off x="21202549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8" name="Star"/>
          <p:cNvSpPr/>
          <p:nvPr/>
        </p:nvSpPr>
        <p:spPr>
          <a:xfrm>
            <a:off x="21541137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9" name="Star"/>
          <p:cNvSpPr/>
          <p:nvPr/>
        </p:nvSpPr>
        <p:spPr>
          <a:xfrm>
            <a:off x="21874988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0" name="Star"/>
          <p:cNvSpPr/>
          <p:nvPr/>
        </p:nvSpPr>
        <p:spPr>
          <a:xfrm>
            <a:off x="22213577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1" name="Star"/>
          <p:cNvSpPr/>
          <p:nvPr/>
        </p:nvSpPr>
        <p:spPr>
          <a:xfrm>
            <a:off x="22552166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2" name="Star"/>
          <p:cNvSpPr/>
          <p:nvPr/>
        </p:nvSpPr>
        <p:spPr>
          <a:xfrm>
            <a:off x="22890754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3" name="Star"/>
          <p:cNvSpPr/>
          <p:nvPr/>
        </p:nvSpPr>
        <p:spPr>
          <a:xfrm>
            <a:off x="23225345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4" name="Star"/>
          <p:cNvSpPr/>
          <p:nvPr/>
        </p:nvSpPr>
        <p:spPr>
          <a:xfrm>
            <a:off x="23563933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727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725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26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730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728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29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733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731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32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736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734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35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739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737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38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742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740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41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745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743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44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748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746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47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751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749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50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754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752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53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757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755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756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758" name="Centerback nr. 03 &amp; 04"/>
          <p:cNvSpPr txBox="1"/>
          <p:nvPr/>
        </p:nvSpPr>
        <p:spPr>
          <a:xfrm>
            <a:off x="374971" y="10045556"/>
            <a:ext cx="2870201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Centerback nr. 03 &amp; 04</a:t>
            </a:r>
          </a:p>
        </p:txBody>
      </p:sp>
      <p:sp>
        <p:nvSpPr>
          <p:cNvPr id="759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760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761" name="Browse…">
            <a:hlinkClick r:id="rId4" invalidUrl="" action="ppaction://hlinksldjump" tgtFrame="" tooltip="" history="1" highlightClick="0" endSnd="0"/>
          </p:cNvPr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Foto</a:t>
            </a:r>
          </a:p>
        </p:txBody>
      </p:sp>
      <p:sp>
        <p:nvSpPr>
          <p:cNvPr id="762" name="Doorzettingsvermogen"/>
          <p:cNvSpPr txBox="1"/>
          <p:nvPr/>
        </p:nvSpPr>
        <p:spPr>
          <a:xfrm>
            <a:off x="16838432" y="7798779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763" name="Star"/>
          <p:cNvSpPr/>
          <p:nvPr/>
        </p:nvSpPr>
        <p:spPr>
          <a:xfrm>
            <a:off x="20512512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4" name="Star"/>
          <p:cNvSpPr/>
          <p:nvPr/>
        </p:nvSpPr>
        <p:spPr>
          <a:xfrm>
            <a:off x="20851100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5" name="Star"/>
          <p:cNvSpPr/>
          <p:nvPr/>
        </p:nvSpPr>
        <p:spPr>
          <a:xfrm>
            <a:off x="21189691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6" name="Star"/>
          <p:cNvSpPr/>
          <p:nvPr/>
        </p:nvSpPr>
        <p:spPr>
          <a:xfrm>
            <a:off x="21528279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7" name="Star"/>
          <p:cNvSpPr/>
          <p:nvPr/>
        </p:nvSpPr>
        <p:spPr>
          <a:xfrm>
            <a:off x="21862129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8" name="Star"/>
          <p:cNvSpPr/>
          <p:nvPr/>
        </p:nvSpPr>
        <p:spPr>
          <a:xfrm>
            <a:off x="22200717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9" name="Star"/>
          <p:cNvSpPr/>
          <p:nvPr/>
        </p:nvSpPr>
        <p:spPr>
          <a:xfrm>
            <a:off x="22539307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0" name="Star"/>
          <p:cNvSpPr/>
          <p:nvPr/>
        </p:nvSpPr>
        <p:spPr>
          <a:xfrm>
            <a:off x="22877896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1" name="Star"/>
          <p:cNvSpPr/>
          <p:nvPr/>
        </p:nvSpPr>
        <p:spPr>
          <a:xfrm>
            <a:off x="23212485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2" name="Star"/>
          <p:cNvSpPr/>
          <p:nvPr/>
        </p:nvSpPr>
        <p:spPr>
          <a:xfrm>
            <a:off x="23551074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4" name="Tabel 1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124544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CB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Vermenigvuldigingsfactor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Resultaat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Positie kiezen (V)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Defensief Koppen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Passing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Dribbelen met bal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Duelkracht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Snelheid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Doorzettings-vermogen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0.00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Centerback (l/r) #03 - #04"/>
          <p:cNvSpPr txBox="1"/>
          <p:nvPr/>
        </p:nvSpPr>
        <p:spPr>
          <a:xfrm>
            <a:off x="25682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rgbClr val="18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Centerback (l/r) #03 - #04</a:t>
            </a:r>
          </a:p>
        </p:txBody>
      </p:sp>
      <p:sp>
        <p:nvSpPr>
          <p:cNvPr id="777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78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79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80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81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2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83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84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85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86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87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88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6558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789" name="TextBox 17">
            <a:hlinkClick r:id="rId3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9976654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790" name="TextBox 1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61683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791" name="TextBox 17">
            <a:hlinkClick r:id="rId5" invalidUrl="" action="ppaction://hlinksldjump" tgtFrame="" tooltip="" history="1" highlightClick="0" endSnd="0"/>
          </p:cNvPr>
          <p:cNvSpPr txBox="1"/>
          <p:nvPr/>
        </p:nvSpPr>
        <p:spPr>
          <a:xfrm>
            <a:off x="12365868" y="615714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792" name="TextBox 17">
            <a:hlinkClick r:id="rId6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11031166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793" name="TextBox 17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997665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794" name="TextBox 17">
            <a:hlinkClick r:id="rId8" invalidUrl="" action="ppaction://hlinksldjump" tgtFrame="" tooltip="" history="1" highlightClick="0" endSnd="0"/>
          </p:cNvPr>
          <p:cNvSpPr txBox="1"/>
          <p:nvPr/>
        </p:nvSpPr>
        <p:spPr>
          <a:xfrm>
            <a:off x="2756056" y="7231498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Defensieve Koppen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TextBox 17"/>
          <p:cNvSpPr txBox="1"/>
          <p:nvPr/>
        </p:nvSpPr>
        <p:spPr>
          <a:xfrm>
            <a:off x="250909" y="1220390"/>
            <a:ext cx="588309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797" name="TextBox 30"/>
          <p:cNvSpPr txBox="1"/>
          <p:nvPr/>
        </p:nvSpPr>
        <p:spPr>
          <a:xfrm>
            <a:off x="290650" y="2112962"/>
            <a:ext cx="5778212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798" name="TextBox 31"/>
          <p:cNvSpPr txBox="1"/>
          <p:nvPr/>
        </p:nvSpPr>
        <p:spPr>
          <a:xfrm>
            <a:off x="469900" y="4585372"/>
            <a:ext cx="488760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99" name="TextBox 17"/>
          <p:cNvSpPr txBox="1"/>
          <p:nvPr/>
        </p:nvSpPr>
        <p:spPr>
          <a:xfrm>
            <a:off x="6236962" y="1218410"/>
            <a:ext cx="588309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Defensief koppen</a:t>
            </a:r>
          </a:p>
        </p:txBody>
      </p:sp>
      <p:sp>
        <p:nvSpPr>
          <p:cNvPr id="800" name="TextBox 30"/>
          <p:cNvSpPr txBox="1"/>
          <p:nvPr/>
        </p:nvSpPr>
        <p:spPr>
          <a:xfrm>
            <a:off x="6524252" y="2502190"/>
            <a:ext cx="535931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“Kopduel winnen op eigen helft/ in eigen 16m”</a:t>
            </a:r>
          </a:p>
        </p:txBody>
      </p:sp>
      <p:sp>
        <p:nvSpPr>
          <p:cNvPr id="801" name="TextBox 31"/>
          <p:cNvSpPr txBox="1"/>
          <p:nvPr/>
        </p:nvSpPr>
        <p:spPr>
          <a:xfrm>
            <a:off x="6439242" y="4585372"/>
            <a:ext cx="2750189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keuze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Duelkracht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 sprong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Slimheid / gogme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Sprongkracht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2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02" name="TextBox 30"/>
          <p:cNvSpPr txBox="1"/>
          <p:nvPr/>
        </p:nvSpPr>
        <p:spPr>
          <a:xfrm>
            <a:off x="12222267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803" name="TextBox 17"/>
          <p:cNvSpPr txBox="1"/>
          <p:nvPr/>
        </p:nvSpPr>
        <p:spPr>
          <a:xfrm>
            <a:off x="12224118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804" name="TextBox 31"/>
          <p:cNvSpPr txBox="1"/>
          <p:nvPr/>
        </p:nvSpPr>
        <p:spPr>
          <a:xfrm>
            <a:off x="12440273" y="4585372"/>
            <a:ext cx="4099713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05" name="TextBox 31"/>
          <p:cNvSpPr txBox="1"/>
          <p:nvPr/>
        </p:nvSpPr>
        <p:spPr>
          <a:xfrm>
            <a:off x="18441305" y="4585372"/>
            <a:ext cx="3780774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06" name="TextBox 30"/>
          <p:cNvSpPr txBox="1"/>
          <p:nvPr/>
        </p:nvSpPr>
        <p:spPr>
          <a:xfrm>
            <a:off x="18203191" y="2522510"/>
            <a:ext cx="5891026" cy="772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807" name="TextBox 17"/>
          <p:cNvSpPr txBox="1"/>
          <p:nvPr/>
        </p:nvSpPr>
        <p:spPr>
          <a:xfrm>
            <a:off x="18205043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808" name="TextBox 31"/>
          <p:cNvSpPr txBox="1"/>
          <p:nvPr/>
        </p:nvSpPr>
        <p:spPr>
          <a:xfrm>
            <a:off x="480211" y="10841514"/>
            <a:ext cx="391323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09" name="TextBox 30"/>
          <p:cNvSpPr txBox="1"/>
          <p:nvPr/>
        </p:nvSpPr>
        <p:spPr>
          <a:xfrm>
            <a:off x="239779" y="8561900"/>
            <a:ext cx="5891026" cy="113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810" name="TextBox 17"/>
          <p:cNvSpPr txBox="1"/>
          <p:nvPr/>
        </p:nvSpPr>
        <p:spPr>
          <a:xfrm>
            <a:off x="241631" y="745338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811" name="TextBox 31"/>
          <p:cNvSpPr txBox="1"/>
          <p:nvPr/>
        </p:nvSpPr>
        <p:spPr>
          <a:xfrm>
            <a:off x="6445592" y="10841514"/>
            <a:ext cx="3780774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12" name="TextBox 30"/>
          <p:cNvSpPr txBox="1"/>
          <p:nvPr/>
        </p:nvSpPr>
        <p:spPr>
          <a:xfrm>
            <a:off x="6231304" y="852598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813" name="TextBox 17"/>
          <p:cNvSpPr txBox="1"/>
          <p:nvPr/>
        </p:nvSpPr>
        <p:spPr>
          <a:xfrm>
            <a:off x="6233156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814" name="TextBox 17"/>
          <p:cNvSpPr txBox="1"/>
          <p:nvPr/>
        </p:nvSpPr>
        <p:spPr>
          <a:xfrm>
            <a:off x="12226282" y="7474438"/>
            <a:ext cx="588309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815" name="TextBox 30"/>
          <p:cNvSpPr txBox="1"/>
          <p:nvPr/>
        </p:nvSpPr>
        <p:spPr>
          <a:xfrm>
            <a:off x="12551671" y="8351818"/>
            <a:ext cx="5359311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816" name="TextBox 31"/>
          <p:cNvSpPr txBox="1"/>
          <p:nvPr/>
        </p:nvSpPr>
        <p:spPr>
          <a:xfrm>
            <a:off x="12446623" y="10841514"/>
            <a:ext cx="275018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819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0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1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2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3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4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5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6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7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8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829" name="FC DEN BOSCH LOGO.png" descr="FC DEN BOSCH LOGO.png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0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4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833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4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5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6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7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8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9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0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1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2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843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844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847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8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9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0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1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2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3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4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5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6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857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858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861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2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3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4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5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6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7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8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9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0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871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872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875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6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7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8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9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0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1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2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3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4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885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886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889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0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1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2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3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4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5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6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7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8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899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900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903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4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5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6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7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8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9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0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1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2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913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914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TextBox 28"/>
          <p:cNvSpPr txBox="1"/>
          <p:nvPr/>
        </p:nvSpPr>
        <p:spPr>
          <a:xfrm>
            <a:off x="15307991" y="8777643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