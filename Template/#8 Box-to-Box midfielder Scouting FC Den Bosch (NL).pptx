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Shape 8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0" name="Shape 8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tif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ssing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V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37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38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oorbij spelen tegenstander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5" name="Voorbij spelen…"/>
          <p:cNvSpPr txBox="1"/>
          <p:nvPr/>
        </p:nvSpPr>
        <p:spPr>
          <a:xfrm>
            <a:off x="19522346" y="316792"/>
            <a:ext cx="22098604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7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Voorbij spelen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7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tegenstander</a:t>
            </a:r>
          </a:p>
        </p:txBody>
      </p:sp>
      <p:sp>
        <p:nvSpPr>
          <p:cNvPr id="56" name="TextBox 30"/>
          <p:cNvSpPr txBox="1"/>
          <p:nvPr/>
        </p:nvSpPr>
        <p:spPr>
          <a:xfrm>
            <a:off x="19855643" y="2212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“Pogingen om tegenstanders voorbij te spelen met een passeer actie of een 1-2 combinatie”</a:t>
            </a:r>
          </a:p>
        </p:txBody>
      </p:sp>
      <p:sp>
        <p:nvSpPr>
          <p:cNvPr id="5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Kracht of snelheid?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Binnendoor-buitenom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Combinatiespel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A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3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(A)</a:t>
            </a:r>
          </a:p>
        </p:txBody>
      </p:sp>
      <p:sp>
        <p:nvSpPr>
          <p:cNvPr id="74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7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91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92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9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0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1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1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27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2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29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45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46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4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6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6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Passing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16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6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8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8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2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18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8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8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ling past opponen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0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0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Dribbling past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Dribbling past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opponent</a:t>
            </a:r>
          </a:p>
        </p:txBody>
      </p:sp>
      <p:sp>
        <p:nvSpPr>
          <p:cNvPr id="20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“Dribble resulting a duel, after which player remains in possession, resulting in &gt;5m forwards displacement”</a:t>
            </a:r>
          </a:p>
        </p:txBody>
      </p:sp>
      <p:sp>
        <p:nvSpPr>
          <p:cNvPr id="20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Tricks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Power or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- outside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Combination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4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1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20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22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22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3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3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24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24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2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58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26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26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76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7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79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28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9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9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29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29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0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1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12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3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314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5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18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16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17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19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0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4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6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7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2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333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334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335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336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6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7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48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49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351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2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55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53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54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56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0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1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3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4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6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7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9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370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371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372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373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lide Numb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Rectangle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Rectangle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Rectangle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Rectangle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Rectangle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Rectangle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Rectangle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412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413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414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415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416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417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418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Rectangle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Rectangle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Rectangle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Rectangle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Rectangle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Rectangle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Rectangle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Rectangle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428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429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430" name="Rectangle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Rectangle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Rectangle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Rectangle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4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435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436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437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438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439" name="Rectangle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Rectangle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Rectangle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Rectangle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Rectangle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Rectangle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Rectangle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447" name="Rectangle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449" name="Rectangle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Rectangle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Rectangle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2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453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454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455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456" name="Rectangle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7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458" name="Image" descr="Image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59" name="Rectangle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60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461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4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7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47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8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8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1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6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7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08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09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1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22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523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5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0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1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3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36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37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38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0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43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6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0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1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2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3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4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56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57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70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57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9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0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13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61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2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2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2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3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3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8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9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0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1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2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4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56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5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7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7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7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7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94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69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0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0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1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1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ideo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3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ideo 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43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4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5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6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4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758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759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760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761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762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763" name="He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765" name="Growth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767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768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769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770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771" name="Rectangle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2" name="Rectangle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3" name="Rectangle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75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6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777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778" name="Line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9" name="Line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0" name="Line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1" name="Line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7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791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792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793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794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7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80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04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05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806" name="Rectangle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17" name="Group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815" name="Rounded Rectangle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816" name="Image" descr="Image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818" name="Rectangle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9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820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0" name="Passing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1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12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" name="Naam dia"/>
          <p:cNvSpPr txBox="1"/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Naam dia</a:t>
            </a:r>
          </a:p>
        </p:txBody>
      </p:sp>
      <p:sp>
        <p:nvSpPr>
          <p:cNvPr id="14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0.png"/><Relationship Id="rId4" Type="http://schemas.openxmlformats.org/officeDocument/2006/relationships/slide" Target="slide1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833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834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35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36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37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38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9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840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41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842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43" name="TextBox 28"/>
          <p:cNvSpPr txBox="1"/>
          <p:nvPr/>
        </p:nvSpPr>
        <p:spPr>
          <a:xfrm>
            <a:off x="13106657" y="7643110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844" name="achterkant FC Den Bosch nummer 8.png" descr="achterkant FC Den Bosch nummer 8.png"/>
          <p:cNvPicPr>
            <a:picLocks noChangeAspect="1"/>
          </p:cNvPicPr>
          <p:nvPr/>
        </p:nvPicPr>
        <p:blipFill>
          <a:blip r:embed="rId2">
            <a:extLst/>
          </a:blip>
          <a:srcRect l="3345" t="0" r="3345" b="0"/>
          <a:stretch>
            <a:fillRect/>
          </a:stretch>
        </p:blipFill>
        <p:spPr>
          <a:xfrm>
            <a:off x="18600539" y="7097845"/>
            <a:ext cx="2458435" cy="263473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TextBox 21"/>
          <p:cNvSpPr txBox="1"/>
          <p:nvPr/>
        </p:nvSpPr>
        <p:spPr>
          <a:xfrm>
            <a:off x="4333035" y="1013466"/>
            <a:ext cx="15717931" cy="1244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Kernwaarden —&gt; Voetbal: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 sz="3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</a:t>
            </a:r>
            <a:r>
              <a:rPr b="0"/>
              <a:t>Strijders Die spelen om te winnen en die elke dag beter willen worden”</a:t>
            </a:r>
          </a:p>
        </p:txBody>
      </p:sp>
      <p:sp>
        <p:nvSpPr>
          <p:cNvPr id="848" name="Line"/>
          <p:cNvSpPr/>
          <p:nvPr/>
        </p:nvSpPr>
        <p:spPr>
          <a:xfrm>
            <a:off x="12152585" y="4118138"/>
            <a:ext cx="1" cy="3383270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849" name="Freeform 7"/>
          <p:cNvSpPr/>
          <p:nvPr/>
        </p:nvSpPr>
        <p:spPr>
          <a:xfrm>
            <a:off x="4473952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0" name="Rectangle"/>
          <p:cNvSpPr/>
          <p:nvPr/>
        </p:nvSpPr>
        <p:spPr>
          <a:xfrm>
            <a:off x="4506295" y="5470044"/>
            <a:ext cx="6196980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1" name="TextBox 13"/>
          <p:cNvSpPr txBox="1"/>
          <p:nvPr/>
        </p:nvSpPr>
        <p:spPr>
          <a:xfrm>
            <a:off x="4646195" y="5976140"/>
            <a:ext cx="5917180" cy="1156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1: Top-3 goals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(6th)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2: Top-3 challenge intensity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(10th)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3: Top-3 doelpogingen</a:t>
            </a:r>
            <a:r>
              <a:rPr>
                <a:solidFill>
                  <a:srgbClr val="FF2600"/>
                </a:solidFill>
              </a:rPr>
              <a:t>(12th)</a:t>
            </a:r>
          </a:p>
        </p:txBody>
      </p:sp>
      <p:sp>
        <p:nvSpPr>
          <p:cNvPr id="852" name="TextBox 16"/>
          <p:cNvSpPr txBox="1"/>
          <p:nvPr/>
        </p:nvSpPr>
        <p:spPr>
          <a:xfrm>
            <a:off x="5285314" y="4420544"/>
            <a:ext cx="4638942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Speelstijl</a:t>
            </a:r>
          </a:p>
        </p:txBody>
      </p:sp>
      <p:sp>
        <p:nvSpPr>
          <p:cNvPr id="853" name="Freeform 7"/>
          <p:cNvSpPr/>
          <p:nvPr/>
        </p:nvSpPr>
        <p:spPr>
          <a:xfrm>
            <a:off x="13682778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4" name="Rectangle"/>
          <p:cNvSpPr/>
          <p:nvPr/>
        </p:nvSpPr>
        <p:spPr>
          <a:xfrm>
            <a:off x="13680723" y="5470044"/>
            <a:ext cx="6265774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TextBox 13"/>
          <p:cNvSpPr txBox="1"/>
          <p:nvPr/>
        </p:nvSpPr>
        <p:spPr>
          <a:xfrm>
            <a:off x="14077925" y="5944025"/>
            <a:ext cx="5471371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Scouting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IDP</a:t>
            </a:r>
          </a:p>
        </p:txBody>
      </p:sp>
      <p:sp>
        <p:nvSpPr>
          <p:cNvPr id="856" name="TextBox 16"/>
          <p:cNvSpPr txBox="1"/>
          <p:nvPr/>
        </p:nvSpPr>
        <p:spPr>
          <a:xfrm>
            <a:off x="14494140" y="4420544"/>
            <a:ext cx="4638941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Profielen &amp; Begrippen</a:t>
            </a:r>
          </a:p>
        </p:txBody>
      </p:sp>
      <p:sp>
        <p:nvSpPr>
          <p:cNvPr id="857" name="Rounded Rectangle"/>
          <p:cNvSpPr/>
          <p:nvPr/>
        </p:nvSpPr>
        <p:spPr>
          <a:xfrm>
            <a:off x="5718043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8" name="Rounded Rectangle"/>
          <p:cNvSpPr/>
          <p:nvPr/>
        </p:nvSpPr>
        <p:spPr>
          <a:xfrm>
            <a:off x="6440531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9" name="Rounded Rectangle"/>
          <p:cNvSpPr/>
          <p:nvPr/>
        </p:nvSpPr>
        <p:spPr>
          <a:xfrm>
            <a:off x="716302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0" name="Rounded Rectangle"/>
          <p:cNvSpPr/>
          <p:nvPr/>
        </p:nvSpPr>
        <p:spPr>
          <a:xfrm>
            <a:off x="788551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1" name="Freeform 7"/>
          <p:cNvSpPr/>
          <p:nvPr/>
        </p:nvSpPr>
        <p:spPr>
          <a:xfrm>
            <a:off x="5155257" y="9569121"/>
            <a:ext cx="3558234" cy="1938277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2" name="Rectangle"/>
          <p:cNvSpPr/>
          <p:nvPr/>
        </p:nvSpPr>
        <p:spPr>
          <a:xfrm>
            <a:off x="5153202" y="10368234"/>
            <a:ext cx="3562343" cy="11560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3" name="TextBox 8"/>
          <p:cNvSpPr txBox="1"/>
          <p:nvPr/>
        </p:nvSpPr>
        <p:spPr>
          <a:xfrm>
            <a:off x="5253436" y="10506338"/>
            <a:ext cx="3361875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 target: +€750K</a:t>
            </a:r>
          </a:p>
          <a:p>
            <a:pPr marL="339131" indent="-339131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transfers: &gt;1M</a:t>
            </a:r>
          </a:p>
        </p:txBody>
      </p:sp>
      <p:sp>
        <p:nvSpPr>
          <p:cNvPr id="864" name="TextBox 16"/>
          <p:cNvSpPr txBox="1"/>
          <p:nvPr/>
        </p:nvSpPr>
        <p:spPr>
          <a:xfrm>
            <a:off x="5259874" y="9561502"/>
            <a:ext cx="3348999" cy="707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1</a:t>
            </a:r>
          </a:p>
        </p:txBody>
      </p:sp>
      <p:sp>
        <p:nvSpPr>
          <p:cNvPr id="865" name="Rounded Rectangle"/>
          <p:cNvSpPr/>
          <p:nvPr/>
        </p:nvSpPr>
        <p:spPr>
          <a:xfrm>
            <a:off x="10975668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6" name="Rounded Rectangle"/>
          <p:cNvSpPr/>
          <p:nvPr/>
        </p:nvSpPr>
        <p:spPr>
          <a:xfrm>
            <a:off x="11698158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7" name="Rounded Rectangle"/>
          <p:cNvSpPr/>
          <p:nvPr/>
        </p:nvSpPr>
        <p:spPr>
          <a:xfrm>
            <a:off x="12420646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8" name="Rounded Rectangle"/>
          <p:cNvSpPr/>
          <p:nvPr/>
        </p:nvSpPr>
        <p:spPr>
          <a:xfrm>
            <a:off x="13143137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9" name="Freeform 7"/>
          <p:cNvSpPr/>
          <p:nvPr/>
        </p:nvSpPr>
        <p:spPr>
          <a:xfrm>
            <a:off x="10412883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0" name="Rectangle"/>
          <p:cNvSpPr/>
          <p:nvPr/>
        </p:nvSpPr>
        <p:spPr>
          <a:xfrm>
            <a:off x="10410828" y="10375417"/>
            <a:ext cx="3562343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1" name="TextBox 8"/>
          <p:cNvSpPr txBox="1"/>
          <p:nvPr/>
        </p:nvSpPr>
        <p:spPr>
          <a:xfrm>
            <a:off x="10517501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KKD: Top 10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10e positie in de KKD</a:t>
            </a:r>
          </a:p>
        </p:txBody>
      </p:sp>
      <p:sp>
        <p:nvSpPr>
          <p:cNvPr id="872" name="TextBox 16"/>
          <p:cNvSpPr txBox="1"/>
          <p:nvPr/>
        </p:nvSpPr>
        <p:spPr>
          <a:xfrm>
            <a:off x="10517501" y="9568684"/>
            <a:ext cx="3348998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2</a:t>
            </a:r>
          </a:p>
        </p:txBody>
      </p:sp>
      <p:sp>
        <p:nvSpPr>
          <p:cNvPr id="873" name="Rounded Rectangle"/>
          <p:cNvSpPr/>
          <p:nvPr/>
        </p:nvSpPr>
        <p:spPr>
          <a:xfrm>
            <a:off x="1623329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4" name="Rounded Rectangle"/>
          <p:cNvSpPr/>
          <p:nvPr/>
        </p:nvSpPr>
        <p:spPr>
          <a:xfrm>
            <a:off x="1695578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5" name="Rounded Rectangle"/>
          <p:cNvSpPr/>
          <p:nvPr/>
        </p:nvSpPr>
        <p:spPr>
          <a:xfrm>
            <a:off x="17678271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6" name="Rounded Rectangle"/>
          <p:cNvSpPr/>
          <p:nvPr/>
        </p:nvSpPr>
        <p:spPr>
          <a:xfrm>
            <a:off x="18400762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7" name="Freeform 7"/>
          <p:cNvSpPr/>
          <p:nvPr/>
        </p:nvSpPr>
        <p:spPr>
          <a:xfrm>
            <a:off x="15670510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8" name="Rectangle"/>
          <p:cNvSpPr/>
          <p:nvPr/>
        </p:nvSpPr>
        <p:spPr>
          <a:xfrm>
            <a:off x="15668456" y="10375417"/>
            <a:ext cx="3562342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9" name="TextBox 8"/>
          <p:cNvSpPr txBox="1"/>
          <p:nvPr/>
        </p:nvSpPr>
        <p:spPr>
          <a:xfrm>
            <a:off x="15775128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Academy players: 50%*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Competitieminuten: 38%</a:t>
            </a:r>
          </a:p>
        </p:txBody>
      </p:sp>
      <p:sp>
        <p:nvSpPr>
          <p:cNvPr id="880" name="TextBox 16"/>
          <p:cNvSpPr txBox="1"/>
          <p:nvPr/>
        </p:nvSpPr>
        <p:spPr>
          <a:xfrm>
            <a:off x="15775128" y="9568684"/>
            <a:ext cx="3348999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3</a:t>
            </a:r>
          </a:p>
        </p:txBody>
      </p:sp>
      <p:sp>
        <p:nvSpPr>
          <p:cNvPr id="881" name="**Minimaal 3 jaar in de academy…"/>
          <p:cNvSpPr txBox="1"/>
          <p:nvPr/>
        </p:nvSpPr>
        <p:spPr>
          <a:xfrm>
            <a:off x="458653" y="12996598"/>
            <a:ext cx="4843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**Minimaal 3 jaar in de academy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(Stan, Mees, Kevin, Danny, Nick, Sheddy, TJemme, Ilias)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84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885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886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87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88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89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0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1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2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3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4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5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6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7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8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99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00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01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02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03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04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05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06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07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08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909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910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911" name="Duelkracht"/>
          <p:cNvSpPr txBox="1"/>
          <p:nvPr/>
        </p:nvSpPr>
        <p:spPr>
          <a:xfrm>
            <a:off x="16858499" y="6373236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912" name="Positie kiezen (A)"/>
          <p:cNvSpPr txBox="1"/>
          <p:nvPr/>
        </p:nvSpPr>
        <p:spPr>
          <a:xfrm>
            <a:off x="16858499" y="5903674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(A)</a:t>
            </a:r>
          </a:p>
        </p:txBody>
      </p:sp>
      <p:sp>
        <p:nvSpPr>
          <p:cNvPr id="913" name="Voorbijspelen tegenstander"/>
          <p:cNvSpPr txBox="1"/>
          <p:nvPr/>
        </p:nvSpPr>
        <p:spPr>
          <a:xfrm>
            <a:off x="16858499" y="5437991"/>
            <a:ext cx="3997048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Voorbijspelen tegenstander</a:t>
            </a:r>
          </a:p>
        </p:txBody>
      </p:sp>
      <p:sp>
        <p:nvSpPr>
          <p:cNvPr id="914" name="Positie kiezen (v)"/>
          <p:cNvSpPr txBox="1"/>
          <p:nvPr/>
        </p:nvSpPr>
        <p:spPr>
          <a:xfrm>
            <a:off x="16858499" y="5005513"/>
            <a:ext cx="300082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915" name="Passing"/>
          <p:cNvSpPr txBox="1"/>
          <p:nvPr/>
        </p:nvSpPr>
        <p:spPr>
          <a:xfrm>
            <a:off x="16858499" y="4564324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916" name="Star"/>
          <p:cNvSpPr/>
          <p:nvPr/>
        </p:nvSpPr>
        <p:spPr>
          <a:xfrm>
            <a:off x="20523469" y="4600445"/>
            <a:ext cx="297092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7" name="Star"/>
          <p:cNvSpPr/>
          <p:nvPr/>
        </p:nvSpPr>
        <p:spPr>
          <a:xfrm>
            <a:off x="20862058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8" name="Star"/>
          <p:cNvSpPr/>
          <p:nvPr/>
        </p:nvSpPr>
        <p:spPr>
          <a:xfrm>
            <a:off x="21200647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9" name="Star"/>
          <p:cNvSpPr/>
          <p:nvPr/>
        </p:nvSpPr>
        <p:spPr>
          <a:xfrm>
            <a:off x="21539235" y="4600445"/>
            <a:ext cx="297092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0" name="Star"/>
          <p:cNvSpPr/>
          <p:nvPr/>
        </p:nvSpPr>
        <p:spPr>
          <a:xfrm>
            <a:off x="21873086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1" name="Star"/>
          <p:cNvSpPr/>
          <p:nvPr/>
        </p:nvSpPr>
        <p:spPr>
          <a:xfrm>
            <a:off x="22211675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2" name="Star"/>
          <p:cNvSpPr/>
          <p:nvPr/>
        </p:nvSpPr>
        <p:spPr>
          <a:xfrm>
            <a:off x="22550263" y="4600445"/>
            <a:ext cx="297092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3" name="Star"/>
          <p:cNvSpPr/>
          <p:nvPr/>
        </p:nvSpPr>
        <p:spPr>
          <a:xfrm>
            <a:off x="22888852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4" name="Star"/>
          <p:cNvSpPr/>
          <p:nvPr/>
        </p:nvSpPr>
        <p:spPr>
          <a:xfrm>
            <a:off x="23223442" y="4600445"/>
            <a:ext cx="297092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5" name="Star"/>
          <p:cNvSpPr/>
          <p:nvPr/>
        </p:nvSpPr>
        <p:spPr>
          <a:xfrm>
            <a:off x="23562031" y="4600445"/>
            <a:ext cx="297091" cy="30857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928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926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27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931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929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30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934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932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33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937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935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36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940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938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39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943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941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42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946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944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45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949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947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48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52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950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1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955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953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4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958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956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7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959" name="Box-to-box midfielder #08"/>
          <p:cNvSpPr txBox="1"/>
          <p:nvPr/>
        </p:nvSpPr>
        <p:spPr>
          <a:xfrm>
            <a:off x="374971" y="10045556"/>
            <a:ext cx="4022746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Box-to-box midfielder #08</a:t>
            </a:r>
          </a:p>
        </p:txBody>
      </p:sp>
      <p:sp>
        <p:nvSpPr>
          <p:cNvPr id="960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961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962" name="Browse…">
            <a:hlinkClick r:id="rId4" invalidUrl="" action="ppaction://hlinksldjump" tgtFrame="" tooltip="" history="1" highlightClick="0" endSnd="0"/>
          </p:cNvPr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Foto</a:t>
            </a:r>
          </a:p>
        </p:txBody>
      </p:sp>
      <p:sp>
        <p:nvSpPr>
          <p:cNvPr id="963" name="Uithoudingsvermogen"/>
          <p:cNvSpPr txBox="1"/>
          <p:nvPr/>
        </p:nvSpPr>
        <p:spPr>
          <a:xfrm>
            <a:off x="16858499" y="6850803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964" name="Snelheid"/>
          <p:cNvSpPr txBox="1"/>
          <p:nvPr/>
        </p:nvSpPr>
        <p:spPr>
          <a:xfrm>
            <a:off x="16858499" y="7309980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965" name="Doorzettingsvermogen"/>
          <p:cNvSpPr txBox="1"/>
          <p:nvPr/>
        </p:nvSpPr>
        <p:spPr>
          <a:xfrm>
            <a:off x="16858499" y="7792466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966" name="Star"/>
          <p:cNvSpPr/>
          <p:nvPr/>
        </p:nvSpPr>
        <p:spPr>
          <a:xfrm>
            <a:off x="20523469" y="5031184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7" name="Star"/>
          <p:cNvSpPr/>
          <p:nvPr/>
        </p:nvSpPr>
        <p:spPr>
          <a:xfrm>
            <a:off x="20862058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8" name="Star"/>
          <p:cNvSpPr/>
          <p:nvPr/>
        </p:nvSpPr>
        <p:spPr>
          <a:xfrm>
            <a:off x="21200647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9" name="Star"/>
          <p:cNvSpPr/>
          <p:nvPr/>
        </p:nvSpPr>
        <p:spPr>
          <a:xfrm>
            <a:off x="21539235" y="5031184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0" name="Star"/>
          <p:cNvSpPr/>
          <p:nvPr/>
        </p:nvSpPr>
        <p:spPr>
          <a:xfrm>
            <a:off x="21873086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1" name="Star"/>
          <p:cNvSpPr/>
          <p:nvPr/>
        </p:nvSpPr>
        <p:spPr>
          <a:xfrm>
            <a:off x="22211675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2" name="Star"/>
          <p:cNvSpPr/>
          <p:nvPr/>
        </p:nvSpPr>
        <p:spPr>
          <a:xfrm>
            <a:off x="22550263" y="5031184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3" name="Star"/>
          <p:cNvSpPr/>
          <p:nvPr/>
        </p:nvSpPr>
        <p:spPr>
          <a:xfrm>
            <a:off x="22888852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4" name="Star"/>
          <p:cNvSpPr/>
          <p:nvPr/>
        </p:nvSpPr>
        <p:spPr>
          <a:xfrm>
            <a:off x="23223442" y="5031184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5" name="Star"/>
          <p:cNvSpPr/>
          <p:nvPr/>
        </p:nvSpPr>
        <p:spPr>
          <a:xfrm>
            <a:off x="23562031" y="5031184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6" name="Star"/>
          <p:cNvSpPr/>
          <p:nvPr/>
        </p:nvSpPr>
        <p:spPr>
          <a:xfrm>
            <a:off x="20523469" y="5491408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7" name="Star"/>
          <p:cNvSpPr/>
          <p:nvPr/>
        </p:nvSpPr>
        <p:spPr>
          <a:xfrm>
            <a:off x="20862058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8" name="Star"/>
          <p:cNvSpPr/>
          <p:nvPr/>
        </p:nvSpPr>
        <p:spPr>
          <a:xfrm>
            <a:off x="21200647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9" name="Star"/>
          <p:cNvSpPr/>
          <p:nvPr/>
        </p:nvSpPr>
        <p:spPr>
          <a:xfrm>
            <a:off x="21539235" y="5491408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0" name="Star"/>
          <p:cNvSpPr/>
          <p:nvPr/>
        </p:nvSpPr>
        <p:spPr>
          <a:xfrm>
            <a:off x="21873086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1" name="Star"/>
          <p:cNvSpPr/>
          <p:nvPr/>
        </p:nvSpPr>
        <p:spPr>
          <a:xfrm>
            <a:off x="22211675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2" name="Star"/>
          <p:cNvSpPr/>
          <p:nvPr/>
        </p:nvSpPr>
        <p:spPr>
          <a:xfrm>
            <a:off x="22550263" y="5491408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3" name="Star"/>
          <p:cNvSpPr/>
          <p:nvPr/>
        </p:nvSpPr>
        <p:spPr>
          <a:xfrm>
            <a:off x="22888852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4" name="Star"/>
          <p:cNvSpPr/>
          <p:nvPr/>
        </p:nvSpPr>
        <p:spPr>
          <a:xfrm>
            <a:off x="23223442" y="5491408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5" name="Star"/>
          <p:cNvSpPr/>
          <p:nvPr/>
        </p:nvSpPr>
        <p:spPr>
          <a:xfrm>
            <a:off x="23562031" y="5491408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6" name="Star"/>
          <p:cNvSpPr/>
          <p:nvPr/>
        </p:nvSpPr>
        <p:spPr>
          <a:xfrm>
            <a:off x="20523469" y="592214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7" name="Star"/>
          <p:cNvSpPr/>
          <p:nvPr/>
        </p:nvSpPr>
        <p:spPr>
          <a:xfrm>
            <a:off x="20862058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8" name="Star"/>
          <p:cNvSpPr/>
          <p:nvPr/>
        </p:nvSpPr>
        <p:spPr>
          <a:xfrm>
            <a:off x="21200647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9" name="Star"/>
          <p:cNvSpPr/>
          <p:nvPr/>
        </p:nvSpPr>
        <p:spPr>
          <a:xfrm>
            <a:off x="21539235" y="592214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0" name="Star"/>
          <p:cNvSpPr/>
          <p:nvPr/>
        </p:nvSpPr>
        <p:spPr>
          <a:xfrm>
            <a:off x="21873086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1" name="Star"/>
          <p:cNvSpPr/>
          <p:nvPr/>
        </p:nvSpPr>
        <p:spPr>
          <a:xfrm>
            <a:off x="22211675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2" name="Star"/>
          <p:cNvSpPr/>
          <p:nvPr/>
        </p:nvSpPr>
        <p:spPr>
          <a:xfrm>
            <a:off x="22550263" y="592214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3" name="Star"/>
          <p:cNvSpPr/>
          <p:nvPr/>
        </p:nvSpPr>
        <p:spPr>
          <a:xfrm>
            <a:off x="22888852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4" name="Star"/>
          <p:cNvSpPr/>
          <p:nvPr/>
        </p:nvSpPr>
        <p:spPr>
          <a:xfrm>
            <a:off x="23223442" y="592214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5" name="Star"/>
          <p:cNvSpPr/>
          <p:nvPr/>
        </p:nvSpPr>
        <p:spPr>
          <a:xfrm>
            <a:off x="23562031" y="592214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6" name="Star"/>
          <p:cNvSpPr/>
          <p:nvPr/>
        </p:nvSpPr>
        <p:spPr>
          <a:xfrm>
            <a:off x="20523469" y="6414622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7" name="Star"/>
          <p:cNvSpPr/>
          <p:nvPr/>
        </p:nvSpPr>
        <p:spPr>
          <a:xfrm>
            <a:off x="20862058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8" name="Star"/>
          <p:cNvSpPr/>
          <p:nvPr/>
        </p:nvSpPr>
        <p:spPr>
          <a:xfrm>
            <a:off x="21200647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9" name="Star"/>
          <p:cNvSpPr/>
          <p:nvPr/>
        </p:nvSpPr>
        <p:spPr>
          <a:xfrm>
            <a:off x="21539235" y="6414622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0" name="Star"/>
          <p:cNvSpPr/>
          <p:nvPr/>
        </p:nvSpPr>
        <p:spPr>
          <a:xfrm>
            <a:off x="21873086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1" name="Star"/>
          <p:cNvSpPr/>
          <p:nvPr/>
        </p:nvSpPr>
        <p:spPr>
          <a:xfrm>
            <a:off x="22211675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2" name="Star"/>
          <p:cNvSpPr/>
          <p:nvPr/>
        </p:nvSpPr>
        <p:spPr>
          <a:xfrm>
            <a:off x="22550263" y="6414622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3" name="Star"/>
          <p:cNvSpPr/>
          <p:nvPr/>
        </p:nvSpPr>
        <p:spPr>
          <a:xfrm>
            <a:off x="22888852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4" name="Star"/>
          <p:cNvSpPr/>
          <p:nvPr/>
        </p:nvSpPr>
        <p:spPr>
          <a:xfrm>
            <a:off x="23223442" y="6414622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5" name="Star"/>
          <p:cNvSpPr/>
          <p:nvPr/>
        </p:nvSpPr>
        <p:spPr>
          <a:xfrm>
            <a:off x="23562031" y="6414622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6" name="Star"/>
          <p:cNvSpPr/>
          <p:nvPr/>
        </p:nvSpPr>
        <p:spPr>
          <a:xfrm>
            <a:off x="20523469" y="6858060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7" name="Star"/>
          <p:cNvSpPr/>
          <p:nvPr/>
        </p:nvSpPr>
        <p:spPr>
          <a:xfrm>
            <a:off x="20862058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8" name="Star"/>
          <p:cNvSpPr/>
          <p:nvPr/>
        </p:nvSpPr>
        <p:spPr>
          <a:xfrm>
            <a:off x="21200647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9" name="Star"/>
          <p:cNvSpPr/>
          <p:nvPr/>
        </p:nvSpPr>
        <p:spPr>
          <a:xfrm>
            <a:off x="21539235" y="6858060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0" name="Star"/>
          <p:cNvSpPr/>
          <p:nvPr/>
        </p:nvSpPr>
        <p:spPr>
          <a:xfrm>
            <a:off x="21873086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1" name="Star"/>
          <p:cNvSpPr/>
          <p:nvPr/>
        </p:nvSpPr>
        <p:spPr>
          <a:xfrm>
            <a:off x="22211675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2" name="Star"/>
          <p:cNvSpPr/>
          <p:nvPr/>
        </p:nvSpPr>
        <p:spPr>
          <a:xfrm>
            <a:off x="22550263" y="6858060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3" name="Star"/>
          <p:cNvSpPr/>
          <p:nvPr/>
        </p:nvSpPr>
        <p:spPr>
          <a:xfrm>
            <a:off x="22888852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4" name="Star"/>
          <p:cNvSpPr/>
          <p:nvPr/>
        </p:nvSpPr>
        <p:spPr>
          <a:xfrm>
            <a:off x="23223442" y="6858060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5" name="Star"/>
          <p:cNvSpPr/>
          <p:nvPr/>
        </p:nvSpPr>
        <p:spPr>
          <a:xfrm>
            <a:off x="23562031" y="6858060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6" name="Star"/>
          <p:cNvSpPr/>
          <p:nvPr/>
        </p:nvSpPr>
        <p:spPr>
          <a:xfrm>
            <a:off x="20523469" y="7330985"/>
            <a:ext cx="297092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7" name="Star"/>
          <p:cNvSpPr/>
          <p:nvPr/>
        </p:nvSpPr>
        <p:spPr>
          <a:xfrm>
            <a:off x="20862058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8" name="Star"/>
          <p:cNvSpPr/>
          <p:nvPr/>
        </p:nvSpPr>
        <p:spPr>
          <a:xfrm>
            <a:off x="21200647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9" name="Star"/>
          <p:cNvSpPr/>
          <p:nvPr/>
        </p:nvSpPr>
        <p:spPr>
          <a:xfrm>
            <a:off x="21539235" y="7330985"/>
            <a:ext cx="297092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0" name="Star"/>
          <p:cNvSpPr/>
          <p:nvPr/>
        </p:nvSpPr>
        <p:spPr>
          <a:xfrm>
            <a:off x="21873086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1" name="Star"/>
          <p:cNvSpPr/>
          <p:nvPr/>
        </p:nvSpPr>
        <p:spPr>
          <a:xfrm>
            <a:off x="22211675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2" name="Star"/>
          <p:cNvSpPr/>
          <p:nvPr/>
        </p:nvSpPr>
        <p:spPr>
          <a:xfrm>
            <a:off x="22550263" y="7330985"/>
            <a:ext cx="297092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3" name="Star"/>
          <p:cNvSpPr/>
          <p:nvPr/>
        </p:nvSpPr>
        <p:spPr>
          <a:xfrm>
            <a:off x="22888852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4" name="Star"/>
          <p:cNvSpPr/>
          <p:nvPr/>
        </p:nvSpPr>
        <p:spPr>
          <a:xfrm>
            <a:off x="23223442" y="7330985"/>
            <a:ext cx="297092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5" name="Star"/>
          <p:cNvSpPr/>
          <p:nvPr/>
        </p:nvSpPr>
        <p:spPr>
          <a:xfrm>
            <a:off x="23562031" y="7330985"/>
            <a:ext cx="297091" cy="308576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6" name="Star"/>
          <p:cNvSpPr/>
          <p:nvPr/>
        </p:nvSpPr>
        <p:spPr>
          <a:xfrm>
            <a:off x="20523469" y="782250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7" name="Star"/>
          <p:cNvSpPr/>
          <p:nvPr/>
        </p:nvSpPr>
        <p:spPr>
          <a:xfrm>
            <a:off x="20862058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8" name="Star"/>
          <p:cNvSpPr/>
          <p:nvPr/>
        </p:nvSpPr>
        <p:spPr>
          <a:xfrm>
            <a:off x="21200647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9" name="Star"/>
          <p:cNvSpPr/>
          <p:nvPr/>
        </p:nvSpPr>
        <p:spPr>
          <a:xfrm>
            <a:off x="21539235" y="782250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0" name="Star"/>
          <p:cNvSpPr/>
          <p:nvPr/>
        </p:nvSpPr>
        <p:spPr>
          <a:xfrm>
            <a:off x="21873086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1" name="Star"/>
          <p:cNvSpPr/>
          <p:nvPr/>
        </p:nvSpPr>
        <p:spPr>
          <a:xfrm>
            <a:off x="22211675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Star"/>
          <p:cNvSpPr/>
          <p:nvPr/>
        </p:nvSpPr>
        <p:spPr>
          <a:xfrm>
            <a:off x="22550263" y="782250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Star"/>
          <p:cNvSpPr/>
          <p:nvPr/>
        </p:nvSpPr>
        <p:spPr>
          <a:xfrm>
            <a:off x="22888852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Star"/>
          <p:cNvSpPr/>
          <p:nvPr/>
        </p:nvSpPr>
        <p:spPr>
          <a:xfrm>
            <a:off x="23223442" y="7822507"/>
            <a:ext cx="297092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Star"/>
          <p:cNvSpPr/>
          <p:nvPr/>
        </p:nvSpPr>
        <p:spPr>
          <a:xfrm>
            <a:off x="23562031" y="7822507"/>
            <a:ext cx="297091" cy="30857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Table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951537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BtB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(V)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Voorbij spelen tegenstander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(A)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Duelkracht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Uithoudings-vermogen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Snelheid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Doorzettings-vermogen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95153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Box-to-box midfielder #08"/>
          <p:cNvSpPr txBox="1"/>
          <p:nvPr/>
        </p:nvSpPr>
        <p:spPr>
          <a:xfrm>
            <a:off x="51590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Box-to-box midfielder #08</a:t>
            </a:r>
          </a:p>
        </p:txBody>
      </p:sp>
      <p:sp>
        <p:nvSpPr>
          <p:cNvPr id="1040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41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042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43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44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45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46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47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48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49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50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051" name="TextBox 17"/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1052" name="TextBox 17"/>
          <p:cNvSpPr txBox="1"/>
          <p:nvPr/>
        </p:nvSpPr>
        <p:spPr>
          <a:xfrm>
            <a:off x="2655883" y="9783837"/>
            <a:ext cx="4370793" cy="708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Voorbijspelen tegenstander</a:t>
            </a:r>
          </a:p>
        </p:txBody>
      </p:sp>
      <p:sp>
        <p:nvSpPr>
          <p:cNvPr id="1053" name="TextBox 17"/>
          <p:cNvSpPr txBox="1"/>
          <p:nvPr/>
        </p:nvSpPr>
        <p:spPr>
          <a:xfrm>
            <a:off x="12414285" y="6163591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054" name="TextBox 17"/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1055" name="TextBox 17"/>
          <p:cNvSpPr txBox="1"/>
          <p:nvPr/>
        </p:nvSpPr>
        <p:spPr>
          <a:xfrm>
            <a:off x="2700811" y="7220021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1056" name="TextBox 17"/>
          <p:cNvSpPr txBox="1"/>
          <p:nvPr/>
        </p:nvSpPr>
        <p:spPr>
          <a:xfrm>
            <a:off x="7588917" y="7212448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1057" name="TextBox 17"/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058" name="TextBox 17"/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TextBox 31"/>
          <p:cNvSpPr txBox="1"/>
          <p:nvPr/>
        </p:nvSpPr>
        <p:spPr>
          <a:xfrm>
            <a:off x="469900" y="4585372"/>
            <a:ext cx="4887608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61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1062" name="TextBox 17"/>
          <p:cNvSpPr txBox="1"/>
          <p:nvPr/>
        </p:nvSpPr>
        <p:spPr>
          <a:xfrm>
            <a:off x="242426" y="12263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1063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64" name="TextBox 17"/>
          <p:cNvSpPr txBox="1"/>
          <p:nvPr/>
        </p:nvSpPr>
        <p:spPr>
          <a:xfrm>
            <a:off x="6232610" y="1220390"/>
            <a:ext cx="588309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1065" name="TextBox 30"/>
          <p:cNvSpPr txBox="1"/>
          <p:nvPr/>
        </p:nvSpPr>
        <p:spPr>
          <a:xfrm>
            <a:off x="6272350" y="2112962"/>
            <a:ext cx="5778212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1066" name="TextBox 17"/>
          <p:cNvSpPr txBox="1"/>
          <p:nvPr/>
        </p:nvSpPr>
        <p:spPr>
          <a:xfrm>
            <a:off x="12228616" y="1017190"/>
            <a:ext cx="5883091" cy="949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7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Voorbij spelen tegenstander</a:t>
            </a:r>
          </a:p>
        </p:txBody>
      </p:sp>
      <p:sp>
        <p:nvSpPr>
          <p:cNvPr id="1067" name="TextBox 30"/>
          <p:cNvSpPr txBox="1"/>
          <p:nvPr/>
        </p:nvSpPr>
        <p:spPr>
          <a:xfrm>
            <a:off x="12290952" y="2316162"/>
            <a:ext cx="5778212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“Pogingen om tegenstanders voorbij te spelen met een passeer actie of een 1-2 combinatie”</a:t>
            </a:r>
          </a:p>
        </p:txBody>
      </p:sp>
      <p:sp>
        <p:nvSpPr>
          <p:cNvPr id="1068" name="TextBox 31"/>
          <p:cNvSpPr txBox="1"/>
          <p:nvPr/>
        </p:nvSpPr>
        <p:spPr>
          <a:xfrm>
            <a:off x="124209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Kracht of snelheid?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Binnendoor-buitenom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Combinatiespel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69" name="TextBox 31"/>
          <p:cNvSpPr txBox="1"/>
          <p:nvPr/>
        </p:nvSpPr>
        <p:spPr>
          <a:xfrm>
            <a:off x="18441305" y="4585372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0" name="TextBox 30"/>
          <p:cNvSpPr txBox="1"/>
          <p:nvPr/>
        </p:nvSpPr>
        <p:spPr>
          <a:xfrm>
            <a:off x="18203191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1071" name="TextBox 17"/>
          <p:cNvSpPr txBox="1"/>
          <p:nvPr/>
        </p:nvSpPr>
        <p:spPr>
          <a:xfrm>
            <a:off x="18205043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(A)</a:t>
            </a:r>
          </a:p>
        </p:txBody>
      </p:sp>
      <p:sp>
        <p:nvSpPr>
          <p:cNvPr id="1072" name="TextBox 31"/>
          <p:cNvSpPr txBox="1"/>
          <p:nvPr/>
        </p:nvSpPr>
        <p:spPr>
          <a:xfrm>
            <a:off x="480211" y="1084151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3" name="TextBox 30"/>
          <p:cNvSpPr txBox="1"/>
          <p:nvPr/>
        </p:nvSpPr>
        <p:spPr>
          <a:xfrm>
            <a:off x="239779" y="8561900"/>
            <a:ext cx="5891026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1074" name="TextBox 17"/>
          <p:cNvSpPr txBox="1"/>
          <p:nvPr/>
        </p:nvSpPr>
        <p:spPr>
          <a:xfrm>
            <a:off x="241631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1075" name="TextBox 17"/>
          <p:cNvSpPr txBox="1"/>
          <p:nvPr/>
        </p:nvSpPr>
        <p:spPr>
          <a:xfrm>
            <a:off x="6249662" y="7474438"/>
            <a:ext cx="58830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1076" name="TextBox 30"/>
          <p:cNvSpPr txBox="1"/>
          <p:nvPr/>
        </p:nvSpPr>
        <p:spPr>
          <a:xfrm>
            <a:off x="6536952" y="8758218"/>
            <a:ext cx="5359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077" name="TextBox 31"/>
          <p:cNvSpPr txBox="1"/>
          <p:nvPr/>
        </p:nvSpPr>
        <p:spPr>
          <a:xfrm>
            <a:off x="6445592" y="10841514"/>
            <a:ext cx="2750189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8" name="TextBox 31"/>
          <p:cNvSpPr txBox="1"/>
          <p:nvPr/>
        </p:nvSpPr>
        <p:spPr>
          <a:xfrm>
            <a:off x="12446623" y="10841514"/>
            <a:ext cx="4087013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9" name="TextBox 30"/>
          <p:cNvSpPr txBox="1"/>
          <p:nvPr/>
        </p:nvSpPr>
        <p:spPr>
          <a:xfrm>
            <a:off x="12221471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080" name="TextBox 17"/>
          <p:cNvSpPr txBox="1"/>
          <p:nvPr/>
        </p:nvSpPr>
        <p:spPr>
          <a:xfrm>
            <a:off x="12223323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081" name="TextBox 17"/>
          <p:cNvSpPr txBox="1"/>
          <p:nvPr/>
        </p:nvSpPr>
        <p:spPr>
          <a:xfrm>
            <a:off x="18222179" y="7474438"/>
            <a:ext cx="585769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082" name="TextBox 30"/>
          <p:cNvSpPr txBox="1"/>
          <p:nvPr/>
        </p:nvSpPr>
        <p:spPr>
          <a:xfrm>
            <a:off x="18522168" y="8351818"/>
            <a:ext cx="5359311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083" name="TextBox 31"/>
          <p:cNvSpPr txBox="1"/>
          <p:nvPr/>
        </p:nvSpPr>
        <p:spPr>
          <a:xfrm>
            <a:off x="18447655" y="10841514"/>
            <a:ext cx="275018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86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7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8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9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0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1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2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3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4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5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96" name="FC DEN BOSCH LOGO.png" descr="FC DEN BOSCH LOGO.png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7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4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00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1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2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3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4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5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6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7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8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9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10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11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14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5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6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7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8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9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0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1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2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3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24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25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28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9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0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1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2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3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4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5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6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7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38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39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42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3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4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5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6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7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8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9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0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1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52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53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56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7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8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9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0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1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2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3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4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5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66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67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70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1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2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3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4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5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6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7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8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9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80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81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84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5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6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7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8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9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0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1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2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3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94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95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TextBox 28"/>
          <p:cNvSpPr txBox="1"/>
          <p:nvPr/>
        </p:nvSpPr>
        <p:spPr>
          <a:xfrm>
            <a:off x="15307991" y="8777643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