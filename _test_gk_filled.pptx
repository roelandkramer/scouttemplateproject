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1.tif" ContentType="image/tif"/>
  <Override PartName="/ppt/media/image2.tif" ContentType="image/tif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3" name="Shape 103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1.ti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1.ti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ti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Relationship Id="rId3" Type="http://schemas.openxmlformats.org/officeDocument/2006/relationships/image" Target="../media/image4.png"/><Relationship Id="rId4" Type="http://schemas.openxmlformats.org/officeDocument/2006/relationships/image" Target="../media/image1.t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t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EN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Rectangle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" name="Line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" name="Line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5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6" name="Rectangle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FOOTBALL</a:t>
            </a:r>
          </a:p>
        </p:txBody>
      </p:sp>
      <p:sp>
        <p:nvSpPr>
          <p:cNvPr id="38" name="Rectangle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" name="Rectangle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42" name="Group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40" name="Rounded Rectangle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41" name="Image" descr="Image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43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" name="Line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8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NEEDS</a:t>
            </a:r>
          </a:p>
        </p:txBody>
      </p:sp>
      <p:sp>
        <p:nvSpPr>
          <p:cNvPr id="57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PREFENCES</a:t>
            </a:r>
          </a:p>
        </p:txBody>
      </p:sp>
      <p:sp>
        <p:nvSpPr>
          <p:cNvPr id="58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physical</a:t>
            </a:r>
          </a:p>
        </p:txBody>
      </p:sp>
      <p:sp>
        <p:nvSpPr>
          <p:cNvPr id="59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PERSONALITY</a:t>
            </a:r>
          </a:p>
        </p:txBody>
      </p:sp>
      <p:sp>
        <p:nvSpPr>
          <p:cNvPr id="60" name="Line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Rectangle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" name="Line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1" name="Line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72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73" name="Rectangle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4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VOETBAL</a:t>
            </a:r>
          </a:p>
        </p:txBody>
      </p:sp>
      <p:sp>
        <p:nvSpPr>
          <p:cNvPr id="75" name="Rectangle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6" name="Rectangle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79" name="Group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77" name="Rounded Rectangle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78" name="Image" descr="Image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80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" name="Line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5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8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0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BEHOEFTEN</a:t>
            </a:r>
          </a:p>
        </p:txBody>
      </p:sp>
      <p:sp>
        <p:nvSpPr>
          <p:cNvPr id="94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VOORKEUR</a:t>
            </a:r>
          </a:p>
        </p:txBody>
      </p:sp>
      <p:sp>
        <p:nvSpPr>
          <p:cNvPr id="95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FYSIEK</a:t>
            </a:r>
          </a:p>
        </p:txBody>
      </p:sp>
      <p:sp>
        <p:nvSpPr>
          <p:cNvPr id="96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PERSOONLIJKHEID</a:t>
            </a:r>
          </a:p>
        </p:txBody>
      </p:sp>
      <p:sp>
        <p:nvSpPr>
          <p:cNvPr id="97" name="Line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lide Number"/>
          <p:cNvSpPr txBox="1"/>
          <p:nvPr>
            <p:ph type="sldNum" sz="quarter" idx="2"/>
          </p:nvPr>
        </p:nvSpPr>
        <p:spPr>
          <a:xfrm>
            <a:off x="12051322" y="12344399"/>
            <a:ext cx="1969479" cy="736601"/>
          </a:xfrm>
          <a:prstGeom prst="rect">
            <a:avLst/>
          </a:prstGeom>
        </p:spPr>
        <p:txBody>
          <a:bodyPr lIns="12660" tIns="12660" rIns="12660" bIns="12660" anchor="ctr"/>
          <a:lstStyle>
            <a:lvl1pPr algn="r" defTabSz="126609">
              <a:defRPr sz="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3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7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4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"/>
          <p:cNvSpPr/>
          <p:nvPr/>
        </p:nvSpPr>
        <p:spPr>
          <a:xfrm>
            <a:off x="228588" y="9285347"/>
            <a:ext cx="7296900" cy="415911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" name="Rectangle"/>
          <p:cNvSpPr/>
          <p:nvPr/>
        </p:nvSpPr>
        <p:spPr>
          <a:xfrm>
            <a:off x="16452494" y="4482161"/>
            <a:ext cx="7806637" cy="3843630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" name="Rectangle"/>
          <p:cNvSpPr/>
          <p:nvPr/>
        </p:nvSpPr>
        <p:spPr>
          <a:xfrm>
            <a:off x="7857335" y="8533674"/>
            <a:ext cx="8290361" cy="492066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" name="Rectangle"/>
          <p:cNvSpPr/>
          <p:nvPr/>
        </p:nvSpPr>
        <p:spPr>
          <a:xfrm>
            <a:off x="16452494" y="8534379"/>
            <a:ext cx="7806637" cy="491925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" name="Rectangle"/>
          <p:cNvSpPr/>
          <p:nvPr/>
        </p:nvSpPr>
        <p:spPr>
          <a:xfrm>
            <a:off x="16452494" y="238399"/>
            <a:ext cx="7806637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2" name="Rectangle"/>
          <p:cNvSpPr/>
          <p:nvPr/>
        </p:nvSpPr>
        <p:spPr>
          <a:xfrm>
            <a:off x="7815068" y="4485154"/>
            <a:ext cx="3971648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3" name="Rectangle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" name="Rectangle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5" name="TextBox 38"/>
          <p:cNvSpPr txBox="1"/>
          <p:nvPr/>
        </p:nvSpPr>
        <p:spPr>
          <a:xfrm>
            <a:off x="891013" y="17960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Date of birth</a:t>
            </a:r>
          </a:p>
        </p:txBody>
      </p:sp>
      <p:sp>
        <p:nvSpPr>
          <p:cNvPr id="136" name="TextBox 38"/>
          <p:cNvSpPr txBox="1"/>
          <p:nvPr/>
        </p:nvSpPr>
        <p:spPr>
          <a:xfrm>
            <a:off x="891013" y="25563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City of Birth </a:t>
            </a:r>
          </a:p>
        </p:txBody>
      </p:sp>
      <p:sp>
        <p:nvSpPr>
          <p:cNvPr id="137" name="TextBox 38"/>
          <p:cNvSpPr txBox="1"/>
          <p:nvPr/>
        </p:nvSpPr>
        <p:spPr>
          <a:xfrm>
            <a:off x="123369" y="3288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Nationality</a:t>
            </a:r>
          </a:p>
        </p:txBody>
      </p:sp>
      <p:sp>
        <p:nvSpPr>
          <p:cNvPr id="138" name="TextBox 38"/>
          <p:cNvSpPr txBox="1"/>
          <p:nvPr/>
        </p:nvSpPr>
        <p:spPr>
          <a:xfrm>
            <a:off x="891013" y="40809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139" name="TextBox 38"/>
          <p:cNvSpPr txBox="1"/>
          <p:nvPr/>
        </p:nvSpPr>
        <p:spPr>
          <a:xfrm>
            <a:off x="891013" y="48066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Preferred foot</a:t>
            </a:r>
          </a:p>
        </p:txBody>
      </p:sp>
      <p:sp>
        <p:nvSpPr>
          <p:cNvPr id="140" name="TextBox 38"/>
          <p:cNvSpPr txBox="1"/>
          <p:nvPr/>
        </p:nvSpPr>
        <p:spPr>
          <a:xfrm>
            <a:off x="891013" y="55710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141" name="TextBox 38"/>
          <p:cNvSpPr txBox="1"/>
          <p:nvPr/>
        </p:nvSpPr>
        <p:spPr>
          <a:xfrm>
            <a:off x="891013" y="62641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League</a:t>
            </a:r>
          </a:p>
        </p:txBody>
      </p:sp>
      <p:sp>
        <p:nvSpPr>
          <p:cNvPr id="142" name="Freeform 5"/>
          <p:cNvSpPr/>
          <p:nvPr/>
        </p:nvSpPr>
        <p:spPr>
          <a:xfrm>
            <a:off x="1391022" y="1783354"/>
            <a:ext cx="5347679" cy="25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" name="Rectangle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" name="Rectangle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5" name="Rectangle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6" name="Rectangle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7" name="Rectangle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" name="Rectangle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" name="Rectangle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0" name="Rectangle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1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152" name="TextBox 41"/>
          <p:cNvSpPr txBox="1"/>
          <p:nvPr/>
        </p:nvSpPr>
        <p:spPr>
          <a:xfrm>
            <a:off x="7997574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RATING</a:t>
            </a:r>
          </a:p>
        </p:txBody>
      </p:sp>
      <p:sp>
        <p:nvSpPr>
          <p:cNvPr id="153" name="TextBox 46"/>
          <p:cNvSpPr txBox="1"/>
          <p:nvPr/>
        </p:nvSpPr>
        <p:spPr>
          <a:xfrm>
            <a:off x="16850858" y="1036124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value</a:t>
            </a:r>
          </a:p>
        </p:txBody>
      </p:sp>
      <p:sp>
        <p:nvSpPr>
          <p:cNvPr id="154" name="Rectangle"/>
          <p:cNvSpPr/>
          <p:nvPr/>
        </p:nvSpPr>
        <p:spPr>
          <a:xfrm>
            <a:off x="19705480" y="11071458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" name="Rectangle"/>
          <p:cNvSpPr/>
          <p:nvPr/>
        </p:nvSpPr>
        <p:spPr>
          <a:xfrm>
            <a:off x="19705480" y="11818374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" name="Rectangle"/>
          <p:cNvSpPr/>
          <p:nvPr/>
        </p:nvSpPr>
        <p:spPr>
          <a:xfrm>
            <a:off x="19705480" y="12548075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" name="Rectangle"/>
          <p:cNvSpPr/>
          <p:nvPr/>
        </p:nvSpPr>
        <p:spPr>
          <a:xfrm>
            <a:off x="18197104" y="397811"/>
            <a:ext cx="5799755" cy="3717054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" name="TextBox 43"/>
          <p:cNvSpPr txBox="1"/>
          <p:nvPr/>
        </p:nvSpPr>
        <p:spPr>
          <a:xfrm>
            <a:off x="11203802" y="334915"/>
            <a:ext cx="213896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CURRENT SEASON</a:t>
            </a:r>
          </a:p>
        </p:txBody>
      </p:sp>
      <p:sp>
        <p:nvSpPr>
          <p:cNvPr id="159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CAREER</a:t>
            </a:r>
          </a:p>
        </p:txBody>
      </p:sp>
      <p:sp>
        <p:nvSpPr>
          <p:cNvPr id="160" name="TextBox 46"/>
          <p:cNvSpPr txBox="1"/>
          <p:nvPr/>
        </p:nvSpPr>
        <p:spPr>
          <a:xfrm>
            <a:off x="16766170" y="8728014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details</a:t>
            </a:r>
          </a:p>
        </p:txBody>
      </p:sp>
      <p:sp>
        <p:nvSpPr>
          <p:cNvPr id="161" name="TextBox 45"/>
          <p:cNvSpPr txBox="1"/>
          <p:nvPr/>
        </p:nvSpPr>
        <p:spPr>
          <a:xfrm>
            <a:off x="16681484" y="388073"/>
            <a:ext cx="174382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Scouting</a:t>
            </a:r>
          </a:p>
        </p:txBody>
      </p:sp>
      <p:sp>
        <p:nvSpPr>
          <p:cNvPr id="162" name="TextBox 47"/>
          <p:cNvSpPr txBox="1"/>
          <p:nvPr/>
        </p:nvSpPr>
        <p:spPr>
          <a:xfrm>
            <a:off x="8044076" y="86523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sp>
        <p:nvSpPr>
          <p:cNvPr id="163" name="Rectangle"/>
          <p:cNvSpPr/>
          <p:nvPr/>
        </p:nvSpPr>
        <p:spPr>
          <a:xfrm>
            <a:off x="3602054" y="2095922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4" name="Rectangle"/>
          <p:cNvSpPr/>
          <p:nvPr/>
        </p:nvSpPr>
        <p:spPr>
          <a:xfrm>
            <a:off x="3602054" y="284964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5" name="Rectangle"/>
          <p:cNvSpPr/>
          <p:nvPr/>
        </p:nvSpPr>
        <p:spPr>
          <a:xfrm>
            <a:off x="3602054" y="3607060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6" name="Rectangle"/>
          <p:cNvSpPr/>
          <p:nvPr/>
        </p:nvSpPr>
        <p:spPr>
          <a:xfrm>
            <a:off x="3602054" y="436447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7" name="Rectangle"/>
          <p:cNvSpPr/>
          <p:nvPr/>
        </p:nvSpPr>
        <p:spPr>
          <a:xfrm>
            <a:off x="3602054" y="5118199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8" name="Rectangle"/>
          <p:cNvSpPr/>
          <p:nvPr/>
        </p:nvSpPr>
        <p:spPr>
          <a:xfrm>
            <a:off x="3602054" y="5861842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" name="Rectangle"/>
          <p:cNvSpPr/>
          <p:nvPr/>
        </p:nvSpPr>
        <p:spPr>
          <a:xfrm>
            <a:off x="3602054" y="6609877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" name="TextBox 38"/>
          <p:cNvSpPr txBox="1"/>
          <p:nvPr/>
        </p:nvSpPr>
        <p:spPr>
          <a:xfrm>
            <a:off x="890861" y="6999515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Agency</a:t>
            </a:r>
          </a:p>
        </p:txBody>
      </p:sp>
      <p:sp>
        <p:nvSpPr>
          <p:cNvPr id="171" name="Rectangle"/>
          <p:cNvSpPr/>
          <p:nvPr/>
        </p:nvSpPr>
        <p:spPr>
          <a:xfrm>
            <a:off x="3601902" y="7345231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2" name="TextBox 38"/>
          <p:cNvSpPr txBox="1"/>
          <p:nvPr/>
        </p:nvSpPr>
        <p:spPr>
          <a:xfrm>
            <a:off x="890861" y="7733610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173" name="Rectangle"/>
          <p:cNvSpPr/>
          <p:nvPr/>
        </p:nvSpPr>
        <p:spPr>
          <a:xfrm>
            <a:off x="3601902" y="8079326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" name="Rectangle"/>
          <p:cNvSpPr/>
          <p:nvPr/>
        </p:nvSpPr>
        <p:spPr>
          <a:xfrm>
            <a:off x="19705480" y="10315740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5" name="Rectangle"/>
          <p:cNvSpPr/>
          <p:nvPr/>
        </p:nvSpPr>
        <p:spPr>
          <a:xfrm>
            <a:off x="19717846" y="9560023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6" name="TextBox 46"/>
          <p:cNvSpPr txBox="1"/>
          <p:nvPr/>
        </p:nvSpPr>
        <p:spPr>
          <a:xfrm>
            <a:off x="16850858" y="12641529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Next step</a:t>
            </a:r>
          </a:p>
        </p:txBody>
      </p:sp>
      <p:sp>
        <p:nvSpPr>
          <p:cNvPr id="177" name="TextBox 46"/>
          <p:cNvSpPr txBox="1"/>
          <p:nvPr/>
        </p:nvSpPr>
        <p:spPr>
          <a:xfrm>
            <a:off x="16850858" y="11884115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2</a:t>
            </a:r>
          </a:p>
        </p:txBody>
      </p:sp>
      <p:sp>
        <p:nvSpPr>
          <p:cNvPr id="178" name="TextBox 46"/>
          <p:cNvSpPr txBox="1"/>
          <p:nvPr/>
        </p:nvSpPr>
        <p:spPr>
          <a:xfrm>
            <a:off x="16850858" y="11101413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</a:p>
        </p:txBody>
      </p:sp>
      <p:sp>
        <p:nvSpPr>
          <p:cNvPr id="179" name="TextBox 46"/>
          <p:cNvSpPr txBox="1"/>
          <p:nvPr/>
        </p:nvSpPr>
        <p:spPr>
          <a:xfrm>
            <a:off x="16850858" y="961506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End of contract</a:t>
            </a:r>
          </a:p>
        </p:txBody>
      </p:sp>
      <p:sp>
        <p:nvSpPr>
          <p:cNvPr id="180" name="Rectangle"/>
          <p:cNvSpPr/>
          <p:nvPr/>
        </p:nvSpPr>
        <p:spPr>
          <a:xfrm>
            <a:off x="12133781" y="4485154"/>
            <a:ext cx="3980337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" name="TextBox 41"/>
          <p:cNvSpPr txBox="1"/>
          <p:nvPr/>
        </p:nvSpPr>
        <p:spPr>
          <a:xfrm>
            <a:off x="12316287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AVAILABILITY</a:t>
            </a:r>
          </a:p>
        </p:txBody>
      </p:sp>
      <p:pic>
        <p:nvPicPr>
          <p:cNvPr id="182" name="Image" descr="Image"/>
          <p:cNvPicPr>
            <a:picLocks noChangeAspect="1"/>
          </p:cNvPicPr>
          <p:nvPr/>
        </p:nvPicPr>
        <p:blipFill>
          <a:blip r:embed="rId3">
            <a:alphaModFix amt="85000"/>
            <a:extLst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407241" y="9341001"/>
            <a:ext cx="2808750" cy="4047809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84" name="TextBox 41"/>
          <p:cNvSpPr txBox="1"/>
          <p:nvPr/>
        </p:nvSpPr>
        <p:spPr>
          <a:xfrm>
            <a:off x="407134" y="9496137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PLAYERS PROFILE</a:t>
            </a:r>
          </a:p>
        </p:txBody>
      </p:sp>
      <p:sp>
        <p:nvSpPr>
          <p:cNvPr id="185" name="TextBox 31"/>
          <p:cNvSpPr txBox="1"/>
          <p:nvPr/>
        </p:nvSpPr>
        <p:spPr>
          <a:xfrm>
            <a:off x="389737" y="11554262"/>
            <a:ext cx="2152563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Total Distance: 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HI-runs: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Sprints: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Top speed:</a:t>
            </a:r>
          </a:p>
        </p:txBody>
      </p:sp>
      <p:sp>
        <p:nvSpPr>
          <p:cNvPr id="1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4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5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6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7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98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199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2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3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4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7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9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1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12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13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14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6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7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8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19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0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1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2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3" name="Freeform 7"/>
          <p:cNvSpPr/>
          <p:nvPr/>
        </p:nvSpPr>
        <p:spPr>
          <a:xfrm>
            <a:off x="18234941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4" name="Freeform 7"/>
          <p:cNvSpPr/>
          <p:nvPr/>
        </p:nvSpPr>
        <p:spPr>
          <a:xfrm>
            <a:off x="18234147" y="1016289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5" name="Freeform 7"/>
          <p:cNvSpPr/>
          <p:nvPr/>
        </p:nvSpPr>
        <p:spPr>
          <a:xfrm>
            <a:off x="18234941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6" name="Freeform 7"/>
          <p:cNvSpPr/>
          <p:nvPr/>
        </p:nvSpPr>
        <p:spPr>
          <a:xfrm>
            <a:off x="18234941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7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8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9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0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1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32" name="TextBox 20"/>
          <p:cNvSpPr txBox="1"/>
          <p:nvPr/>
        </p:nvSpPr>
        <p:spPr>
          <a:xfrm>
            <a:off x="18450666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33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8 vakjes kopie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2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3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4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5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46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247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8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9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0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1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2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3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4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5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6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7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8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9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60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61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62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3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4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5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6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67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8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9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0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1" name="Freeform 7"/>
          <p:cNvSpPr/>
          <p:nvPr/>
        </p:nvSpPr>
        <p:spPr>
          <a:xfrm>
            <a:off x="18234941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2" name="Freeform 7"/>
          <p:cNvSpPr/>
          <p:nvPr/>
        </p:nvSpPr>
        <p:spPr>
          <a:xfrm>
            <a:off x="18234147" y="1016289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3" name="Freeform 7"/>
          <p:cNvSpPr/>
          <p:nvPr/>
        </p:nvSpPr>
        <p:spPr>
          <a:xfrm>
            <a:off x="18234941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4" name="Freeform 7"/>
          <p:cNvSpPr/>
          <p:nvPr/>
        </p:nvSpPr>
        <p:spPr>
          <a:xfrm>
            <a:off x="18234941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5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6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7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8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9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80" name="TextBox 20"/>
          <p:cNvSpPr txBox="1"/>
          <p:nvPr/>
        </p:nvSpPr>
        <p:spPr>
          <a:xfrm>
            <a:off x="18450666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81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7 vakjes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0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1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2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3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94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295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6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7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8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9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0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1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2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3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4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5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6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7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08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09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10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1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2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3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4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15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6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7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8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9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0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1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2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3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24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7 vakjes (EN)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3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4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5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6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337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338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9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0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1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2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3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4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5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6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7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8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9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0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351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352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353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4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5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6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7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358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9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0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1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2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3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4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5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6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367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3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6 vakjes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6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7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8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9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80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381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2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3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4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5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6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7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8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9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0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1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2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3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94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95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96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7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8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9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0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01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2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3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4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5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6 vakjes (EN)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4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5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6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7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18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419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0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1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2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3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4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5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6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7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8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9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0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1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32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33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34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5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6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7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8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39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0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1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2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3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Uithoudingsvermogen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52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3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4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5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5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7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5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59" name="Uithoudings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Uithoudings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vermogen</a:t>
            </a:r>
          </a:p>
        </p:txBody>
      </p:sp>
      <p:sp>
        <p:nvSpPr>
          <p:cNvPr id="460" name="TextBox 30"/>
          <p:cNvSpPr txBox="1"/>
          <p:nvPr/>
        </p:nvSpPr>
        <p:spPr>
          <a:xfrm>
            <a:off x="19792143" y="2397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“Volhouden van de positie specifieke voetbalacties”</a:t>
            </a:r>
          </a:p>
        </p:txBody>
      </p:sp>
      <p:sp>
        <p:nvSpPr>
          <p:cNvPr id="461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90 min volhouden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Gemiddelde p/w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4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oorkomen vs verdedigen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70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1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2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3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7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5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7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77" name="Voorkomen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Voorkomen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vs verdedigen</a:t>
            </a:r>
          </a:p>
        </p:txBody>
      </p:sp>
      <p:sp>
        <p:nvSpPr>
          <p:cNvPr id="478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“Lezen, anticiperen en reageren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op 1vs1, diepte bespelen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 flankballen”</a:t>
            </a:r>
          </a:p>
        </p:txBody>
      </p:sp>
      <p:sp>
        <p:nvSpPr>
          <p:cNvPr id="479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 kiezen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Coaching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Keuzes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Vervolg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48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al verwerking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88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89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0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1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9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3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9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95" name="BAL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BAL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Verwerking</a:t>
            </a:r>
          </a:p>
        </p:txBody>
      </p:sp>
      <p:sp>
        <p:nvSpPr>
          <p:cNvPr id="496" name="TextBox 30"/>
          <p:cNvSpPr txBox="1"/>
          <p:nvPr/>
        </p:nvSpPr>
        <p:spPr>
          <a:xfrm>
            <a:off x="19792143" y="2523458"/>
            <a:ext cx="415983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“Uittrappen, passen en gooien”</a:t>
            </a:r>
          </a:p>
        </p:txBody>
      </p:sp>
      <p:sp>
        <p:nvSpPr>
          <p:cNvPr id="497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van acties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passes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-59"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 / armen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&amp; hoogte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49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Wendbaarheid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06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7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8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9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1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1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1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13" name="wendbaarheid"/>
          <p:cNvSpPr txBox="1"/>
          <p:nvPr/>
        </p:nvSpPr>
        <p:spPr>
          <a:xfrm>
            <a:off x="19522346" y="1015292"/>
            <a:ext cx="22098604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wendbaarheid</a:t>
            </a:r>
          </a:p>
        </p:txBody>
      </p:sp>
      <p:sp>
        <p:nvSpPr>
          <p:cNvPr id="514" name="TextBox 30"/>
          <p:cNvSpPr txBox="1"/>
          <p:nvPr/>
        </p:nvSpPr>
        <p:spPr>
          <a:xfrm>
            <a:off x="19792143" y="2271998"/>
            <a:ext cx="4159834" cy="782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“Snel en effectief de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lichaamspositie- en richting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kunnen veranderen”</a:t>
            </a:r>
          </a:p>
        </p:txBody>
      </p:sp>
      <p:sp>
        <p:nvSpPr>
          <p:cNvPr id="515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(Reactie) 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Voetenwerk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Balans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Zwaartepunt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Richtingsverandering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Moed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24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5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6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7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2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9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31" name="MOED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MOED</a:t>
            </a:r>
          </a:p>
        </p:txBody>
      </p:sp>
      <p:sp>
        <p:nvSpPr>
          <p:cNvPr id="532" name="TextBox 30"/>
          <p:cNvSpPr txBox="1"/>
          <p:nvPr/>
        </p:nvSpPr>
        <p:spPr>
          <a:xfrm>
            <a:off x="19792143" y="2397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“Heeft veel vertrouwen in eigen kwaliteiten (lef / durf)”</a:t>
            </a:r>
          </a:p>
        </p:txBody>
      </p:sp>
      <p:sp>
        <p:nvSpPr>
          <p:cNvPr id="533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Initiatief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Risico’s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Vrijheid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Verrassen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Creativiteit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Vrijuit spelen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Zelfvertrouwen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verstoorbaarheid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42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3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4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5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4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7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4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49" name="Onverstoor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Onverstoor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baarheid</a:t>
            </a:r>
          </a:p>
        </p:txBody>
      </p:sp>
      <p:sp>
        <p:nvSpPr>
          <p:cNvPr id="550" name="TextBox 30"/>
          <p:cNvSpPr txBox="1"/>
          <p:nvPr/>
        </p:nvSpPr>
        <p:spPr>
          <a:xfrm>
            <a:off x="19792143" y="2383758"/>
            <a:ext cx="415983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“Voert zijn taken uit ongeacht de omstandigheden”</a:t>
            </a:r>
          </a:p>
        </p:txBody>
      </p:sp>
      <p:sp>
        <p:nvSpPr>
          <p:cNvPr id="551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Stabiel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Beïnvloeden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Solide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Bewust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Reactie na een fout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Omgaan met stress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Handling (N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60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61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62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63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6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5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6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67" name="Handling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Handling</a:t>
            </a:r>
          </a:p>
        </p:txBody>
      </p:sp>
      <p:sp>
        <p:nvSpPr>
          <p:cNvPr id="568" name="TextBox 30"/>
          <p:cNvSpPr txBox="1"/>
          <p:nvPr/>
        </p:nvSpPr>
        <p:spPr>
          <a:xfrm>
            <a:off x="19792143" y="2523458"/>
            <a:ext cx="415983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“Houdt veel ballen tegen”</a:t>
            </a:r>
          </a:p>
        </p:txBody>
      </p:sp>
      <p:sp>
        <p:nvSpPr>
          <p:cNvPr id="569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de 16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Buiten de 16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 op 1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Standaard situaties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 kiezen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handl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78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79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80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81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8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584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85" name="Handling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Handling</a:t>
            </a:r>
          </a:p>
        </p:txBody>
      </p:sp>
      <p:sp>
        <p:nvSpPr>
          <p:cNvPr id="586" name="TextBox 30"/>
          <p:cNvSpPr txBox="1"/>
          <p:nvPr/>
        </p:nvSpPr>
        <p:spPr>
          <a:xfrm>
            <a:off x="19792143" y="2523458"/>
            <a:ext cx="415983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“Defending a lot of balls</a:t>
            </a:r>
          </a:p>
        </p:txBody>
      </p:sp>
      <p:sp>
        <p:nvSpPr>
          <p:cNvPr id="58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Inside 16m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Outside 16m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One on ones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Set pieces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reventie vs defending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5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96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97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98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99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0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1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602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03" name="Prevention vs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Prevention vs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defending</a:t>
            </a:r>
          </a:p>
        </p:txBody>
      </p:sp>
      <p:sp>
        <p:nvSpPr>
          <p:cNvPr id="604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Reading, anticipating and reacting to 1v1 situations, dealing with through balls and crosses.</a:t>
            </a:r>
          </a:p>
        </p:txBody>
      </p:sp>
      <p:sp>
        <p:nvSpPr>
          <p:cNvPr id="605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Coaching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Decision making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Follow-up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istibu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614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15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16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17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1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9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620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21" name="Distribution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Distribution</a:t>
            </a:r>
          </a:p>
        </p:txBody>
      </p:sp>
      <p:sp>
        <p:nvSpPr>
          <p:cNvPr id="622" name="TextBox 30"/>
          <p:cNvSpPr txBox="1"/>
          <p:nvPr/>
        </p:nvSpPr>
        <p:spPr>
          <a:xfrm>
            <a:off x="19792143" y="2523458"/>
            <a:ext cx="415983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Kicking, passing and throwing</a:t>
            </a:r>
          </a:p>
        </p:txBody>
      </p:sp>
      <p:sp>
        <p:nvSpPr>
          <p:cNvPr id="623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Inside 16m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Outside 16m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One on ones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Set pieces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gilit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632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33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34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35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3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7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638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39" name="Agilit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Agility</a:t>
            </a:r>
          </a:p>
        </p:txBody>
      </p:sp>
      <p:sp>
        <p:nvSpPr>
          <p:cNvPr id="640" name="TextBox 30"/>
          <p:cNvSpPr txBox="1"/>
          <p:nvPr/>
        </p:nvSpPr>
        <p:spPr>
          <a:xfrm>
            <a:off x="19792143" y="2104358"/>
            <a:ext cx="4159834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“Quickly change direction, accelerate, and control body movement while maintaining balance”</a:t>
            </a:r>
          </a:p>
        </p:txBody>
      </p:sp>
      <p:sp>
        <p:nvSpPr>
          <p:cNvPr id="641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Reaction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Footwork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Balance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Center of gravity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Change of direction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rave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650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51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52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53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5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5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656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57" name="Braver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Bravery</a:t>
            </a:r>
          </a:p>
        </p:txBody>
      </p:sp>
      <p:sp>
        <p:nvSpPr>
          <p:cNvPr id="658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“The willingness to face physical challenges, difficult situations, or potential contact without fear”</a:t>
            </a:r>
          </a:p>
        </p:txBody>
      </p:sp>
      <p:sp>
        <p:nvSpPr>
          <p:cNvPr id="659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Initiative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Taking risks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Freedom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Surprising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Creativity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Confident after mistakes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rgbClr val="173883"/>
              </a:buClr>
              <a:buSzPct val="100000"/>
              <a:buFont typeface="Times Roman"/>
              <a:buChar char="•"/>
              <a:defRPr sz="2000">
                <a:solidFill>
                  <a:srgbClr val="17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sisten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668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69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0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1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7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674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75" name="Consistenc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Consistency</a:t>
            </a:r>
          </a:p>
        </p:txBody>
      </p:sp>
      <p:sp>
        <p:nvSpPr>
          <p:cNvPr id="676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“Perform at a similar level of quality repeatedly over time, across matches or actions”</a:t>
            </a:r>
          </a:p>
        </p:txBody>
      </p:sp>
      <p:sp>
        <p:nvSpPr>
          <p:cNvPr id="67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Steady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Influential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Solid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Conscious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React after mistakes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Dealing with stress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 2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88" name="Group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686" name="Rounded Rectangle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687" name="Image" descr="Image"/>
            <p:cNvPicPr>
              <a:picLocks noChangeAspect="1"/>
            </p:cNvPicPr>
            <p:nvPr/>
          </p:nvPicPr>
          <p:blipFill>
            <a:blip r:embed="rId3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689" name="Rectangle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0" name="TextBox 28"/>
          <p:cNvSpPr txBox="1"/>
          <p:nvPr/>
        </p:nvSpPr>
        <p:spPr>
          <a:xfrm>
            <a:off x="9228608" y="5951167"/>
            <a:ext cx="6159931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WELKOM</a:t>
            </a:r>
          </a:p>
        </p:txBody>
      </p:sp>
      <p:pic>
        <p:nvPicPr>
          <p:cNvPr id="691" name="FC DEN BOSCH LOGO.png" descr="FC DEN BOSCH LOGO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692" name="Afbeelding" descr="Afbeeldi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93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6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6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702" name="CLub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703" name="Line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704" name="TextBox 21"/>
          <p:cNvSpPr txBox="1"/>
          <p:nvPr/>
        </p:nvSpPr>
        <p:spPr>
          <a:xfrm>
            <a:off x="5171907" y="1741291"/>
            <a:ext cx="15078763" cy="5207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Bossche club, een Bosschenaar is trots op onze stad en club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strijdbaar, we buigen wel, maar barsten niet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Met heel ons hart staan we achter FC Den Bosch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Hier leren we van tegenslagen om vervolgens samen te groeien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hartverwarmende Bossche club, voor iedereen</a:t>
            </a:r>
          </a:p>
        </p:txBody>
      </p:sp>
      <p:pic>
        <p:nvPicPr>
          <p:cNvPr id="705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706" name="geplakte-afbeelding.pdf" descr="geplakte-afbeelding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707" name="Heart"/>
          <p:cNvSpPr/>
          <p:nvPr/>
        </p:nvSpPr>
        <p:spPr>
          <a:xfrm>
            <a:off x="12037284" y="9582878"/>
            <a:ext cx="1791039" cy="1582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6" h="21433" fill="norm" stroke="1" extrusionOk="0">
                <a:moveTo>
                  <a:pt x="5838" y="8"/>
                </a:moveTo>
                <a:cubicBezTo>
                  <a:pt x="3712" y="114"/>
                  <a:pt x="158" y="1891"/>
                  <a:pt x="2" y="7232"/>
                </a:cubicBezTo>
                <a:cubicBezTo>
                  <a:pt x="-54" y="9134"/>
                  <a:pt x="1253" y="14877"/>
                  <a:pt x="10702" y="21433"/>
                </a:cubicBezTo>
                <a:cubicBezTo>
                  <a:pt x="20130" y="14892"/>
                  <a:pt x="21546" y="9139"/>
                  <a:pt x="21505" y="7232"/>
                </a:cubicBezTo>
                <a:cubicBezTo>
                  <a:pt x="21391" y="1889"/>
                  <a:pt x="17806" y="115"/>
                  <a:pt x="15669" y="8"/>
                </a:cubicBezTo>
                <a:cubicBezTo>
                  <a:pt x="12170" y="-167"/>
                  <a:pt x="10753" y="2729"/>
                  <a:pt x="10753" y="2729"/>
                </a:cubicBezTo>
                <a:cubicBezTo>
                  <a:pt x="10753" y="2729"/>
                  <a:pt x="9337" y="-167"/>
                  <a:pt x="5838" y="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8" name="Hartstocht"/>
          <p:cNvSpPr txBox="1"/>
          <p:nvPr/>
        </p:nvSpPr>
        <p:spPr>
          <a:xfrm>
            <a:off x="11012435" y="8175049"/>
            <a:ext cx="3840739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Hartstocht</a:t>
            </a:r>
          </a:p>
        </p:txBody>
      </p:sp>
      <p:sp>
        <p:nvSpPr>
          <p:cNvPr id="709" name="Growth"/>
          <p:cNvSpPr/>
          <p:nvPr/>
        </p:nvSpPr>
        <p:spPr>
          <a:xfrm>
            <a:off x="16601766" y="9575118"/>
            <a:ext cx="1878982" cy="1453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6" h="21598" fill="norm" stroke="1" extrusionOk="0">
                <a:moveTo>
                  <a:pt x="21464" y="6"/>
                </a:moveTo>
                <a:cubicBezTo>
                  <a:pt x="21442" y="-2"/>
                  <a:pt x="21417" y="-2"/>
                  <a:pt x="21392" y="8"/>
                </a:cubicBezTo>
                <a:lnTo>
                  <a:pt x="18267" y="1242"/>
                </a:lnTo>
                <a:cubicBezTo>
                  <a:pt x="18161" y="1283"/>
                  <a:pt x="18132" y="1450"/>
                  <a:pt x="18212" y="1547"/>
                </a:cubicBezTo>
                <a:lnTo>
                  <a:pt x="18753" y="2202"/>
                </a:lnTo>
                <a:cubicBezTo>
                  <a:pt x="18809" y="2274"/>
                  <a:pt x="18815" y="2386"/>
                  <a:pt x="18759" y="2459"/>
                </a:cubicBezTo>
                <a:lnTo>
                  <a:pt x="13208" y="10155"/>
                </a:lnTo>
                <a:cubicBezTo>
                  <a:pt x="13152" y="10227"/>
                  <a:pt x="13058" y="10235"/>
                  <a:pt x="13002" y="10155"/>
                </a:cubicBezTo>
                <a:lnTo>
                  <a:pt x="9056" y="4932"/>
                </a:lnTo>
                <a:cubicBezTo>
                  <a:pt x="9000" y="4859"/>
                  <a:pt x="8907" y="4859"/>
                  <a:pt x="8851" y="4932"/>
                </a:cubicBezTo>
                <a:lnTo>
                  <a:pt x="39" y="17166"/>
                </a:lnTo>
                <a:cubicBezTo>
                  <a:pt x="-17" y="17238"/>
                  <a:pt x="-11" y="17350"/>
                  <a:pt x="45" y="17423"/>
                </a:cubicBezTo>
                <a:lnTo>
                  <a:pt x="941" y="18503"/>
                </a:lnTo>
                <a:cubicBezTo>
                  <a:pt x="997" y="18576"/>
                  <a:pt x="1084" y="18568"/>
                  <a:pt x="1140" y="18495"/>
                </a:cubicBezTo>
                <a:lnTo>
                  <a:pt x="8877" y="7770"/>
                </a:lnTo>
                <a:cubicBezTo>
                  <a:pt x="8933" y="7697"/>
                  <a:pt x="9025" y="7689"/>
                  <a:pt x="9081" y="7770"/>
                </a:cubicBezTo>
                <a:lnTo>
                  <a:pt x="13047" y="13016"/>
                </a:lnTo>
                <a:cubicBezTo>
                  <a:pt x="13103" y="13096"/>
                  <a:pt x="13201" y="13089"/>
                  <a:pt x="13251" y="13008"/>
                </a:cubicBezTo>
                <a:lnTo>
                  <a:pt x="13706" y="12315"/>
                </a:lnTo>
                <a:lnTo>
                  <a:pt x="19848" y="3796"/>
                </a:lnTo>
                <a:cubicBezTo>
                  <a:pt x="19904" y="3723"/>
                  <a:pt x="19992" y="3716"/>
                  <a:pt x="20048" y="3788"/>
                </a:cubicBezTo>
                <a:lnTo>
                  <a:pt x="20589" y="4441"/>
                </a:lnTo>
                <a:cubicBezTo>
                  <a:pt x="20670" y="4537"/>
                  <a:pt x="20802" y="4490"/>
                  <a:pt x="20826" y="4353"/>
                </a:cubicBezTo>
                <a:lnTo>
                  <a:pt x="21560" y="235"/>
                </a:lnTo>
                <a:cubicBezTo>
                  <a:pt x="21583" y="126"/>
                  <a:pt x="21533" y="30"/>
                  <a:pt x="21464" y="6"/>
                </a:cubicBezTo>
                <a:close/>
                <a:moveTo>
                  <a:pt x="20260" y="5385"/>
                </a:moveTo>
                <a:cubicBezTo>
                  <a:pt x="20232" y="5392"/>
                  <a:pt x="20204" y="5410"/>
                  <a:pt x="20179" y="5440"/>
                </a:cubicBezTo>
                <a:lnTo>
                  <a:pt x="17857" y="8656"/>
                </a:lnTo>
                <a:lnTo>
                  <a:pt x="17347" y="9429"/>
                </a:lnTo>
                <a:cubicBezTo>
                  <a:pt x="17328" y="9462"/>
                  <a:pt x="17316" y="9510"/>
                  <a:pt x="17316" y="9550"/>
                </a:cubicBezTo>
                <a:lnTo>
                  <a:pt x="17316" y="21412"/>
                </a:lnTo>
                <a:cubicBezTo>
                  <a:pt x="17316" y="21516"/>
                  <a:pt x="17377" y="21598"/>
                  <a:pt x="17458" y="21598"/>
                </a:cubicBezTo>
                <a:lnTo>
                  <a:pt x="20290" y="21598"/>
                </a:lnTo>
                <a:cubicBezTo>
                  <a:pt x="20371" y="21598"/>
                  <a:pt x="20434" y="21516"/>
                  <a:pt x="20434" y="21412"/>
                </a:cubicBezTo>
                <a:lnTo>
                  <a:pt x="20434" y="5561"/>
                </a:lnTo>
                <a:cubicBezTo>
                  <a:pt x="20434" y="5440"/>
                  <a:pt x="20346" y="5364"/>
                  <a:pt x="20260" y="5385"/>
                </a:cubicBezTo>
                <a:close/>
                <a:moveTo>
                  <a:pt x="9174" y="9548"/>
                </a:moveTo>
                <a:cubicBezTo>
                  <a:pt x="9094" y="9530"/>
                  <a:pt x="9007" y="9606"/>
                  <a:pt x="9007" y="9727"/>
                </a:cubicBezTo>
                <a:lnTo>
                  <a:pt x="9007" y="21412"/>
                </a:lnTo>
                <a:cubicBezTo>
                  <a:pt x="9007" y="21516"/>
                  <a:pt x="9068" y="21598"/>
                  <a:pt x="9149" y="21598"/>
                </a:cubicBezTo>
                <a:lnTo>
                  <a:pt x="11981" y="21598"/>
                </a:lnTo>
                <a:cubicBezTo>
                  <a:pt x="12062" y="21598"/>
                  <a:pt x="12125" y="21516"/>
                  <a:pt x="12125" y="21412"/>
                </a:cubicBezTo>
                <a:lnTo>
                  <a:pt x="12125" y="13474"/>
                </a:lnTo>
                <a:cubicBezTo>
                  <a:pt x="12125" y="13426"/>
                  <a:pt x="12113" y="13386"/>
                  <a:pt x="12082" y="13345"/>
                </a:cubicBezTo>
                <a:lnTo>
                  <a:pt x="9250" y="9598"/>
                </a:lnTo>
                <a:cubicBezTo>
                  <a:pt x="9228" y="9570"/>
                  <a:pt x="9201" y="9554"/>
                  <a:pt x="9174" y="9548"/>
                </a:cubicBezTo>
                <a:close/>
                <a:moveTo>
                  <a:pt x="16102" y="10653"/>
                </a:moveTo>
                <a:cubicBezTo>
                  <a:pt x="16074" y="10659"/>
                  <a:pt x="16045" y="10676"/>
                  <a:pt x="16021" y="10704"/>
                </a:cubicBezTo>
                <a:lnTo>
                  <a:pt x="13700" y="13917"/>
                </a:lnTo>
                <a:lnTo>
                  <a:pt x="13189" y="14693"/>
                </a:lnTo>
                <a:cubicBezTo>
                  <a:pt x="13170" y="14725"/>
                  <a:pt x="13158" y="14773"/>
                  <a:pt x="13158" y="14814"/>
                </a:cubicBezTo>
                <a:lnTo>
                  <a:pt x="13158" y="21412"/>
                </a:lnTo>
                <a:cubicBezTo>
                  <a:pt x="13158" y="21516"/>
                  <a:pt x="13221" y="21598"/>
                  <a:pt x="13301" y="21598"/>
                </a:cubicBezTo>
                <a:lnTo>
                  <a:pt x="16133" y="21598"/>
                </a:lnTo>
                <a:cubicBezTo>
                  <a:pt x="16214" y="21598"/>
                  <a:pt x="16275" y="21516"/>
                  <a:pt x="16275" y="21412"/>
                </a:cubicBezTo>
                <a:lnTo>
                  <a:pt x="16275" y="10832"/>
                </a:lnTo>
                <a:cubicBezTo>
                  <a:pt x="16275" y="10711"/>
                  <a:pt x="16188" y="10636"/>
                  <a:pt x="16102" y="10653"/>
                </a:cubicBezTo>
                <a:close/>
                <a:moveTo>
                  <a:pt x="7801" y="10923"/>
                </a:moveTo>
                <a:cubicBezTo>
                  <a:pt x="7774" y="10930"/>
                  <a:pt x="7747" y="10946"/>
                  <a:pt x="7725" y="10976"/>
                </a:cubicBezTo>
                <a:lnTo>
                  <a:pt x="4894" y="14902"/>
                </a:lnTo>
                <a:cubicBezTo>
                  <a:pt x="4869" y="14934"/>
                  <a:pt x="4855" y="14974"/>
                  <a:pt x="4855" y="15023"/>
                </a:cubicBezTo>
                <a:lnTo>
                  <a:pt x="4855" y="21412"/>
                </a:lnTo>
                <a:cubicBezTo>
                  <a:pt x="4855" y="21516"/>
                  <a:pt x="4918" y="21598"/>
                  <a:pt x="4999" y="21598"/>
                </a:cubicBezTo>
                <a:lnTo>
                  <a:pt x="7830" y="21598"/>
                </a:lnTo>
                <a:cubicBezTo>
                  <a:pt x="7911" y="21598"/>
                  <a:pt x="7974" y="21516"/>
                  <a:pt x="7974" y="21412"/>
                </a:cubicBezTo>
                <a:lnTo>
                  <a:pt x="7974" y="11097"/>
                </a:lnTo>
                <a:cubicBezTo>
                  <a:pt x="7974" y="10976"/>
                  <a:pt x="7884" y="10902"/>
                  <a:pt x="7801" y="10923"/>
                </a:cubicBezTo>
                <a:close/>
                <a:moveTo>
                  <a:pt x="3680" y="16498"/>
                </a:moveTo>
                <a:cubicBezTo>
                  <a:pt x="3652" y="16505"/>
                  <a:pt x="3626" y="16524"/>
                  <a:pt x="3604" y="16554"/>
                </a:cubicBezTo>
                <a:lnTo>
                  <a:pt x="772" y="20477"/>
                </a:lnTo>
                <a:cubicBezTo>
                  <a:pt x="747" y="20510"/>
                  <a:pt x="735" y="20550"/>
                  <a:pt x="735" y="20598"/>
                </a:cubicBezTo>
                <a:lnTo>
                  <a:pt x="735" y="21412"/>
                </a:lnTo>
                <a:cubicBezTo>
                  <a:pt x="735" y="21516"/>
                  <a:pt x="798" y="21598"/>
                  <a:pt x="879" y="21598"/>
                </a:cubicBezTo>
                <a:lnTo>
                  <a:pt x="3711" y="21598"/>
                </a:lnTo>
                <a:cubicBezTo>
                  <a:pt x="3792" y="21598"/>
                  <a:pt x="3853" y="21516"/>
                  <a:pt x="3853" y="21412"/>
                </a:cubicBezTo>
                <a:lnTo>
                  <a:pt x="3853" y="16682"/>
                </a:lnTo>
                <a:cubicBezTo>
                  <a:pt x="3853" y="16555"/>
                  <a:pt x="3762" y="16478"/>
                  <a:pt x="3680" y="1649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0" name="Groei"/>
          <p:cNvSpPr txBox="1"/>
          <p:nvPr/>
        </p:nvSpPr>
        <p:spPr>
          <a:xfrm>
            <a:off x="16444772" y="8175049"/>
            <a:ext cx="1999735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Groei</a:t>
            </a:r>
          </a:p>
        </p:txBody>
      </p:sp>
      <p:sp>
        <p:nvSpPr>
          <p:cNvPr id="711" name="Bosch"/>
          <p:cNvSpPr txBox="1"/>
          <p:nvPr/>
        </p:nvSpPr>
        <p:spPr>
          <a:xfrm>
            <a:off x="1511459" y="8175049"/>
            <a:ext cx="2207202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Bosch</a:t>
            </a:r>
          </a:p>
        </p:txBody>
      </p:sp>
      <p:sp>
        <p:nvSpPr>
          <p:cNvPr id="712" name="Strijdbaar"/>
          <p:cNvSpPr txBox="1"/>
          <p:nvPr/>
        </p:nvSpPr>
        <p:spPr>
          <a:xfrm>
            <a:off x="5860490" y="8175049"/>
            <a:ext cx="356034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Strijdbaar</a:t>
            </a:r>
          </a:p>
        </p:txBody>
      </p:sp>
      <p:sp>
        <p:nvSpPr>
          <p:cNvPr id="713" name="Gastvrij"/>
          <p:cNvSpPr txBox="1"/>
          <p:nvPr/>
        </p:nvSpPr>
        <p:spPr>
          <a:xfrm>
            <a:off x="20229340" y="8175049"/>
            <a:ext cx="291413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Gastvrij</a:t>
            </a:r>
          </a:p>
        </p:txBody>
      </p:sp>
      <p:pic>
        <p:nvPicPr>
          <p:cNvPr id="714" name="png-clipart-handshake-others-blue-hand.png" descr="png-clipart-handshake-others-blue-hand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427039" y="9537758"/>
            <a:ext cx="2518735" cy="1528033"/>
          </a:xfrm>
          <a:prstGeom prst="rect">
            <a:avLst/>
          </a:prstGeom>
          <a:ln w="12700">
            <a:miter lim="400000"/>
          </a:ln>
        </p:spPr>
      </p:pic>
      <p:sp>
        <p:nvSpPr>
          <p:cNvPr id="715" name="Rectangle"/>
          <p:cNvSpPr/>
          <p:nvPr/>
        </p:nvSpPr>
        <p:spPr>
          <a:xfrm>
            <a:off x="6192523" y="10189485"/>
            <a:ext cx="994252" cy="931864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6" name="Rectangle"/>
          <p:cNvSpPr/>
          <p:nvPr/>
        </p:nvSpPr>
        <p:spPr>
          <a:xfrm>
            <a:off x="8111162" y="10189484"/>
            <a:ext cx="994252" cy="931863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7" name="Rectangle"/>
          <p:cNvSpPr/>
          <p:nvPr/>
        </p:nvSpPr>
        <p:spPr>
          <a:xfrm>
            <a:off x="7177419" y="9627182"/>
            <a:ext cx="994252" cy="1494166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8" name="1"/>
          <p:cNvSpPr txBox="1"/>
          <p:nvPr/>
        </p:nvSpPr>
        <p:spPr>
          <a:xfrm>
            <a:off x="7412014" y="9859236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19" name="3"/>
          <p:cNvSpPr txBox="1"/>
          <p:nvPr/>
        </p:nvSpPr>
        <p:spPr>
          <a:xfrm>
            <a:off x="8455107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20" name="2"/>
          <p:cNvSpPr txBox="1"/>
          <p:nvPr/>
        </p:nvSpPr>
        <p:spPr>
          <a:xfrm>
            <a:off x="6427118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721" name="2b0643c0c0b5949fdfe730edb3ff8947.psd" descr="2b0643c0c0b5949fdfe730edb3ff8947.ps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16132" y="8946827"/>
            <a:ext cx="2854876" cy="2854876"/>
          </a:xfrm>
          <a:prstGeom prst="rect">
            <a:avLst/>
          </a:prstGeom>
          <a:ln w="12700">
            <a:miter lim="400000"/>
          </a:ln>
        </p:spPr>
      </p:pic>
      <p:sp>
        <p:nvSpPr>
          <p:cNvPr id="722" name="Line"/>
          <p:cNvSpPr/>
          <p:nvPr/>
        </p:nvSpPr>
        <p:spPr>
          <a:xfrm flipV="1">
            <a:off x="5064691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3" name="Line"/>
          <p:cNvSpPr/>
          <p:nvPr/>
        </p:nvSpPr>
        <p:spPr>
          <a:xfrm flipV="1">
            <a:off x="10216635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4" name="Line"/>
          <p:cNvSpPr/>
          <p:nvPr/>
        </p:nvSpPr>
        <p:spPr>
          <a:xfrm flipV="1">
            <a:off x="15426918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5" name="Line"/>
          <p:cNvSpPr/>
          <p:nvPr/>
        </p:nvSpPr>
        <p:spPr>
          <a:xfrm flipV="1">
            <a:off x="19462360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6" name="Kernwaarden"/>
          <p:cNvSpPr txBox="1"/>
          <p:nvPr/>
        </p:nvSpPr>
        <p:spPr>
          <a:xfrm>
            <a:off x="5735738" y="16606"/>
            <a:ext cx="14379804" cy="2484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15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Kernwaarden</a:t>
            </a:r>
          </a:p>
        </p:txBody>
      </p:sp>
      <p:sp>
        <p:nvSpPr>
          <p:cNvPr id="7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5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735" name="Playing style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Playing style</a:t>
            </a:r>
          </a:p>
        </p:txBody>
      </p:sp>
      <p:sp>
        <p:nvSpPr>
          <p:cNvPr id="736" name="Line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737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738" name="geplakte-afbeelding.pdf" descr="geplakte-afbeelding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7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chtergrond kopie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747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748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749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750" name="Rectangle"/>
          <p:cNvSpPr/>
          <p:nvPr/>
        </p:nvSpPr>
        <p:spPr>
          <a:xfrm>
            <a:off x="6746544" y="8618893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welcome page #03 #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8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766" name="FC_Pro_Vercelli_1892.svg.png" descr="FC_Pro_Vercelli_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652843" y="11597034"/>
            <a:ext cx="1321258" cy="1825537"/>
          </a:xfrm>
          <a:prstGeom prst="rect">
            <a:avLst/>
          </a:prstGeom>
          <a:ln w="12700">
            <a:miter lim="400000"/>
          </a:ln>
        </p:spPr>
      </p:pic>
      <p:pic>
        <p:nvPicPr>
          <p:cNvPr id="767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768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769" name="Rectangle"/>
          <p:cNvSpPr/>
          <p:nvPr/>
        </p:nvSpPr>
        <p:spPr>
          <a:xfrm>
            <a:off x="6746544" y="8618893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sisten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7" name="geplakte-afbeelding.tiff" descr="geplakte-afbeelding.tiff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778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9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80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81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8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784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85" name="Consistenc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Consistency</a:t>
            </a:r>
          </a:p>
        </p:txBody>
      </p:sp>
      <p:sp>
        <p:nvSpPr>
          <p:cNvPr id="786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“Perform at a similar level of quality repeatedly over time, across matches or actions”</a:t>
            </a:r>
          </a:p>
        </p:txBody>
      </p:sp>
      <p:sp>
        <p:nvSpPr>
          <p:cNvPr id="78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Steady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Influential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Solid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Conscious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React after mistakes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Dealing with stress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7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rave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geplakte-afbeelding.tiff" descr="geplakte-afbeelding.tiff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796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97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98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99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00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1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802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03" name="Braver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Bravery</a:t>
            </a:r>
          </a:p>
        </p:txBody>
      </p:sp>
      <p:sp>
        <p:nvSpPr>
          <p:cNvPr id="804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“The willingness to face physical challenges, difficult situations, or potential contact without fear”</a:t>
            </a:r>
          </a:p>
        </p:txBody>
      </p:sp>
      <p:sp>
        <p:nvSpPr>
          <p:cNvPr id="805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Initiative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Taking risks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Freedom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Surprising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Creativity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Confident after mistakes</a:t>
            </a:r>
          </a:p>
          <a:p>
            <a:pPr marL="190500" indent="-190500" defTabSz="457200">
              <a:lnSpc>
                <a:spcPct val="100000"/>
              </a:lnSpc>
              <a:spcBef>
                <a:spcPts val="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8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gilit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eplakte-afbeelding.tiff" descr="geplakte-afbeelding.tiff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814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15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16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17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18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9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820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21" name="Agility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Agility</a:t>
            </a:r>
          </a:p>
        </p:txBody>
      </p:sp>
      <p:sp>
        <p:nvSpPr>
          <p:cNvPr id="822" name="TextBox 30"/>
          <p:cNvSpPr txBox="1"/>
          <p:nvPr/>
        </p:nvSpPr>
        <p:spPr>
          <a:xfrm>
            <a:off x="19792143" y="2104358"/>
            <a:ext cx="4159834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“Quickly change direction, accelerate, and control body movement while maintaining balance”</a:t>
            </a:r>
          </a:p>
        </p:txBody>
      </p:sp>
      <p:sp>
        <p:nvSpPr>
          <p:cNvPr id="823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Reaction speed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Footwork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Balance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Center of gravity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Change of direction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8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istibu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1" name="geplakte-afbeelding.tiff" descr="geplakte-afbeelding.tiff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832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3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4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5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36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7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838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39" name="Distribution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Distribution</a:t>
            </a:r>
          </a:p>
        </p:txBody>
      </p:sp>
      <p:sp>
        <p:nvSpPr>
          <p:cNvPr id="840" name="TextBox 30"/>
          <p:cNvSpPr txBox="1"/>
          <p:nvPr/>
        </p:nvSpPr>
        <p:spPr>
          <a:xfrm>
            <a:off x="19792143" y="2523458"/>
            <a:ext cx="415983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Kicking, passing and throwing</a:t>
            </a:r>
          </a:p>
        </p:txBody>
      </p:sp>
      <p:sp>
        <p:nvSpPr>
          <p:cNvPr id="841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Inside 16m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Outside 16m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One on ones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Set pieces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8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reventie vs defending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" name="geplakte-afbeelding.tiff" descr="geplakte-afbeelding.tiff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850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1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2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3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5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5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856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57" name="Prevention vs…"/>
          <p:cNvSpPr txBox="1"/>
          <p:nvPr/>
        </p:nvSpPr>
        <p:spPr>
          <a:xfrm>
            <a:off x="19522346" y="240592"/>
            <a:ext cx="220986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Prevention vs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defending</a:t>
            </a:r>
          </a:p>
        </p:txBody>
      </p:sp>
      <p:sp>
        <p:nvSpPr>
          <p:cNvPr id="858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Reading, anticipating and reacting to 1v1 situations, dealing with through balls and crosses.</a:t>
            </a:r>
          </a:p>
        </p:txBody>
      </p:sp>
      <p:sp>
        <p:nvSpPr>
          <p:cNvPr id="859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Coaching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Decision making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Follow-up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8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handl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geplakte-afbeelding.tiff" descr="geplakte-afbeelding.tiff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868" name="Rectangle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9" name="Rectangle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0" name="Rectangle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1" name="Line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72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3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874" name="Line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75" name="Handling"/>
          <p:cNvSpPr txBox="1"/>
          <p:nvPr/>
        </p:nvSpPr>
        <p:spPr>
          <a:xfrm>
            <a:off x="19522346" y="1002592"/>
            <a:ext cx="2209860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4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Handling</a:t>
            </a:r>
          </a:p>
        </p:txBody>
      </p:sp>
      <p:sp>
        <p:nvSpPr>
          <p:cNvPr id="876" name="TextBox 30"/>
          <p:cNvSpPr txBox="1"/>
          <p:nvPr/>
        </p:nvSpPr>
        <p:spPr>
          <a:xfrm>
            <a:off x="19792143" y="2523458"/>
            <a:ext cx="415983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“Defending a lot of balls</a:t>
            </a:r>
          </a:p>
        </p:txBody>
      </p:sp>
      <p:sp>
        <p:nvSpPr>
          <p:cNvPr id="877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Inside 16m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Outside 16m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One on ones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Set pieces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Positioning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Frequency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End result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8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6 boxes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86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87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88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89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890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891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2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3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4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5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6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7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8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9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00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01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02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03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904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905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906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07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08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09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0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911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2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3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4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5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9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(EN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" name="geplakte-afbeelding.tiff" descr="geplakte-afbeelding.tiff"/>
          <p:cNvPicPr>
            <a:picLocks noChangeAspect="1"/>
          </p:cNvPicPr>
          <p:nvPr/>
        </p:nvPicPr>
        <p:blipFill>
          <a:blip r:embed="rId2">
            <a:alphaModFix amt="21198"/>
            <a:extLst/>
          </a:blip>
          <a:stretch>
            <a:fillRect/>
          </a:stretch>
        </p:blipFill>
        <p:spPr>
          <a:xfrm>
            <a:off x="-3833587" y="59525"/>
            <a:ext cx="28350596" cy="13785477"/>
          </a:xfrm>
          <a:prstGeom prst="rect">
            <a:avLst/>
          </a:prstGeom>
          <a:ln w="12700">
            <a:miter lim="400000"/>
          </a:ln>
        </p:spPr>
      </p:pic>
      <p:sp>
        <p:nvSpPr>
          <p:cNvPr id="924" name="Rectangle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5" name="Line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26" name="Line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927" name="FC_Pro_Vercelli_1892.svg.png" descr="FC_Pro_Vercelli_1892.svg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583054" y="331010"/>
            <a:ext cx="1211120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928" name="Rectangle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9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FOOTBALL</a:t>
            </a:r>
          </a:p>
        </p:txBody>
      </p:sp>
      <p:sp>
        <p:nvSpPr>
          <p:cNvPr id="930" name="Rectangle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1" name="Rectangle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934" name="Group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932" name="Rounded Rectangle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933" name="Image" descr="Image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935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6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7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8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9" name="Line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40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1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2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3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4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5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6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7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8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NEEDS</a:t>
            </a:r>
          </a:p>
        </p:txBody>
      </p:sp>
      <p:sp>
        <p:nvSpPr>
          <p:cNvPr id="949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PREFENCES</a:t>
            </a:r>
          </a:p>
        </p:txBody>
      </p:sp>
      <p:sp>
        <p:nvSpPr>
          <p:cNvPr id="950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physical</a:t>
            </a:r>
          </a:p>
        </p:txBody>
      </p:sp>
      <p:sp>
        <p:nvSpPr>
          <p:cNvPr id="951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PERSONALITY</a:t>
            </a:r>
          </a:p>
        </p:txBody>
      </p:sp>
      <p:sp>
        <p:nvSpPr>
          <p:cNvPr id="952" name="Line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eeg kopie 4">
    <p:bg>
      <p:bgPr>
        <a:gradFill flip="none" rotWithShape="1">
          <a:gsLst>
            <a:gs pos="0">
              <a:srgbClr val="000000"/>
            </a:gs>
            <a:gs pos="100000">
              <a:srgbClr val="DA3832"/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Rectangle"/>
          <p:cNvSpPr/>
          <p:nvPr/>
        </p:nvSpPr>
        <p:spPr>
          <a:xfrm>
            <a:off x="228588" y="9285347"/>
            <a:ext cx="7296900" cy="415911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1" name="Rectangle"/>
          <p:cNvSpPr/>
          <p:nvPr/>
        </p:nvSpPr>
        <p:spPr>
          <a:xfrm>
            <a:off x="16452494" y="4482161"/>
            <a:ext cx="7806637" cy="3843630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2" name="Rectangle"/>
          <p:cNvSpPr/>
          <p:nvPr/>
        </p:nvSpPr>
        <p:spPr>
          <a:xfrm>
            <a:off x="7857335" y="8533674"/>
            <a:ext cx="8290361" cy="492066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3" name="Rectangle"/>
          <p:cNvSpPr/>
          <p:nvPr/>
        </p:nvSpPr>
        <p:spPr>
          <a:xfrm>
            <a:off x="16452494" y="8534379"/>
            <a:ext cx="7806637" cy="4919257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4" name="Rectangle"/>
          <p:cNvSpPr/>
          <p:nvPr/>
        </p:nvSpPr>
        <p:spPr>
          <a:xfrm>
            <a:off x="16452494" y="238399"/>
            <a:ext cx="7806637" cy="4035878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5" name="Rectangle"/>
          <p:cNvSpPr/>
          <p:nvPr/>
        </p:nvSpPr>
        <p:spPr>
          <a:xfrm>
            <a:off x="7815068" y="4485154"/>
            <a:ext cx="3971648" cy="383764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6" name="Rectangle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7" name="Rectangle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8" name="TextBox 38"/>
          <p:cNvSpPr txBox="1"/>
          <p:nvPr/>
        </p:nvSpPr>
        <p:spPr>
          <a:xfrm>
            <a:off x="891013" y="17960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Date of birth</a:t>
            </a:r>
          </a:p>
        </p:txBody>
      </p:sp>
      <p:sp>
        <p:nvSpPr>
          <p:cNvPr id="969" name="TextBox 38"/>
          <p:cNvSpPr txBox="1"/>
          <p:nvPr/>
        </p:nvSpPr>
        <p:spPr>
          <a:xfrm>
            <a:off x="891013" y="25563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City of Birth </a:t>
            </a:r>
          </a:p>
        </p:txBody>
      </p:sp>
      <p:sp>
        <p:nvSpPr>
          <p:cNvPr id="970" name="TextBox 38"/>
          <p:cNvSpPr txBox="1"/>
          <p:nvPr/>
        </p:nvSpPr>
        <p:spPr>
          <a:xfrm>
            <a:off x="123369" y="3288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Nationality</a:t>
            </a:r>
          </a:p>
        </p:txBody>
      </p:sp>
      <p:sp>
        <p:nvSpPr>
          <p:cNvPr id="971" name="TextBox 38"/>
          <p:cNvSpPr txBox="1"/>
          <p:nvPr/>
        </p:nvSpPr>
        <p:spPr>
          <a:xfrm>
            <a:off x="891013" y="40809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972" name="TextBox 38"/>
          <p:cNvSpPr txBox="1"/>
          <p:nvPr/>
        </p:nvSpPr>
        <p:spPr>
          <a:xfrm>
            <a:off x="891013" y="48066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Preferred foot</a:t>
            </a:r>
          </a:p>
        </p:txBody>
      </p:sp>
      <p:sp>
        <p:nvSpPr>
          <p:cNvPr id="973" name="TextBox 38"/>
          <p:cNvSpPr txBox="1"/>
          <p:nvPr/>
        </p:nvSpPr>
        <p:spPr>
          <a:xfrm>
            <a:off x="891013" y="55710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974" name="TextBox 38"/>
          <p:cNvSpPr txBox="1"/>
          <p:nvPr/>
        </p:nvSpPr>
        <p:spPr>
          <a:xfrm>
            <a:off x="891013" y="62641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League</a:t>
            </a:r>
          </a:p>
        </p:txBody>
      </p:sp>
      <p:sp>
        <p:nvSpPr>
          <p:cNvPr id="975" name="Freeform 5"/>
          <p:cNvSpPr/>
          <p:nvPr/>
        </p:nvSpPr>
        <p:spPr>
          <a:xfrm>
            <a:off x="1391022" y="1783354"/>
            <a:ext cx="5347679" cy="25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6" name="Rectangle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7" name="Rectangle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8" name="Rectangle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9" name="Rectangle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0" name="Rectangle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1" name="Rectangle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2" name="Rectangle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3" name="Rectangle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4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985" name="TextBox 41"/>
          <p:cNvSpPr txBox="1"/>
          <p:nvPr/>
        </p:nvSpPr>
        <p:spPr>
          <a:xfrm>
            <a:off x="7997574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RATING</a:t>
            </a:r>
          </a:p>
        </p:txBody>
      </p:sp>
      <p:sp>
        <p:nvSpPr>
          <p:cNvPr id="986" name="TextBox 46"/>
          <p:cNvSpPr txBox="1"/>
          <p:nvPr/>
        </p:nvSpPr>
        <p:spPr>
          <a:xfrm>
            <a:off x="16850858" y="1036124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value</a:t>
            </a:r>
          </a:p>
        </p:txBody>
      </p:sp>
      <p:sp>
        <p:nvSpPr>
          <p:cNvPr id="987" name="Rectangle"/>
          <p:cNvSpPr/>
          <p:nvPr/>
        </p:nvSpPr>
        <p:spPr>
          <a:xfrm>
            <a:off x="19705480" y="11071458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8" name="Rectangle"/>
          <p:cNvSpPr/>
          <p:nvPr/>
        </p:nvSpPr>
        <p:spPr>
          <a:xfrm>
            <a:off x="19705480" y="11818374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9" name="Rectangle"/>
          <p:cNvSpPr/>
          <p:nvPr/>
        </p:nvSpPr>
        <p:spPr>
          <a:xfrm>
            <a:off x="19705480" y="12548075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90" name="Rectangle"/>
          <p:cNvSpPr/>
          <p:nvPr/>
        </p:nvSpPr>
        <p:spPr>
          <a:xfrm>
            <a:off x="18197104" y="397811"/>
            <a:ext cx="5799755" cy="3717054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91" name="TextBox 43"/>
          <p:cNvSpPr txBox="1"/>
          <p:nvPr/>
        </p:nvSpPr>
        <p:spPr>
          <a:xfrm>
            <a:off x="11203802" y="334915"/>
            <a:ext cx="213896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CURRENT SEASON</a:t>
            </a:r>
          </a:p>
        </p:txBody>
      </p:sp>
      <p:sp>
        <p:nvSpPr>
          <p:cNvPr id="992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CAREER</a:t>
            </a:r>
          </a:p>
        </p:txBody>
      </p:sp>
      <p:sp>
        <p:nvSpPr>
          <p:cNvPr id="993" name="TextBox 46"/>
          <p:cNvSpPr txBox="1"/>
          <p:nvPr/>
        </p:nvSpPr>
        <p:spPr>
          <a:xfrm>
            <a:off x="16766170" y="8728014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details</a:t>
            </a:r>
          </a:p>
        </p:txBody>
      </p:sp>
      <p:sp>
        <p:nvSpPr>
          <p:cNvPr id="994" name="TextBox 45"/>
          <p:cNvSpPr txBox="1"/>
          <p:nvPr/>
        </p:nvSpPr>
        <p:spPr>
          <a:xfrm>
            <a:off x="16681484" y="388073"/>
            <a:ext cx="174382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Scouting</a:t>
            </a:r>
          </a:p>
        </p:txBody>
      </p:sp>
      <p:sp>
        <p:nvSpPr>
          <p:cNvPr id="995" name="TextBox 47"/>
          <p:cNvSpPr txBox="1"/>
          <p:nvPr/>
        </p:nvSpPr>
        <p:spPr>
          <a:xfrm>
            <a:off x="8044076" y="86523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sp>
        <p:nvSpPr>
          <p:cNvPr id="996" name="Rectangle"/>
          <p:cNvSpPr/>
          <p:nvPr/>
        </p:nvSpPr>
        <p:spPr>
          <a:xfrm>
            <a:off x="3602054" y="2095922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97" name="Rectangle"/>
          <p:cNvSpPr/>
          <p:nvPr/>
        </p:nvSpPr>
        <p:spPr>
          <a:xfrm>
            <a:off x="3602054" y="284964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98" name="Rectangle"/>
          <p:cNvSpPr/>
          <p:nvPr/>
        </p:nvSpPr>
        <p:spPr>
          <a:xfrm>
            <a:off x="3602054" y="3607060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99" name="Rectangle"/>
          <p:cNvSpPr/>
          <p:nvPr/>
        </p:nvSpPr>
        <p:spPr>
          <a:xfrm>
            <a:off x="3602054" y="436447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0" name="Rectangle"/>
          <p:cNvSpPr/>
          <p:nvPr/>
        </p:nvSpPr>
        <p:spPr>
          <a:xfrm>
            <a:off x="3602054" y="5118199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1" name="Rectangle"/>
          <p:cNvSpPr/>
          <p:nvPr/>
        </p:nvSpPr>
        <p:spPr>
          <a:xfrm>
            <a:off x="3602054" y="5861842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2" name="Rectangle"/>
          <p:cNvSpPr/>
          <p:nvPr/>
        </p:nvSpPr>
        <p:spPr>
          <a:xfrm>
            <a:off x="3602054" y="6609877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3" name="TextBox 38"/>
          <p:cNvSpPr txBox="1"/>
          <p:nvPr/>
        </p:nvSpPr>
        <p:spPr>
          <a:xfrm>
            <a:off x="890861" y="6999515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Agency</a:t>
            </a:r>
          </a:p>
        </p:txBody>
      </p:sp>
      <p:sp>
        <p:nvSpPr>
          <p:cNvPr id="1004" name="Rectangle"/>
          <p:cNvSpPr/>
          <p:nvPr/>
        </p:nvSpPr>
        <p:spPr>
          <a:xfrm>
            <a:off x="3601902" y="7345231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5" name="TextBox 38"/>
          <p:cNvSpPr txBox="1"/>
          <p:nvPr/>
        </p:nvSpPr>
        <p:spPr>
          <a:xfrm>
            <a:off x="890861" y="7733610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1006" name="Rectangle"/>
          <p:cNvSpPr/>
          <p:nvPr/>
        </p:nvSpPr>
        <p:spPr>
          <a:xfrm>
            <a:off x="3601902" y="8079326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7" name="Rectangle"/>
          <p:cNvSpPr/>
          <p:nvPr/>
        </p:nvSpPr>
        <p:spPr>
          <a:xfrm>
            <a:off x="19705480" y="10315740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8" name="Rectangle"/>
          <p:cNvSpPr/>
          <p:nvPr/>
        </p:nvSpPr>
        <p:spPr>
          <a:xfrm>
            <a:off x="19717846" y="9560023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9" name="TextBox 46"/>
          <p:cNvSpPr txBox="1"/>
          <p:nvPr/>
        </p:nvSpPr>
        <p:spPr>
          <a:xfrm>
            <a:off x="16850858" y="12641529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Next step</a:t>
            </a:r>
          </a:p>
        </p:txBody>
      </p:sp>
      <p:sp>
        <p:nvSpPr>
          <p:cNvPr id="1010" name="TextBox 46"/>
          <p:cNvSpPr txBox="1"/>
          <p:nvPr/>
        </p:nvSpPr>
        <p:spPr>
          <a:xfrm>
            <a:off x="16850858" y="11884115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2</a:t>
            </a:r>
          </a:p>
        </p:txBody>
      </p:sp>
      <p:sp>
        <p:nvSpPr>
          <p:cNvPr id="1011" name="TextBox 46"/>
          <p:cNvSpPr txBox="1"/>
          <p:nvPr/>
        </p:nvSpPr>
        <p:spPr>
          <a:xfrm>
            <a:off x="16850858" y="11101413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</a:p>
        </p:txBody>
      </p:sp>
      <p:sp>
        <p:nvSpPr>
          <p:cNvPr id="1012" name="TextBox 46"/>
          <p:cNvSpPr txBox="1"/>
          <p:nvPr/>
        </p:nvSpPr>
        <p:spPr>
          <a:xfrm>
            <a:off x="16850858" y="961506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End of contract</a:t>
            </a:r>
          </a:p>
        </p:txBody>
      </p:sp>
      <p:sp>
        <p:nvSpPr>
          <p:cNvPr id="1013" name="Rectangle"/>
          <p:cNvSpPr/>
          <p:nvPr/>
        </p:nvSpPr>
        <p:spPr>
          <a:xfrm>
            <a:off x="12133781" y="4485154"/>
            <a:ext cx="3980337" cy="383764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14" name="TextBox 41"/>
          <p:cNvSpPr txBox="1"/>
          <p:nvPr/>
        </p:nvSpPr>
        <p:spPr>
          <a:xfrm>
            <a:off x="12316287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AVAILABILITY</a:t>
            </a:r>
          </a:p>
        </p:txBody>
      </p:sp>
      <p:pic>
        <p:nvPicPr>
          <p:cNvPr id="1015" name="Image" descr="Image"/>
          <p:cNvPicPr>
            <a:picLocks noChangeAspect="1"/>
          </p:cNvPicPr>
          <p:nvPr/>
        </p:nvPicPr>
        <p:blipFill>
          <a:blip r:embed="rId3">
            <a:alphaModFix amt="85000"/>
            <a:extLst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016" name="Rectangle"/>
          <p:cNvSpPr/>
          <p:nvPr/>
        </p:nvSpPr>
        <p:spPr>
          <a:xfrm>
            <a:off x="4407241" y="9341001"/>
            <a:ext cx="2808750" cy="4047809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017" name="TextBox 41"/>
          <p:cNvSpPr txBox="1"/>
          <p:nvPr/>
        </p:nvSpPr>
        <p:spPr>
          <a:xfrm>
            <a:off x="407134" y="9496137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PLAYERS PROFILE</a:t>
            </a:r>
          </a:p>
        </p:txBody>
      </p:sp>
      <p:sp>
        <p:nvSpPr>
          <p:cNvPr id="1018" name="TextBox 31"/>
          <p:cNvSpPr txBox="1"/>
          <p:nvPr/>
        </p:nvSpPr>
        <p:spPr>
          <a:xfrm>
            <a:off x="389737" y="11554262"/>
            <a:ext cx="2152563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Total Distance: 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HI-runs: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Sprints: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Top speed:</a:t>
            </a:r>
          </a:p>
        </p:txBody>
      </p:sp>
      <p:sp>
        <p:nvSpPr>
          <p:cNvPr id="10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lide Number"/>
          <p:cNvSpPr txBox="1"/>
          <p:nvPr>
            <p:ph type="sldNum" sz="quarter" idx="2"/>
          </p:nvPr>
        </p:nvSpPr>
        <p:spPr>
          <a:xfrm>
            <a:off x="12051322" y="12344399"/>
            <a:ext cx="1969479" cy="736601"/>
          </a:xfrm>
          <a:prstGeom prst="rect">
            <a:avLst/>
          </a:prstGeom>
        </p:spPr>
        <p:txBody>
          <a:bodyPr lIns="12660" tIns="12660" rIns="12660" bIns="12660" anchor="ctr"/>
          <a:lstStyle>
            <a:lvl1pPr algn="r" defTabSz="126609">
              <a:defRPr sz="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Relationship Id="rId9" Type="http://schemas.openxmlformats.org/officeDocument/2006/relationships/slideLayout" Target="../slideLayouts/slideLayout3.xml"/><Relationship Id="rId10" Type="http://schemas.openxmlformats.org/officeDocument/2006/relationships/slideLayout" Target="../slideLayouts/slideLayout4.xml"/><Relationship Id="rId11" Type="http://schemas.openxmlformats.org/officeDocument/2006/relationships/slideLayout" Target="../slideLayouts/slideLayout5.xml"/><Relationship Id="rId12" Type="http://schemas.openxmlformats.org/officeDocument/2006/relationships/slideLayout" Target="../slideLayouts/slideLayout6.xml"/><Relationship Id="rId13" Type="http://schemas.openxmlformats.org/officeDocument/2006/relationships/slideLayout" Target="../slideLayouts/slideLayout7.xml"/><Relationship Id="rId14" Type="http://schemas.openxmlformats.org/officeDocument/2006/relationships/slideLayout" Target="../slideLayouts/slideLayout8.xml"/><Relationship Id="rId15" Type="http://schemas.openxmlformats.org/officeDocument/2006/relationships/slideLayout" Target="../slideLayouts/slideLayout9.xml"/><Relationship Id="rId16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13.xml"/><Relationship Id="rId20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17.xml"/><Relationship Id="rId24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0.xml"/><Relationship Id="rId27" Type="http://schemas.openxmlformats.org/officeDocument/2006/relationships/slideLayout" Target="../slideLayouts/slideLayout21.xml"/><Relationship Id="rId28" Type="http://schemas.openxmlformats.org/officeDocument/2006/relationships/slideLayout" Target="../slideLayouts/slideLayout22.xml"/><Relationship Id="rId29" Type="http://schemas.openxmlformats.org/officeDocument/2006/relationships/slideLayout" Target="../slideLayouts/slideLayout23.xml"/><Relationship Id="rId30" Type="http://schemas.openxmlformats.org/officeDocument/2006/relationships/slideLayout" Target="../slideLayouts/slideLayout24.xml"/><Relationship Id="rId31" Type="http://schemas.openxmlformats.org/officeDocument/2006/relationships/slideLayout" Target="../slideLayouts/slideLayout25.xml"/><Relationship Id="rId32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27.xml"/><Relationship Id="rId34" Type="http://schemas.openxmlformats.org/officeDocument/2006/relationships/slideLayout" Target="../slideLayouts/slideLayout28.xml"/><Relationship Id="rId35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30.xml"/><Relationship Id="rId37" Type="http://schemas.openxmlformats.org/officeDocument/2006/relationships/slideLayout" Target="../slideLayouts/slideLayout31.xml"/><Relationship Id="rId38" Type="http://schemas.openxmlformats.org/officeDocument/2006/relationships/slideLayout" Target="../slideLayouts/slideLayout32.xml"/><Relationship Id="rId39" Type="http://schemas.openxmlformats.org/officeDocument/2006/relationships/slideLayout" Target="../slideLayouts/slideLayout33.xml"/><Relationship Id="rId40" Type="http://schemas.openxmlformats.org/officeDocument/2006/relationships/slideLayout" Target="../slideLayouts/slideLayout34.xml"/><Relationship Id="rId41" Type="http://schemas.openxmlformats.org/officeDocument/2006/relationships/slideLayout" Target="../slideLayouts/slideLayout35.xml"/><Relationship Id="rId42" Type="http://schemas.openxmlformats.org/officeDocument/2006/relationships/slideLayout" Target="../slideLayouts/slideLayout36.xml"/><Relationship Id="rId43" Type="http://schemas.openxmlformats.org/officeDocument/2006/relationships/slideLayout" Target="../slideLayouts/slideLayout37.xml"/><Relationship Id="rId44" Type="http://schemas.openxmlformats.org/officeDocument/2006/relationships/slideLayout" Target="../slideLayouts/slideLayout38.xml"/><Relationship Id="rId45" Type="http://schemas.openxmlformats.org/officeDocument/2006/relationships/slideLayout" Target="../slideLayouts/slideLayout39.xml"/><Relationship Id="rId46" Type="http://schemas.openxmlformats.org/officeDocument/2006/relationships/slideLayout" Target="../slideLayouts/slideLayout40.xml"/><Relationship Id="rId47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0">
              <a:srgbClr val="DA3832"/>
            </a:gs>
            <a:gs pos="100000">
              <a:srgbClr val="000000"/>
            </a:gs>
          </a:gsLst>
          <a:lin ang="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oup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3" name="Rounded Rectangle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4" name="Image" descr="Image"/>
            <p:cNvPicPr>
              <a:picLocks noChangeAspect="1"/>
            </p:cNvPicPr>
            <p:nvPr/>
          </p:nvPicPr>
          <p:blipFill>
            <a:blip r:embed="rId3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6" name="Rectangle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" name="TextBox 28"/>
          <p:cNvSpPr txBox="1"/>
          <p:nvPr/>
        </p:nvSpPr>
        <p:spPr>
          <a:xfrm>
            <a:off x="8532915" y="5951167"/>
            <a:ext cx="6939203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WELCOME</a:t>
            </a:r>
          </a:p>
        </p:txBody>
      </p:sp>
      <p:sp>
        <p:nvSpPr>
          <p:cNvPr id="8" name="11"/>
          <p:cNvSpPr/>
          <p:nvPr/>
        </p:nvSpPr>
        <p:spPr>
          <a:xfrm>
            <a:off x="16537263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9" name="7"/>
          <p:cNvSpPr/>
          <p:nvPr/>
        </p:nvSpPr>
        <p:spPr>
          <a:xfrm>
            <a:off x="18835144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0" name="5"/>
          <p:cNvSpPr/>
          <p:nvPr/>
        </p:nvSpPr>
        <p:spPr>
          <a:xfrm>
            <a:off x="16461063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" name="2"/>
          <p:cNvSpPr/>
          <p:nvPr/>
        </p:nvSpPr>
        <p:spPr>
          <a:xfrm>
            <a:off x="18936744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" name="4"/>
          <p:cNvSpPr/>
          <p:nvPr/>
        </p:nvSpPr>
        <p:spPr>
          <a:xfrm>
            <a:off x="17127425" y="6943530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" name="3"/>
          <p:cNvSpPr/>
          <p:nvPr/>
        </p:nvSpPr>
        <p:spPr>
          <a:xfrm>
            <a:off x="18248351" y="6943530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" name="1"/>
          <p:cNvSpPr/>
          <p:nvPr/>
        </p:nvSpPr>
        <p:spPr>
          <a:xfrm>
            <a:off x="17686204" y="7634559"/>
            <a:ext cx="527646" cy="547639"/>
          </a:xfrm>
          <a:prstGeom prst="ellipse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" name="9"/>
          <p:cNvSpPr/>
          <p:nvPr/>
        </p:nvSpPr>
        <p:spPr>
          <a:xfrm>
            <a:off x="17686204" y="356506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6" name="10"/>
          <p:cNvSpPr/>
          <p:nvPr/>
        </p:nvSpPr>
        <p:spPr>
          <a:xfrm>
            <a:off x="18041804" y="4945217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" name="8"/>
          <p:cNvSpPr/>
          <p:nvPr/>
        </p:nvSpPr>
        <p:spPr>
          <a:xfrm>
            <a:off x="17229025" y="53382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8" name="6"/>
          <p:cNvSpPr/>
          <p:nvPr/>
        </p:nvSpPr>
        <p:spPr>
          <a:xfrm>
            <a:off x="17867351" y="5899923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pic>
        <p:nvPicPr>
          <p:cNvPr id="19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FC_Pro_Vercelli_1892.svg.png" descr="FC_Pro_Vercelli_1892.svg.png"/>
          <p:cNvPicPr>
            <a:picLocks noChangeAspect="1"/>
          </p:cNvPicPr>
          <p:nvPr/>
        </p:nvPicPr>
        <p:blipFill>
          <a:blip r:embed="rId6">
            <a:extLst/>
          </a:blip>
          <a:srcRect l="0" t="0" r="0" b="0"/>
          <a:stretch>
            <a:fillRect/>
          </a:stretch>
        </p:blipFill>
        <p:spPr>
          <a:xfrm>
            <a:off x="772309" y="11635487"/>
            <a:ext cx="1265608" cy="1748648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Naam presentati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Naam presentatie</a:t>
            </a:r>
          </a:p>
        </p:txBody>
      </p:sp>
      <p:sp>
        <p:nvSpPr>
          <p:cNvPr id="23" name="Body Level One…"/>
          <p:cNvSpPr txBox="1"/>
          <p:nvPr>
            <p:ph type="body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Ondertitel presentatie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  <p:sldLayoutId id="2147483661" r:id="rId19"/>
    <p:sldLayoutId id="2147483662" r:id="rId20"/>
    <p:sldLayoutId id="2147483663" r:id="rId21"/>
    <p:sldLayoutId id="2147483664" r:id="rId22"/>
    <p:sldLayoutId id="2147483665" r:id="rId23"/>
    <p:sldLayoutId id="2147483666" r:id="rId24"/>
    <p:sldLayoutId id="2147483667" r:id="rId25"/>
    <p:sldLayoutId id="2147483668" r:id="rId26"/>
    <p:sldLayoutId id="2147483669" r:id="rId27"/>
    <p:sldLayoutId id="2147483670" r:id="rId28"/>
    <p:sldLayoutId id="2147483671" r:id="rId29"/>
    <p:sldLayoutId id="2147483672" r:id="rId30"/>
    <p:sldLayoutId id="2147483673" r:id="rId31"/>
    <p:sldLayoutId id="2147483674" r:id="rId32"/>
    <p:sldLayoutId id="2147483675" r:id="rId33"/>
    <p:sldLayoutId id="2147483676" r:id="rId34"/>
    <p:sldLayoutId id="2147483677" r:id="rId35"/>
    <p:sldLayoutId id="2147483678" r:id="rId36"/>
    <p:sldLayoutId id="2147483679" r:id="rId37"/>
    <p:sldLayoutId id="2147483680" r:id="rId38"/>
    <p:sldLayoutId id="2147483681" r:id="rId39"/>
    <p:sldLayoutId id="2147483682" r:id="rId40"/>
    <p:sldLayoutId id="2147483683" r:id="rId41"/>
    <p:sldLayoutId id="2147483684" r:id="rId42"/>
    <p:sldLayoutId id="2147483685" r:id="rId43"/>
    <p:sldLayoutId id="2147483686" r:id="rId44"/>
    <p:sldLayoutId id="2147483687" r:id="rId45"/>
    <p:sldLayoutId id="2147483688" r:id="rId46"/>
    <p:sldLayoutId id="2147483689" r:id="rId47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recruitment.scisports.app/" TargetMode="External"/><Relationship Id="rId3" Type="http://schemas.openxmlformats.org/officeDocument/2006/relationships/image" Target="../media/image11.png"/><Relationship Id="rId4" Type="http://schemas.openxmlformats.org/officeDocument/2006/relationships/slide" Target="slide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8.xml"/><Relationship Id="rId3" Type="http://schemas.openxmlformats.org/officeDocument/2006/relationships/slide" Target="slide9.xml"/><Relationship Id="rId4" Type="http://schemas.openxmlformats.org/officeDocument/2006/relationships/slide" Target="slide10.xml"/><Relationship Id="rId5" Type="http://schemas.openxmlformats.org/officeDocument/2006/relationships/slide" Target="slide11.xml"/><Relationship Id="rId6" Type="http://schemas.openxmlformats.org/officeDocument/2006/relationships/slide" Target="slide12.xml"/><Relationship Id="rId7" Type="http://schemas.openxmlformats.org/officeDocument/2006/relationships/slide" Target="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Relationship Id="rId3" Type="http://schemas.openxmlformats.org/officeDocument/2006/relationships/slide" Target="slide6.xml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2.png"/><Relationship Id="rId3" Type="http://schemas.openxmlformats.org/officeDocument/2006/relationships/slide" Target="slide6.xml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png"/><Relationship Id="rId3" Type="http://schemas.openxmlformats.org/officeDocument/2006/relationships/slide" Target="slide6.xml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2.png"/><Relationship Id="rId3" Type="http://schemas.openxmlformats.org/officeDocument/2006/relationships/slide" Target="slide6.xml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2.png"/><Relationship Id="rId3" Type="http://schemas.openxmlformats.org/officeDocument/2006/relationships/slide" Target="slide6.xml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2.png"/><Relationship Id="rId3" Type="http://schemas.openxmlformats.org/officeDocument/2006/relationships/slide" Target="slide6.xml"/><Relationship Id="rId4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achterkant FC Den Bosch nummer 1.png" descr="achterkant FC Den Bosch nummer 1.png"/>
          <p:cNvPicPr>
            <a:picLocks noChangeAspect="1"/>
          </p:cNvPicPr>
          <p:nvPr/>
        </p:nvPicPr>
        <p:blipFill>
          <a:blip r:embed="rId2">
            <a:extLst/>
          </a:blip>
          <a:srcRect l="3345" t="0" r="3345" b="0"/>
          <a:stretch>
            <a:fillRect/>
          </a:stretch>
        </p:blipFill>
        <p:spPr>
          <a:xfrm>
            <a:off x="18600539" y="7097845"/>
            <a:ext cx="2458435" cy="263473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1036" name="11"/>
          <p:cNvSpPr/>
          <p:nvPr/>
        </p:nvSpPr>
        <p:spPr>
          <a:xfrm>
            <a:off x="16537263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037" name="7"/>
          <p:cNvSpPr/>
          <p:nvPr/>
        </p:nvSpPr>
        <p:spPr>
          <a:xfrm>
            <a:off x="18835144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038" name="5"/>
          <p:cNvSpPr/>
          <p:nvPr/>
        </p:nvSpPr>
        <p:spPr>
          <a:xfrm>
            <a:off x="16461063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039" name="2"/>
          <p:cNvSpPr/>
          <p:nvPr/>
        </p:nvSpPr>
        <p:spPr>
          <a:xfrm>
            <a:off x="18936744" y="6494574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40" name="4"/>
          <p:cNvSpPr/>
          <p:nvPr/>
        </p:nvSpPr>
        <p:spPr>
          <a:xfrm>
            <a:off x="17127425" y="6943530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41" name="3"/>
          <p:cNvSpPr/>
          <p:nvPr/>
        </p:nvSpPr>
        <p:spPr>
          <a:xfrm>
            <a:off x="18248351" y="6943530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042" name="1"/>
          <p:cNvSpPr/>
          <p:nvPr/>
        </p:nvSpPr>
        <p:spPr>
          <a:xfrm>
            <a:off x="17686204" y="7634559"/>
            <a:ext cx="527646" cy="547639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43" name="9"/>
          <p:cNvSpPr/>
          <p:nvPr/>
        </p:nvSpPr>
        <p:spPr>
          <a:xfrm>
            <a:off x="17686204" y="356506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044" name="10"/>
          <p:cNvSpPr/>
          <p:nvPr/>
        </p:nvSpPr>
        <p:spPr>
          <a:xfrm>
            <a:off x="18041804" y="4945217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045" name="8"/>
          <p:cNvSpPr/>
          <p:nvPr/>
        </p:nvSpPr>
        <p:spPr>
          <a:xfrm>
            <a:off x="17229025" y="53382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046" name="6"/>
          <p:cNvSpPr/>
          <p:nvPr/>
        </p:nvSpPr>
        <p:spPr>
          <a:xfrm>
            <a:off x="17867351" y="5899923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047" name="TextBox 28"/>
          <p:cNvSpPr txBox="1"/>
          <p:nvPr/>
        </p:nvSpPr>
        <p:spPr>
          <a:xfrm>
            <a:off x="13106657" y="7643110"/>
            <a:ext cx="194797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rgbClr val="2769C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TextBox 21"/>
          <p:cNvSpPr txBox="1"/>
          <p:nvPr/>
        </p:nvSpPr>
        <p:spPr>
          <a:xfrm>
            <a:off x="4333035" y="1013466"/>
            <a:ext cx="15717931" cy="12446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Kernwaarden —&gt; Voetbal: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b="1" cap="all" sz="3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</a:t>
            </a:r>
            <a:r>
              <a:rPr b="0"/>
              <a:t>Strijders Die spelen om te winnen en die elke dag beter willen worden”</a:t>
            </a:r>
          </a:p>
        </p:txBody>
      </p:sp>
      <p:sp>
        <p:nvSpPr>
          <p:cNvPr id="1051" name="Line"/>
          <p:cNvSpPr/>
          <p:nvPr/>
        </p:nvSpPr>
        <p:spPr>
          <a:xfrm>
            <a:off x="12152585" y="4118138"/>
            <a:ext cx="1" cy="3383270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1052" name="Freeform 7"/>
          <p:cNvSpPr/>
          <p:nvPr/>
        </p:nvSpPr>
        <p:spPr>
          <a:xfrm>
            <a:off x="4473952" y="4440175"/>
            <a:ext cx="6261666" cy="2946401"/>
          </a:xfrm>
          <a:prstGeom prst="rect">
            <a:avLst/>
          </a:prstGeom>
          <a:solidFill>
            <a:srgbClr val="173883"/>
          </a:solidFill>
          <a:ln w="127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76200" dir="3243361">
              <a:srgbClr val="000000">
                <a:alpha val="38000"/>
              </a:srgbClr>
            </a:outerShdw>
          </a:effectLst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3" name="Rectangle"/>
          <p:cNvSpPr/>
          <p:nvPr/>
        </p:nvSpPr>
        <p:spPr>
          <a:xfrm>
            <a:off x="4506295" y="5470044"/>
            <a:ext cx="6196980" cy="2879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4" name="TextBox 13"/>
          <p:cNvSpPr txBox="1"/>
          <p:nvPr/>
        </p:nvSpPr>
        <p:spPr>
          <a:xfrm>
            <a:off x="4646195" y="5976140"/>
            <a:ext cx="5917180" cy="1156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KPI 1: Top-3 goals </a:t>
            </a:r>
            <a:r>
              <a:rPr>
                <a:solidFill>
                  <a:schemeClr val="accent4">
                    <a:hueOff val="-858837"/>
                    <a:lumOff val="-9791"/>
                  </a:schemeClr>
                </a:solidFill>
              </a:rPr>
              <a:t>(6th)</a:t>
            </a:r>
          </a:p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KPI 2: Top-3 challenge intensity </a:t>
            </a:r>
            <a:r>
              <a:rPr>
                <a:solidFill>
                  <a:schemeClr val="accent4">
                    <a:hueOff val="-858837"/>
                    <a:lumOff val="-9791"/>
                  </a:schemeClr>
                </a:solidFill>
              </a:rPr>
              <a:t>(10th)</a:t>
            </a:r>
          </a:p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KPI 3: Top-3 doelpogingen</a:t>
            </a:r>
            <a:r>
              <a:rPr>
                <a:solidFill>
                  <a:srgbClr val="FF2600"/>
                </a:solidFill>
              </a:rPr>
              <a:t>(12th)</a:t>
            </a:r>
          </a:p>
        </p:txBody>
      </p:sp>
      <p:sp>
        <p:nvSpPr>
          <p:cNvPr id="1055" name="TextBox 16"/>
          <p:cNvSpPr txBox="1"/>
          <p:nvPr/>
        </p:nvSpPr>
        <p:spPr>
          <a:xfrm>
            <a:off x="5285314" y="4420544"/>
            <a:ext cx="4638942" cy="107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Speelstijl</a:t>
            </a:r>
          </a:p>
        </p:txBody>
      </p:sp>
      <p:sp>
        <p:nvSpPr>
          <p:cNvPr id="1056" name="Freeform 7"/>
          <p:cNvSpPr/>
          <p:nvPr/>
        </p:nvSpPr>
        <p:spPr>
          <a:xfrm>
            <a:off x="13682778" y="4440175"/>
            <a:ext cx="6261666" cy="2946401"/>
          </a:xfrm>
          <a:prstGeom prst="rect">
            <a:avLst/>
          </a:prstGeom>
          <a:solidFill>
            <a:srgbClr val="173883"/>
          </a:solidFill>
          <a:ln w="127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76200" dir="3243361">
              <a:srgbClr val="000000">
                <a:alpha val="38000"/>
              </a:srgbClr>
            </a:outerShdw>
          </a:effectLst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7" name="Rectangle"/>
          <p:cNvSpPr/>
          <p:nvPr/>
        </p:nvSpPr>
        <p:spPr>
          <a:xfrm>
            <a:off x="13680723" y="5470044"/>
            <a:ext cx="6265774" cy="2879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8" name="TextBox 13"/>
          <p:cNvSpPr txBox="1"/>
          <p:nvPr/>
        </p:nvSpPr>
        <p:spPr>
          <a:xfrm>
            <a:off x="14077925" y="5944025"/>
            <a:ext cx="5471371" cy="879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Scouting</a:t>
            </a:r>
          </a:p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IDP</a:t>
            </a:r>
          </a:p>
        </p:txBody>
      </p:sp>
      <p:sp>
        <p:nvSpPr>
          <p:cNvPr id="1059" name="TextBox 16"/>
          <p:cNvSpPr txBox="1"/>
          <p:nvPr/>
        </p:nvSpPr>
        <p:spPr>
          <a:xfrm>
            <a:off x="14494140" y="4420544"/>
            <a:ext cx="4638941" cy="107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Profielen &amp; Begrippen</a:t>
            </a:r>
          </a:p>
        </p:txBody>
      </p:sp>
      <p:sp>
        <p:nvSpPr>
          <p:cNvPr id="1060" name="Rounded Rectangle"/>
          <p:cNvSpPr/>
          <p:nvPr/>
        </p:nvSpPr>
        <p:spPr>
          <a:xfrm>
            <a:off x="5718043" y="9151601"/>
            <a:ext cx="440356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1" name="Rounded Rectangle"/>
          <p:cNvSpPr/>
          <p:nvPr/>
        </p:nvSpPr>
        <p:spPr>
          <a:xfrm>
            <a:off x="6440531" y="9151601"/>
            <a:ext cx="440356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2" name="Rounded Rectangle"/>
          <p:cNvSpPr/>
          <p:nvPr/>
        </p:nvSpPr>
        <p:spPr>
          <a:xfrm>
            <a:off x="7163020" y="9151601"/>
            <a:ext cx="440355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3" name="Rounded Rectangle"/>
          <p:cNvSpPr/>
          <p:nvPr/>
        </p:nvSpPr>
        <p:spPr>
          <a:xfrm>
            <a:off x="7885510" y="9151601"/>
            <a:ext cx="440355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4" name="Freeform 7"/>
          <p:cNvSpPr/>
          <p:nvPr/>
        </p:nvSpPr>
        <p:spPr>
          <a:xfrm>
            <a:off x="5155257" y="9569121"/>
            <a:ext cx="3558234" cy="1938277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5" name="Rectangle"/>
          <p:cNvSpPr/>
          <p:nvPr/>
        </p:nvSpPr>
        <p:spPr>
          <a:xfrm>
            <a:off x="5153202" y="10368234"/>
            <a:ext cx="3562343" cy="11560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6" name="TextBox 8"/>
          <p:cNvSpPr txBox="1"/>
          <p:nvPr/>
        </p:nvSpPr>
        <p:spPr>
          <a:xfrm>
            <a:off x="5253436" y="10506338"/>
            <a:ext cx="3361875" cy="879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293914" indent="-293914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Transfer target: +€750K</a:t>
            </a:r>
          </a:p>
          <a:p>
            <a:pPr marL="339131" indent="-339131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i="1" sz="1800">
                <a:solidFill>
                  <a:srgbClr val="9BBB59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transfers: &gt;1M</a:t>
            </a:r>
          </a:p>
        </p:txBody>
      </p:sp>
      <p:sp>
        <p:nvSpPr>
          <p:cNvPr id="1067" name="TextBox 16"/>
          <p:cNvSpPr txBox="1"/>
          <p:nvPr/>
        </p:nvSpPr>
        <p:spPr>
          <a:xfrm>
            <a:off x="5259874" y="9561502"/>
            <a:ext cx="3348999" cy="707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Goal 1</a:t>
            </a:r>
          </a:p>
        </p:txBody>
      </p:sp>
      <p:sp>
        <p:nvSpPr>
          <p:cNvPr id="1068" name="Rounded Rectangle"/>
          <p:cNvSpPr/>
          <p:nvPr/>
        </p:nvSpPr>
        <p:spPr>
          <a:xfrm>
            <a:off x="10975668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69" name="Rounded Rectangle"/>
          <p:cNvSpPr/>
          <p:nvPr/>
        </p:nvSpPr>
        <p:spPr>
          <a:xfrm>
            <a:off x="11698158" y="9158784"/>
            <a:ext cx="440355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0" name="Rounded Rectangle"/>
          <p:cNvSpPr/>
          <p:nvPr/>
        </p:nvSpPr>
        <p:spPr>
          <a:xfrm>
            <a:off x="12420646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1" name="Rounded Rectangle"/>
          <p:cNvSpPr/>
          <p:nvPr/>
        </p:nvSpPr>
        <p:spPr>
          <a:xfrm>
            <a:off x="13143137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2" name="Freeform 7"/>
          <p:cNvSpPr/>
          <p:nvPr/>
        </p:nvSpPr>
        <p:spPr>
          <a:xfrm>
            <a:off x="10412883" y="9576304"/>
            <a:ext cx="3558234" cy="1938278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3" name="Rectangle"/>
          <p:cNvSpPr/>
          <p:nvPr/>
        </p:nvSpPr>
        <p:spPr>
          <a:xfrm>
            <a:off x="10410828" y="10375417"/>
            <a:ext cx="3562343" cy="11560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4" name="TextBox 8"/>
          <p:cNvSpPr txBox="1"/>
          <p:nvPr/>
        </p:nvSpPr>
        <p:spPr>
          <a:xfrm>
            <a:off x="10517501" y="10530274"/>
            <a:ext cx="3361876" cy="84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293914" indent="-293914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KKD: Top 10</a:t>
            </a:r>
          </a:p>
          <a:p>
            <a:pPr marL="339131" indent="-339131" defTabSz="1285875">
              <a:lnSpc>
                <a:spcPct val="130000"/>
              </a:lnSpc>
              <a:spcBef>
                <a:spcPts val="0"/>
              </a:spcBef>
              <a:buSzPct val="100000"/>
              <a:buChar char="•"/>
              <a:defRPr b="1" cap="all" i="1" sz="1800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10e positie in de KKD</a:t>
            </a:r>
          </a:p>
        </p:txBody>
      </p:sp>
      <p:sp>
        <p:nvSpPr>
          <p:cNvPr id="1075" name="TextBox 16"/>
          <p:cNvSpPr txBox="1"/>
          <p:nvPr/>
        </p:nvSpPr>
        <p:spPr>
          <a:xfrm>
            <a:off x="10517501" y="9568684"/>
            <a:ext cx="3348998" cy="707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Goal 2</a:t>
            </a:r>
          </a:p>
        </p:txBody>
      </p:sp>
      <p:sp>
        <p:nvSpPr>
          <p:cNvPr id="1076" name="Rounded Rectangle"/>
          <p:cNvSpPr/>
          <p:nvPr/>
        </p:nvSpPr>
        <p:spPr>
          <a:xfrm>
            <a:off x="16233295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7" name="Rounded Rectangle"/>
          <p:cNvSpPr/>
          <p:nvPr/>
        </p:nvSpPr>
        <p:spPr>
          <a:xfrm>
            <a:off x="16955785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8" name="Rounded Rectangle"/>
          <p:cNvSpPr/>
          <p:nvPr/>
        </p:nvSpPr>
        <p:spPr>
          <a:xfrm>
            <a:off x="17678271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9" name="Rounded Rectangle"/>
          <p:cNvSpPr/>
          <p:nvPr/>
        </p:nvSpPr>
        <p:spPr>
          <a:xfrm>
            <a:off x="18400762" y="9158784"/>
            <a:ext cx="440355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0" name="Freeform 7"/>
          <p:cNvSpPr/>
          <p:nvPr/>
        </p:nvSpPr>
        <p:spPr>
          <a:xfrm>
            <a:off x="15670510" y="9576304"/>
            <a:ext cx="3558234" cy="1938278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1" name="Rectangle"/>
          <p:cNvSpPr/>
          <p:nvPr/>
        </p:nvSpPr>
        <p:spPr>
          <a:xfrm>
            <a:off x="15668456" y="10375417"/>
            <a:ext cx="3562342" cy="11560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2" name="TextBox 8"/>
          <p:cNvSpPr txBox="1"/>
          <p:nvPr/>
        </p:nvSpPr>
        <p:spPr>
          <a:xfrm>
            <a:off x="15775128" y="10530274"/>
            <a:ext cx="3361876" cy="84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293914" indent="-293914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Academy players: 50%*</a:t>
            </a:r>
          </a:p>
          <a:p>
            <a:pPr marL="339131" indent="-339131" defTabSz="1285875">
              <a:lnSpc>
                <a:spcPct val="130000"/>
              </a:lnSpc>
              <a:spcBef>
                <a:spcPts val="0"/>
              </a:spcBef>
              <a:buSzPct val="100000"/>
              <a:buChar char="•"/>
              <a:defRPr b="1" cap="all" i="1" sz="1800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Competitieminuten: 38%</a:t>
            </a:r>
          </a:p>
        </p:txBody>
      </p:sp>
      <p:sp>
        <p:nvSpPr>
          <p:cNvPr id="1083" name="TextBox 16"/>
          <p:cNvSpPr txBox="1"/>
          <p:nvPr/>
        </p:nvSpPr>
        <p:spPr>
          <a:xfrm>
            <a:off x="15775128" y="9568684"/>
            <a:ext cx="3348999" cy="707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Goal 3</a:t>
            </a:r>
          </a:p>
        </p:txBody>
      </p:sp>
      <p:sp>
        <p:nvSpPr>
          <p:cNvPr id="1084" name="**Minimaal 3 jaar in de academy…"/>
          <p:cNvSpPr txBox="1"/>
          <p:nvPr/>
        </p:nvSpPr>
        <p:spPr>
          <a:xfrm>
            <a:off x="458653" y="12996598"/>
            <a:ext cx="484336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1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**Minimaal 3 jaar in de academy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1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(Stan, Mees, Kevin, Danny, Nick, Sheddy, TJemme, Ilias)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3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TextBox 11"/>
          <p:cNvSpPr txBox="1"/>
          <p:nvPr/>
        </p:nvSpPr>
        <p:spPr>
          <a:xfrm>
            <a:off x="3436486" y="2190748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087" name="TextBox 37"/>
          <p:cNvSpPr txBox="1"/>
          <p:nvPr/>
        </p:nvSpPr>
        <p:spPr>
          <a:xfrm>
            <a:off x="2262943" y="839474"/>
            <a:ext cx="4440638" cy="65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5200"/>
              </a:lnSpc>
              <a:spcBef>
                <a:spcPts val="0"/>
              </a:spcBef>
              <a:defRPr b="1" sz="450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defRPr>
            </a:lvl1pPr>
          </a:lstStyle>
          <a:p>
            <a:pPr/>
            <a:r>
              <a:t>Player name</a:t>
            </a:r>
          </a:p>
        </p:txBody>
      </p:sp>
      <p:sp>
        <p:nvSpPr>
          <p:cNvPr id="1088" name="TextBox 23"/>
          <p:cNvSpPr txBox="1"/>
          <p:nvPr/>
        </p:nvSpPr>
        <p:spPr>
          <a:xfrm>
            <a:off x="18363004" y="584214"/>
            <a:ext cx="5467955" cy="3223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</p:txBody>
      </p:sp>
      <p:sp>
        <p:nvSpPr>
          <p:cNvPr id="1089" name="TextBox 11"/>
          <p:cNvSpPr txBox="1"/>
          <p:nvPr/>
        </p:nvSpPr>
        <p:spPr>
          <a:xfrm>
            <a:off x="3445861" y="294447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090" name="TextBox 11"/>
          <p:cNvSpPr txBox="1"/>
          <p:nvPr/>
        </p:nvSpPr>
        <p:spPr>
          <a:xfrm>
            <a:off x="3443265" y="3701887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091" name="TextBox 11"/>
          <p:cNvSpPr txBox="1"/>
          <p:nvPr/>
        </p:nvSpPr>
        <p:spPr>
          <a:xfrm>
            <a:off x="3468167" y="445930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092" name="TextBox 11"/>
          <p:cNvSpPr txBox="1"/>
          <p:nvPr/>
        </p:nvSpPr>
        <p:spPr>
          <a:xfrm>
            <a:off x="3468167" y="5211678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093" name="TextBox 11"/>
          <p:cNvSpPr txBox="1"/>
          <p:nvPr/>
        </p:nvSpPr>
        <p:spPr>
          <a:xfrm>
            <a:off x="3468167" y="5945826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094" name="TextBox 11"/>
          <p:cNvSpPr txBox="1"/>
          <p:nvPr/>
        </p:nvSpPr>
        <p:spPr>
          <a:xfrm>
            <a:off x="3468167" y="6678032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095" name="TextBox 11"/>
          <p:cNvSpPr txBox="1"/>
          <p:nvPr/>
        </p:nvSpPr>
        <p:spPr>
          <a:xfrm>
            <a:off x="11203802" y="1088478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096" name="TextBox 11"/>
          <p:cNvSpPr txBox="1"/>
          <p:nvPr/>
        </p:nvSpPr>
        <p:spPr>
          <a:xfrm>
            <a:off x="11203802" y="1806760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097" name="TextBox 11"/>
          <p:cNvSpPr txBox="1"/>
          <p:nvPr/>
        </p:nvSpPr>
        <p:spPr>
          <a:xfrm>
            <a:off x="11203802" y="2611665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098" name="TextBox 11"/>
          <p:cNvSpPr txBox="1"/>
          <p:nvPr/>
        </p:nvSpPr>
        <p:spPr>
          <a:xfrm>
            <a:off x="11203802" y="3370677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099" name="TextBox 11"/>
          <p:cNvSpPr txBox="1"/>
          <p:nvPr/>
        </p:nvSpPr>
        <p:spPr>
          <a:xfrm>
            <a:off x="13587460" y="1088478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00" name="TextBox 11"/>
          <p:cNvSpPr txBox="1"/>
          <p:nvPr/>
        </p:nvSpPr>
        <p:spPr>
          <a:xfrm>
            <a:off x="13587460" y="1806760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01" name="TextBox 11"/>
          <p:cNvSpPr txBox="1"/>
          <p:nvPr/>
        </p:nvSpPr>
        <p:spPr>
          <a:xfrm>
            <a:off x="13587460" y="2611665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02" name="TextBox 11"/>
          <p:cNvSpPr txBox="1"/>
          <p:nvPr/>
        </p:nvSpPr>
        <p:spPr>
          <a:xfrm>
            <a:off x="13587460" y="3370677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03" name="xxxx"/>
          <p:cNvSpPr txBox="1"/>
          <p:nvPr/>
        </p:nvSpPr>
        <p:spPr>
          <a:xfrm>
            <a:off x="19741483" y="9664487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104" name="xxxx"/>
          <p:cNvSpPr txBox="1"/>
          <p:nvPr/>
        </p:nvSpPr>
        <p:spPr>
          <a:xfrm>
            <a:off x="19741483" y="10420204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105" name="xxxx"/>
          <p:cNvSpPr txBox="1"/>
          <p:nvPr/>
        </p:nvSpPr>
        <p:spPr>
          <a:xfrm>
            <a:off x="19741483" y="11197829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106" name="xxxx"/>
          <p:cNvSpPr txBox="1"/>
          <p:nvPr/>
        </p:nvSpPr>
        <p:spPr>
          <a:xfrm>
            <a:off x="19753848" y="11925556"/>
            <a:ext cx="3576987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107" name="xxxx"/>
          <p:cNvSpPr txBox="1"/>
          <p:nvPr/>
        </p:nvSpPr>
        <p:spPr>
          <a:xfrm>
            <a:off x="19753848" y="12652539"/>
            <a:ext cx="3576987" cy="39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1108" name="TextBox 31"/>
          <p:cNvSpPr txBox="1"/>
          <p:nvPr/>
        </p:nvSpPr>
        <p:spPr>
          <a:xfrm>
            <a:off x="8032505" y="9220708"/>
            <a:ext cx="7940022" cy="342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09" name="TextBox 11"/>
          <p:cNvSpPr txBox="1"/>
          <p:nvPr/>
        </p:nvSpPr>
        <p:spPr>
          <a:xfrm>
            <a:off x="3468167" y="7435014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10" name="TextBox 11"/>
          <p:cNvSpPr txBox="1"/>
          <p:nvPr/>
        </p:nvSpPr>
        <p:spPr>
          <a:xfrm>
            <a:off x="3468015" y="8147343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1111" name="xx"/>
          <p:cNvSpPr/>
          <p:nvPr/>
        </p:nvSpPr>
        <p:spPr>
          <a:xfrm>
            <a:off x="8372141" y="5119587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7.0</a:t>
            </a:r>
          </a:p>
        </p:txBody>
      </p:sp>
      <p:sp>
        <p:nvSpPr>
          <p:cNvPr id="1112" name="xx%"/>
          <p:cNvSpPr/>
          <p:nvPr/>
        </p:nvSpPr>
        <p:spPr>
          <a:xfrm>
            <a:off x="12695199" y="5123876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xx%</a:t>
            </a:r>
          </a:p>
        </p:txBody>
      </p:sp>
      <p:sp>
        <p:nvSpPr>
          <p:cNvPr id="1113" name="DATE: DD-MM-JJJJ"/>
          <p:cNvSpPr txBox="1"/>
          <p:nvPr/>
        </p:nvSpPr>
        <p:spPr>
          <a:xfrm>
            <a:off x="4875976" y="268498"/>
            <a:ext cx="26770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DATE: DD-MM-JJJJ</a:t>
            </a:r>
          </a:p>
        </p:txBody>
      </p:sp>
      <p:sp>
        <p:nvSpPr>
          <p:cNvPr id="1114" name="MOED"/>
          <p:cNvSpPr txBox="1"/>
          <p:nvPr/>
        </p:nvSpPr>
        <p:spPr>
          <a:xfrm>
            <a:off x="16838432" y="7061357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MOED</a:t>
            </a:r>
          </a:p>
        </p:txBody>
      </p:sp>
      <p:sp>
        <p:nvSpPr>
          <p:cNvPr id="1115" name="Wendbaarheid"/>
          <p:cNvSpPr txBox="1"/>
          <p:nvPr/>
        </p:nvSpPr>
        <p:spPr>
          <a:xfrm>
            <a:off x="16856595" y="6555277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Wendbaarheid</a:t>
            </a:r>
          </a:p>
        </p:txBody>
      </p:sp>
      <p:sp>
        <p:nvSpPr>
          <p:cNvPr id="1116" name="Bal verwerking"/>
          <p:cNvSpPr txBox="1"/>
          <p:nvPr/>
        </p:nvSpPr>
        <p:spPr>
          <a:xfrm>
            <a:off x="16856595" y="6037170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Bal verwerking</a:t>
            </a:r>
          </a:p>
        </p:txBody>
      </p:sp>
      <p:sp>
        <p:nvSpPr>
          <p:cNvPr id="1117" name="Voorkomen vs verdedigen"/>
          <p:cNvSpPr txBox="1"/>
          <p:nvPr/>
        </p:nvSpPr>
        <p:spPr>
          <a:xfrm>
            <a:off x="16856595" y="5493119"/>
            <a:ext cx="3000827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Voorkomen vs verdedigen</a:t>
            </a:r>
          </a:p>
        </p:txBody>
      </p:sp>
      <p:sp>
        <p:nvSpPr>
          <p:cNvPr id="1118" name="Balbehandeling"/>
          <p:cNvSpPr txBox="1"/>
          <p:nvPr/>
        </p:nvSpPr>
        <p:spPr>
          <a:xfrm>
            <a:off x="16856595" y="4962312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Balbehandeling</a:t>
            </a:r>
          </a:p>
        </p:txBody>
      </p:sp>
      <p:sp>
        <p:nvSpPr>
          <p:cNvPr id="1119" name="Star"/>
          <p:cNvSpPr/>
          <p:nvPr/>
        </p:nvSpPr>
        <p:spPr>
          <a:xfrm>
            <a:off x="20512512" y="704224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0" name="Star"/>
          <p:cNvSpPr/>
          <p:nvPr/>
        </p:nvSpPr>
        <p:spPr>
          <a:xfrm>
            <a:off x="20851100" y="704224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1" name="Star"/>
          <p:cNvSpPr/>
          <p:nvPr/>
        </p:nvSpPr>
        <p:spPr>
          <a:xfrm>
            <a:off x="21189691" y="704224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2" name="Star"/>
          <p:cNvSpPr/>
          <p:nvPr/>
        </p:nvSpPr>
        <p:spPr>
          <a:xfrm>
            <a:off x="21528279" y="704224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3" name="Star"/>
          <p:cNvSpPr/>
          <p:nvPr/>
        </p:nvSpPr>
        <p:spPr>
          <a:xfrm>
            <a:off x="21862129" y="704224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4" name="Star"/>
          <p:cNvSpPr/>
          <p:nvPr/>
        </p:nvSpPr>
        <p:spPr>
          <a:xfrm>
            <a:off x="22200717" y="704224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5" name="Star"/>
          <p:cNvSpPr/>
          <p:nvPr/>
        </p:nvSpPr>
        <p:spPr>
          <a:xfrm>
            <a:off x="22539307" y="7042243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6" name="Star"/>
          <p:cNvSpPr/>
          <p:nvPr/>
        </p:nvSpPr>
        <p:spPr>
          <a:xfrm>
            <a:off x="22877896" y="704224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7" name="Star"/>
          <p:cNvSpPr/>
          <p:nvPr/>
        </p:nvSpPr>
        <p:spPr>
          <a:xfrm>
            <a:off x="23212485" y="704224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8" name="Star"/>
          <p:cNvSpPr/>
          <p:nvPr/>
        </p:nvSpPr>
        <p:spPr>
          <a:xfrm>
            <a:off x="23551074" y="7042243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9" name="Star"/>
          <p:cNvSpPr/>
          <p:nvPr/>
        </p:nvSpPr>
        <p:spPr>
          <a:xfrm>
            <a:off x="20516318" y="6537452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0" name="Star"/>
          <p:cNvSpPr/>
          <p:nvPr/>
        </p:nvSpPr>
        <p:spPr>
          <a:xfrm>
            <a:off x="20854906" y="6537452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1" name="Star"/>
          <p:cNvSpPr/>
          <p:nvPr/>
        </p:nvSpPr>
        <p:spPr>
          <a:xfrm>
            <a:off x="21193497" y="6537452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2" name="Star"/>
          <p:cNvSpPr/>
          <p:nvPr/>
        </p:nvSpPr>
        <p:spPr>
          <a:xfrm>
            <a:off x="21532085" y="6537452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3" name="Star"/>
          <p:cNvSpPr/>
          <p:nvPr/>
        </p:nvSpPr>
        <p:spPr>
          <a:xfrm>
            <a:off x="21865935" y="6537452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4" name="Star"/>
          <p:cNvSpPr/>
          <p:nvPr/>
        </p:nvSpPr>
        <p:spPr>
          <a:xfrm>
            <a:off x="22204523" y="6537452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5" name="Star"/>
          <p:cNvSpPr/>
          <p:nvPr/>
        </p:nvSpPr>
        <p:spPr>
          <a:xfrm>
            <a:off x="22543113" y="6537452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6" name="Star"/>
          <p:cNvSpPr/>
          <p:nvPr/>
        </p:nvSpPr>
        <p:spPr>
          <a:xfrm>
            <a:off x="22881702" y="6537452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7" name="Star"/>
          <p:cNvSpPr/>
          <p:nvPr/>
        </p:nvSpPr>
        <p:spPr>
          <a:xfrm>
            <a:off x="23216291" y="6537452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8" name="Star"/>
          <p:cNvSpPr/>
          <p:nvPr/>
        </p:nvSpPr>
        <p:spPr>
          <a:xfrm>
            <a:off x="23554880" y="6537452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9" name="Star"/>
          <p:cNvSpPr/>
          <p:nvPr/>
        </p:nvSpPr>
        <p:spPr>
          <a:xfrm>
            <a:off x="20521565" y="549052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0" name="Star"/>
          <p:cNvSpPr/>
          <p:nvPr/>
        </p:nvSpPr>
        <p:spPr>
          <a:xfrm>
            <a:off x="20860154" y="549052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1" name="Star"/>
          <p:cNvSpPr/>
          <p:nvPr/>
        </p:nvSpPr>
        <p:spPr>
          <a:xfrm>
            <a:off x="21198743" y="549052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2" name="Star"/>
          <p:cNvSpPr/>
          <p:nvPr/>
        </p:nvSpPr>
        <p:spPr>
          <a:xfrm>
            <a:off x="21537331" y="549052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3" name="Star"/>
          <p:cNvSpPr/>
          <p:nvPr/>
        </p:nvSpPr>
        <p:spPr>
          <a:xfrm>
            <a:off x="21871182" y="549052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4" name="Star"/>
          <p:cNvSpPr/>
          <p:nvPr/>
        </p:nvSpPr>
        <p:spPr>
          <a:xfrm>
            <a:off x="22209771" y="549052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5" name="Star"/>
          <p:cNvSpPr/>
          <p:nvPr/>
        </p:nvSpPr>
        <p:spPr>
          <a:xfrm>
            <a:off x="22548360" y="549052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6" name="Star"/>
          <p:cNvSpPr/>
          <p:nvPr/>
        </p:nvSpPr>
        <p:spPr>
          <a:xfrm>
            <a:off x="22886948" y="549052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7" name="Star"/>
          <p:cNvSpPr/>
          <p:nvPr/>
        </p:nvSpPr>
        <p:spPr>
          <a:xfrm>
            <a:off x="23221539" y="549052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8" name="Star"/>
          <p:cNvSpPr/>
          <p:nvPr/>
        </p:nvSpPr>
        <p:spPr>
          <a:xfrm>
            <a:off x="23560127" y="549052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9" name="Star"/>
          <p:cNvSpPr/>
          <p:nvPr/>
        </p:nvSpPr>
        <p:spPr>
          <a:xfrm>
            <a:off x="20521565" y="602340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0" name="Star"/>
          <p:cNvSpPr/>
          <p:nvPr/>
        </p:nvSpPr>
        <p:spPr>
          <a:xfrm>
            <a:off x="20860154" y="602340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1" name="Star"/>
          <p:cNvSpPr/>
          <p:nvPr/>
        </p:nvSpPr>
        <p:spPr>
          <a:xfrm>
            <a:off x="21198743" y="602340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2" name="Star"/>
          <p:cNvSpPr/>
          <p:nvPr/>
        </p:nvSpPr>
        <p:spPr>
          <a:xfrm>
            <a:off x="21537331" y="602340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3" name="Star"/>
          <p:cNvSpPr/>
          <p:nvPr/>
        </p:nvSpPr>
        <p:spPr>
          <a:xfrm>
            <a:off x="21871182" y="602340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4" name="Star"/>
          <p:cNvSpPr/>
          <p:nvPr/>
        </p:nvSpPr>
        <p:spPr>
          <a:xfrm>
            <a:off x="22209771" y="602340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5" name="Star"/>
          <p:cNvSpPr/>
          <p:nvPr/>
        </p:nvSpPr>
        <p:spPr>
          <a:xfrm>
            <a:off x="22548360" y="602340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6" name="Star"/>
          <p:cNvSpPr/>
          <p:nvPr/>
        </p:nvSpPr>
        <p:spPr>
          <a:xfrm>
            <a:off x="22886948" y="602340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7" name="Star"/>
          <p:cNvSpPr/>
          <p:nvPr/>
        </p:nvSpPr>
        <p:spPr>
          <a:xfrm>
            <a:off x="23221539" y="6023405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8" name="Star"/>
          <p:cNvSpPr/>
          <p:nvPr/>
        </p:nvSpPr>
        <p:spPr>
          <a:xfrm>
            <a:off x="23560127" y="6023405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9" name="Star"/>
          <p:cNvSpPr/>
          <p:nvPr/>
        </p:nvSpPr>
        <p:spPr>
          <a:xfrm>
            <a:off x="20521565" y="4960334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0" name="Star"/>
          <p:cNvSpPr/>
          <p:nvPr/>
        </p:nvSpPr>
        <p:spPr>
          <a:xfrm>
            <a:off x="20860154" y="4960334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1" name="Star"/>
          <p:cNvSpPr/>
          <p:nvPr/>
        </p:nvSpPr>
        <p:spPr>
          <a:xfrm>
            <a:off x="21198743" y="4960334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2" name="Star"/>
          <p:cNvSpPr/>
          <p:nvPr/>
        </p:nvSpPr>
        <p:spPr>
          <a:xfrm>
            <a:off x="21537331" y="4960334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3" name="Star"/>
          <p:cNvSpPr/>
          <p:nvPr/>
        </p:nvSpPr>
        <p:spPr>
          <a:xfrm>
            <a:off x="21871182" y="4960334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4" name="Star"/>
          <p:cNvSpPr/>
          <p:nvPr/>
        </p:nvSpPr>
        <p:spPr>
          <a:xfrm>
            <a:off x="22209771" y="4960334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5" name="Star"/>
          <p:cNvSpPr/>
          <p:nvPr/>
        </p:nvSpPr>
        <p:spPr>
          <a:xfrm>
            <a:off x="22548360" y="4960334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6" name="Star"/>
          <p:cNvSpPr/>
          <p:nvPr/>
        </p:nvSpPr>
        <p:spPr>
          <a:xfrm>
            <a:off x="22886948" y="4960334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7" name="Star"/>
          <p:cNvSpPr/>
          <p:nvPr/>
        </p:nvSpPr>
        <p:spPr>
          <a:xfrm>
            <a:off x="23221539" y="4960334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8" name="Star"/>
          <p:cNvSpPr/>
          <p:nvPr/>
        </p:nvSpPr>
        <p:spPr>
          <a:xfrm>
            <a:off x="23560127" y="4960334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1171" name="9"/>
          <p:cNvGrpSpPr/>
          <p:nvPr/>
        </p:nvGrpSpPr>
        <p:grpSpPr>
          <a:xfrm>
            <a:off x="5636046" y="9988295"/>
            <a:ext cx="369517" cy="383519"/>
            <a:chOff x="0" y="0"/>
            <a:chExt cx="369516" cy="383518"/>
          </a:xfrm>
        </p:grpSpPr>
        <p:sp>
          <p:nvSpPr>
            <p:cNvPr id="1169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70" name="9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1174" name="11"/>
          <p:cNvGrpSpPr/>
          <p:nvPr/>
        </p:nvGrpSpPr>
        <p:grpSpPr>
          <a:xfrm>
            <a:off x="4831430" y="10316581"/>
            <a:ext cx="369517" cy="383519"/>
            <a:chOff x="0" y="0"/>
            <a:chExt cx="369516" cy="383518"/>
          </a:xfrm>
        </p:grpSpPr>
        <p:sp>
          <p:nvSpPr>
            <p:cNvPr id="1172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73" name="1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11</a:t>
              </a:r>
            </a:p>
          </p:txBody>
        </p:sp>
      </p:grpSp>
      <p:grpSp>
        <p:nvGrpSpPr>
          <p:cNvPr id="1177" name="7"/>
          <p:cNvGrpSpPr/>
          <p:nvPr/>
        </p:nvGrpSpPr>
        <p:grpSpPr>
          <a:xfrm>
            <a:off x="6440658" y="10316581"/>
            <a:ext cx="369517" cy="383519"/>
            <a:chOff x="0" y="0"/>
            <a:chExt cx="369516" cy="383518"/>
          </a:xfrm>
        </p:grpSpPr>
        <p:sp>
          <p:nvSpPr>
            <p:cNvPr id="1175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76" name="7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180" name="8"/>
          <p:cNvGrpSpPr/>
          <p:nvPr/>
        </p:nvGrpSpPr>
        <p:grpSpPr>
          <a:xfrm>
            <a:off x="5244725" y="10893821"/>
            <a:ext cx="369517" cy="383519"/>
            <a:chOff x="0" y="0"/>
            <a:chExt cx="369516" cy="383518"/>
          </a:xfrm>
        </p:grpSpPr>
        <p:sp>
          <p:nvSpPr>
            <p:cNvPr id="1178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79" name="8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1183" name="6"/>
          <p:cNvGrpSpPr/>
          <p:nvPr/>
        </p:nvGrpSpPr>
        <p:grpSpPr>
          <a:xfrm>
            <a:off x="5636046" y="11377755"/>
            <a:ext cx="369517" cy="383519"/>
            <a:chOff x="0" y="0"/>
            <a:chExt cx="369516" cy="383518"/>
          </a:xfrm>
        </p:grpSpPr>
        <p:sp>
          <p:nvSpPr>
            <p:cNvPr id="1181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82" name="6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1186" name="5"/>
          <p:cNvGrpSpPr/>
          <p:nvPr/>
        </p:nvGrpSpPr>
        <p:grpSpPr>
          <a:xfrm>
            <a:off x="4778064" y="11609513"/>
            <a:ext cx="369517" cy="383519"/>
            <a:chOff x="0" y="0"/>
            <a:chExt cx="369516" cy="383518"/>
          </a:xfrm>
        </p:grpSpPr>
        <p:sp>
          <p:nvSpPr>
            <p:cNvPr id="1184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85" name="5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189" name="2"/>
          <p:cNvGrpSpPr/>
          <p:nvPr/>
        </p:nvGrpSpPr>
        <p:grpSpPr>
          <a:xfrm>
            <a:off x="6511809" y="11609513"/>
            <a:ext cx="369517" cy="383519"/>
            <a:chOff x="0" y="0"/>
            <a:chExt cx="369516" cy="383518"/>
          </a:xfrm>
        </p:grpSpPr>
        <p:sp>
          <p:nvSpPr>
            <p:cNvPr id="1187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88" name="2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192" name="4"/>
          <p:cNvGrpSpPr/>
          <p:nvPr/>
        </p:nvGrpSpPr>
        <p:grpSpPr>
          <a:xfrm>
            <a:off x="5244725" y="11923923"/>
            <a:ext cx="369517" cy="383519"/>
            <a:chOff x="0" y="0"/>
            <a:chExt cx="369516" cy="383518"/>
          </a:xfrm>
        </p:grpSpPr>
        <p:sp>
          <p:nvSpPr>
            <p:cNvPr id="1190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91" name="4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195" name="3"/>
          <p:cNvGrpSpPr/>
          <p:nvPr/>
        </p:nvGrpSpPr>
        <p:grpSpPr>
          <a:xfrm>
            <a:off x="6029723" y="11923923"/>
            <a:ext cx="369517" cy="383519"/>
            <a:chOff x="0" y="0"/>
            <a:chExt cx="369516" cy="383518"/>
          </a:xfrm>
        </p:grpSpPr>
        <p:sp>
          <p:nvSpPr>
            <p:cNvPr id="1193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94" name="3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198" name="1"/>
          <p:cNvGrpSpPr/>
          <p:nvPr/>
        </p:nvGrpSpPr>
        <p:grpSpPr>
          <a:xfrm>
            <a:off x="5636046" y="12531862"/>
            <a:ext cx="369517" cy="383519"/>
            <a:chOff x="0" y="0"/>
            <a:chExt cx="369516" cy="383518"/>
          </a:xfrm>
        </p:grpSpPr>
        <p:sp>
          <p:nvSpPr>
            <p:cNvPr id="1196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chemeClr val="accent3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197" name="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201" name="10"/>
          <p:cNvGrpSpPr/>
          <p:nvPr/>
        </p:nvGrpSpPr>
        <p:grpSpPr>
          <a:xfrm>
            <a:off x="5858298" y="10651021"/>
            <a:ext cx="369517" cy="383519"/>
            <a:chOff x="0" y="0"/>
            <a:chExt cx="369516" cy="383518"/>
          </a:xfrm>
        </p:grpSpPr>
        <p:sp>
          <p:nvSpPr>
            <p:cNvPr id="1199" name="Ov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200" name="10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10</a:t>
              </a:r>
            </a:p>
          </p:txBody>
        </p:sp>
      </p:grpSp>
      <p:sp>
        <p:nvSpPr>
          <p:cNvPr id="1202" name="TextBox 31"/>
          <p:cNvSpPr txBox="1"/>
          <p:nvPr/>
        </p:nvSpPr>
        <p:spPr>
          <a:xfrm>
            <a:off x="2609789" y="11554262"/>
            <a:ext cx="1556417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</p:txBody>
      </p:sp>
      <p:pic>
        <p:nvPicPr>
          <p:cNvPr id="1203" name="Logo_Scisports.png" descr="Logo_Scisports.png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rcRect l="37777" t="0" r="0" b="0"/>
          <a:stretch>
            <a:fillRect/>
          </a:stretch>
        </p:blipFill>
        <p:spPr>
          <a:xfrm>
            <a:off x="16586944" y="785320"/>
            <a:ext cx="922534" cy="510944"/>
          </a:xfrm>
          <a:prstGeom prst="rect">
            <a:avLst/>
          </a:prstGeom>
          <a:ln w="12700">
            <a:miter lim="400000"/>
          </a:ln>
        </p:spPr>
      </p:pic>
      <p:sp>
        <p:nvSpPr>
          <p:cNvPr id="1204" name="Browse…">
            <a:hlinkClick r:id="rId4" invalidUrl="" action="ppaction://hlinksldjump" tgtFrame="" tooltip="" history="1" highlightClick="0" endSnd="0"/>
          </p:cNvPr>
          <p:cNvSpPr/>
          <p:nvPr/>
        </p:nvSpPr>
        <p:spPr>
          <a:xfrm>
            <a:off x="463550" y="296333"/>
            <a:ext cx="1397069" cy="1397069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Browse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Foto</a:t>
            </a:r>
          </a:p>
        </p:txBody>
      </p:sp>
      <p:sp>
        <p:nvSpPr>
          <p:cNvPr id="1205" name="Onverstoorbaarheid"/>
          <p:cNvSpPr txBox="1"/>
          <p:nvPr/>
        </p:nvSpPr>
        <p:spPr>
          <a:xfrm>
            <a:off x="16838432" y="7520984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Onverstoorbaarheid</a:t>
            </a:r>
          </a:p>
        </p:txBody>
      </p:sp>
      <p:sp>
        <p:nvSpPr>
          <p:cNvPr id="1206" name="Star"/>
          <p:cNvSpPr/>
          <p:nvPr/>
        </p:nvSpPr>
        <p:spPr>
          <a:xfrm>
            <a:off x="20512512" y="750187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7" name="Star"/>
          <p:cNvSpPr/>
          <p:nvPr/>
        </p:nvSpPr>
        <p:spPr>
          <a:xfrm>
            <a:off x="20851100" y="7501870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8" name="Star"/>
          <p:cNvSpPr/>
          <p:nvPr/>
        </p:nvSpPr>
        <p:spPr>
          <a:xfrm>
            <a:off x="21189691" y="750187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9" name="Star"/>
          <p:cNvSpPr/>
          <p:nvPr/>
        </p:nvSpPr>
        <p:spPr>
          <a:xfrm>
            <a:off x="21528279" y="7501870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0" name="Star"/>
          <p:cNvSpPr/>
          <p:nvPr/>
        </p:nvSpPr>
        <p:spPr>
          <a:xfrm>
            <a:off x="21862129" y="750187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1" name="Star"/>
          <p:cNvSpPr/>
          <p:nvPr/>
        </p:nvSpPr>
        <p:spPr>
          <a:xfrm>
            <a:off x="22200717" y="7501870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2" name="Star"/>
          <p:cNvSpPr/>
          <p:nvPr/>
        </p:nvSpPr>
        <p:spPr>
          <a:xfrm>
            <a:off x="22539307" y="7501870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3" name="Star"/>
          <p:cNvSpPr/>
          <p:nvPr/>
        </p:nvSpPr>
        <p:spPr>
          <a:xfrm>
            <a:off x="22877896" y="750187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4" name="Star"/>
          <p:cNvSpPr/>
          <p:nvPr/>
        </p:nvSpPr>
        <p:spPr>
          <a:xfrm>
            <a:off x="23212485" y="750187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5" name="Star"/>
          <p:cNvSpPr/>
          <p:nvPr/>
        </p:nvSpPr>
        <p:spPr>
          <a:xfrm>
            <a:off x="23551074" y="7501870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6" name="GOALKeeper #01"/>
          <p:cNvSpPr txBox="1"/>
          <p:nvPr/>
        </p:nvSpPr>
        <p:spPr>
          <a:xfrm>
            <a:off x="374971" y="10045556"/>
            <a:ext cx="3265267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3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GOALKeeper #01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8" name="Tabel 1"/>
          <p:cNvGraphicFramePr/>
          <p:nvPr/>
        </p:nvGraphicFramePr>
        <p:xfrm>
          <a:off x="4052286" y="673006"/>
          <a:ext cx="17879300" cy="1238268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573319"/>
                <a:gridCol w="3573319"/>
                <a:gridCol w="4482413"/>
                <a:gridCol w="2664226"/>
                <a:gridCol w="3573319"/>
              </a:tblGrid>
              <a:tr h="1124544">
                <a:tc>
                  <a:txBody>
                    <a:bodyPr/>
                    <a:lstStyle/>
                    <a:p>
                      <a:pPr defTabSz="914400"/>
                      <a:r>
                        <a:rPr sz="2900"/>
                        <a:t>GK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900"/>
                        <a:t>Vermenigvuldigingsfactor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Resultaat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Handling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Voorkomen vs verdedigen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Bal verwerking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Wendbaarheid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MOED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Onverstoorbaarheid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>
                        <a:def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>
                        <a:def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Gemiddelde 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0.00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9"/>
          <p:cNvSpPr/>
          <p:nvPr/>
        </p:nvSpPr>
        <p:spPr>
          <a:xfrm>
            <a:off x="20427404" y="4955068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221" name="11"/>
          <p:cNvSpPr/>
          <p:nvPr/>
        </p:nvSpPr>
        <p:spPr>
          <a:xfrm>
            <a:off x="18995767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7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222" name="7"/>
          <p:cNvSpPr/>
          <p:nvPr/>
        </p:nvSpPr>
        <p:spPr>
          <a:xfrm>
            <a:off x="21859042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223" name="5"/>
          <p:cNvSpPr/>
          <p:nvPr/>
        </p:nvSpPr>
        <p:spPr>
          <a:xfrm>
            <a:off x="18900818" y="8341528"/>
            <a:ext cx="657473" cy="68238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224" name="2"/>
          <p:cNvSpPr/>
          <p:nvPr/>
        </p:nvSpPr>
        <p:spPr>
          <a:xfrm>
            <a:off x="21985640" y="8341528"/>
            <a:ext cx="657473" cy="68238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25" name="4"/>
          <p:cNvSpPr/>
          <p:nvPr/>
        </p:nvSpPr>
        <p:spPr>
          <a:xfrm>
            <a:off x="19731139" y="8900949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26" name="3"/>
          <p:cNvSpPr/>
          <p:nvPr/>
        </p:nvSpPr>
        <p:spPr>
          <a:xfrm>
            <a:off x="21127868" y="8900949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27" name="1"/>
          <p:cNvSpPr/>
          <p:nvPr/>
        </p:nvSpPr>
        <p:spPr>
          <a:xfrm>
            <a:off x="20427404" y="9762007"/>
            <a:ext cx="657473" cy="682385"/>
          </a:xfrm>
          <a:prstGeom prst="ellipse">
            <a:avLst/>
          </a:prstGeom>
          <a:solidFill>
            <a:srgbClr val="173883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28" name="6"/>
          <p:cNvSpPr/>
          <p:nvPr/>
        </p:nvSpPr>
        <p:spPr>
          <a:xfrm>
            <a:off x="20653123" y="7600564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229" name="8"/>
          <p:cNvSpPr/>
          <p:nvPr/>
        </p:nvSpPr>
        <p:spPr>
          <a:xfrm>
            <a:off x="19920776" y="6914048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230" name="10"/>
          <p:cNvSpPr/>
          <p:nvPr/>
        </p:nvSpPr>
        <p:spPr>
          <a:xfrm>
            <a:off x="20933539" y="6424333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6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231" name="TextBox 17">
            <a:hlinkClick r:id="rId2" invalidUrl="" action="ppaction://hlinksldjump" tgtFrame="" tooltip="" history="1" highlightClick="0" endSnd="0"/>
          </p:cNvPr>
          <p:cNvSpPr txBox="1"/>
          <p:nvPr/>
        </p:nvSpPr>
        <p:spPr>
          <a:xfrm>
            <a:off x="2681283" y="614927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Handling</a:t>
            </a:r>
          </a:p>
        </p:txBody>
      </p:sp>
      <p:sp>
        <p:nvSpPr>
          <p:cNvPr id="1232" name="TextBox 17">
            <a:hlinkClick r:id="rId3" invalidUrl="" action="ppaction://hlinksldjump" tgtFrame="" tooltip="" history="1" highlightClick="0" endSnd="0"/>
          </p:cNvPr>
          <p:cNvSpPr txBox="1"/>
          <p:nvPr/>
        </p:nvSpPr>
        <p:spPr>
          <a:xfrm>
            <a:off x="2700811" y="7046021"/>
            <a:ext cx="4370794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Voorkomen vs verdedigen</a:t>
            </a:r>
          </a:p>
        </p:txBody>
      </p:sp>
      <p:sp>
        <p:nvSpPr>
          <p:cNvPr id="1233" name="TextBox 17">
            <a:hlinkClick r:id="rId4" invalidUrl="" action="ppaction://hlinksldjump" tgtFrame="" tooltip="" history="1" highlightClick="0" endSnd="0"/>
          </p:cNvPr>
          <p:cNvSpPr txBox="1"/>
          <p:nvPr/>
        </p:nvSpPr>
        <p:spPr>
          <a:xfrm>
            <a:off x="2700811" y="9967987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Bal verwerking</a:t>
            </a:r>
          </a:p>
        </p:txBody>
      </p:sp>
      <p:sp>
        <p:nvSpPr>
          <p:cNvPr id="1234" name="TextBox 17">
            <a:hlinkClick r:id="rId5" invalidUrl="" action="ppaction://hlinksldjump" tgtFrame="" tooltip="" history="1" highlightClick="0" endSnd="0"/>
          </p:cNvPr>
          <p:cNvSpPr txBox="1"/>
          <p:nvPr/>
        </p:nvSpPr>
        <p:spPr>
          <a:xfrm>
            <a:off x="7588917" y="616832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Wendbaarheid</a:t>
            </a:r>
          </a:p>
        </p:txBody>
      </p:sp>
      <p:sp>
        <p:nvSpPr>
          <p:cNvPr id="1235" name="TextBox 17">
            <a:hlinkClick r:id="rId6" invalidUrl="" action="ppaction://hlinksldjump" tgtFrame="" tooltip="" history="1" highlightClick="0" endSnd="0"/>
          </p:cNvPr>
          <p:cNvSpPr txBox="1"/>
          <p:nvPr/>
        </p:nvSpPr>
        <p:spPr>
          <a:xfrm>
            <a:off x="12365868" y="615714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MOED</a:t>
            </a:r>
          </a:p>
        </p:txBody>
      </p:sp>
      <p:sp>
        <p:nvSpPr>
          <p:cNvPr id="1236" name="TextBox 17">
            <a:hlinkClick r:id="rId7" invalidUrl="" action="ppaction://hlinksldjump" tgtFrame="" tooltip="" history="1" highlightClick="0" endSnd="0"/>
          </p:cNvPr>
          <p:cNvSpPr txBox="1"/>
          <p:nvPr/>
        </p:nvSpPr>
        <p:spPr>
          <a:xfrm>
            <a:off x="12421113" y="9967987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Onverstoorbaarheid</a:t>
            </a:r>
          </a:p>
        </p:txBody>
      </p:sp>
      <p:sp>
        <p:nvSpPr>
          <p:cNvPr id="1237" name="Goalkeeper #01"/>
          <p:cNvSpPr txBox="1"/>
          <p:nvPr/>
        </p:nvSpPr>
        <p:spPr>
          <a:xfrm>
            <a:off x="2585137" y="43415"/>
            <a:ext cx="11134958" cy="9271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" dist="57611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700">
              <a:lnSpc>
                <a:spcPct val="60000"/>
              </a:lnSpc>
              <a:spcBef>
                <a:spcPts val="0"/>
              </a:spcBef>
              <a:defRPr b="1" cap="all" sz="6000">
                <a:solidFill>
                  <a:srgbClr val="18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Goalkeeper #01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TextBox 31"/>
          <p:cNvSpPr txBox="1"/>
          <p:nvPr/>
        </p:nvSpPr>
        <p:spPr>
          <a:xfrm>
            <a:off x="469900" y="4585372"/>
            <a:ext cx="4887608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de 16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Buiten de 16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 op 1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Standaard situaties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 kiezen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240" name="TextBox 30"/>
          <p:cNvSpPr txBox="1"/>
          <p:nvPr/>
        </p:nvSpPr>
        <p:spPr>
          <a:xfrm>
            <a:off x="240575" y="2700670"/>
            <a:ext cx="589102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“Houdt veel ballen tegen”</a:t>
            </a:r>
          </a:p>
        </p:txBody>
      </p:sp>
      <p:sp>
        <p:nvSpPr>
          <p:cNvPr id="1241" name="TextBox 17"/>
          <p:cNvSpPr txBox="1"/>
          <p:nvPr/>
        </p:nvSpPr>
        <p:spPr>
          <a:xfrm>
            <a:off x="242426" y="121369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Handling</a:t>
            </a:r>
          </a:p>
        </p:txBody>
      </p:sp>
      <p:sp>
        <p:nvSpPr>
          <p:cNvPr id="1242" name="TextBox 31"/>
          <p:cNvSpPr txBox="1"/>
          <p:nvPr/>
        </p:nvSpPr>
        <p:spPr>
          <a:xfrm>
            <a:off x="6439242" y="4585372"/>
            <a:ext cx="4887609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Positie kiezen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Coaching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Keuzes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Vervolg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243" name="TextBox 30"/>
          <p:cNvSpPr txBox="1"/>
          <p:nvPr/>
        </p:nvSpPr>
        <p:spPr>
          <a:xfrm>
            <a:off x="6232100" y="229899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“Lezen, anticiperen en reageren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op 1vs1, diepte bespelen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en flankballen”</a:t>
            </a:r>
          </a:p>
        </p:txBody>
      </p:sp>
      <p:sp>
        <p:nvSpPr>
          <p:cNvPr id="1244" name="TextBox 17"/>
          <p:cNvSpPr txBox="1"/>
          <p:nvPr/>
        </p:nvSpPr>
        <p:spPr>
          <a:xfrm>
            <a:off x="6233952" y="1294610"/>
            <a:ext cx="5878328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1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Voorkomen vs verdedigen</a:t>
            </a:r>
          </a:p>
        </p:txBody>
      </p:sp>
      <p:sp>
        <p:nvSpPr>
          <p:cNvPr id="1245" name="TextBox 30"/>
          <p:cNvSpPr txBox="1"/>
          <p:nvPr/>
        </p:nvSpPr>
        <p:spPr>
          <a:xfrm>
            <a:off x="12222267" y="2705390"/>
            <a:ext cx="589102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“Uittrappen, passen en gooien”</a:t>
            </a:r>
          </a:p>
        </p:txBody>
      </p:sp>
      <p:sp>
        <p:nvSpPr>
          <p:cNvPr id="1246" name="TextBox 17"/>
          <p:cNvSpPr txBox="1"/>
          <p:nvPr/>
        </p:nvSpPr>
        <p:spPr>
          <a:xfrm>
            <a:off x="12224118" y="12311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BAL Verwerking</a:t>
            </a:r>
          </a:p>
        </p:txBody>
      </p:sp>
      <p:sp>
        <p:nvSpPr>
          <p:cNvPr id="1247" name="TextBox 31"/>
          <p:cNvSpPr txBox="1"/>
          <p:nvPr/>
        </p:nvSpPr>
        <p:spPr>
          <a:xfrm>
            <a:off x="12440273" y="4585372"/>
            <a:ext cx="5102071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van acties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Type passes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pc="-53"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 / armen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 &amp; 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 &amp; hoogte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248" name="TextBox 31"/>
          <p:cNvSpPr txBox="1"/>
          <p:nvPr/>
        </p:nvSpPr>
        <p:spPr>
          <a:xfrm>
            <a:off x="18441305" y="4585372"/>
            <a:ext cx="3780774" cy="19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(Reactie) 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Voetenwerk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Balans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Zwaartepunt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Richtingsverandering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249" name="TextBox 30"/>
          <p:cNvSpPr txBox="1"/>
          <p:nvPr/>
        </p:nvSpPr>
        <p:spPr>
          <a:xfrm>
            <a:off x="18203191" y="2339630"/>
            <a:ext cx="5891026" cy="1137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“Snel en effectief de </a:t>
            </a:r>
          </a:p>
          <a:p>
            <a: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lichaamspositie- en richting </a:t>
            </a:r>
          </a:p>
          <a:p>
            <a: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kunnen veranderen”</a:t>
            </a:r>
          </a:p>
        </p:txBody>
      </p:sp>
      <p:sp>
        <p:nvSpPr>
          <p:cNvPr id="1250" name="TextBox 17"/>
          <p:cNvSpPr txBox="1"/>
          <p:nvPr/>
        </p:nvSpPr>
        <p:spPr>
          <a:xfrm>
            <a:off x="18205043" y="12311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wendbaarheid</a:t>
            </a:r>
          </a:p>
        </p:txBody>
      </p:sp>
      <p:sp>
        <p:nvSpPr>
          <p:cNvPr id="1251" name="TextBox 30"/>
          <p:cNvSpPr txBox="1"/>
          <p:nvPr/>
        </p:nvSpPr>
        <p:spPr>
          <a:xfrm>
            <a:off x="550879" y="8758218"/>
            <a:ext cx="535931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“Volhouden van de positie specifieke voetbalacties”</a:t>
            </a:r>
          </a:p>
        </p:txBody>
      </p:sp>
      <p:sp>
        <p:nvSpPr>
          <p:cNvPr id="1252" name="TextBox 17"/>
          <p:cNvSpPr txBox="1"/>
          <p:nvPr/>
        </p:nvSpPr>
        <p:spPr>
          <a:xfrm>
            <a:off x="263590" y="7474438"/>
            <a:ext cx="5883091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MOED</a:t>
            </a:r>
          </a:p>
        </p:txBody>
      </p:sp>
      <p:sp>
        <p:nvSpPr>
          <p:cNvPr id="1253" name="TextBox 31"/>
          <p:cNvSpPr txBox="1"/>
          <p:nvPr/>
        </p:nvSpPr>
        <p:spPr>
          <a:xfrm>
            <a:off x="480211" y="10841514"/>
            <a:ext cx="2750188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Initiatief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Risico’s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Vrijheid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Verrassen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Creativiteit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Vrijuit spelen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Zelfvertrouwen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254" name="TextBox 31"/>
          <p:cNvSpPr txBox="1"/>
          <p:nvPr/>
        </p:nvSpPr>
        <p:spPr>
          <a:xfrm>
            <a:off x="6445592" y="10841514"/>
            <a:ext cx="3780774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Stabiel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Beïnvloeden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Solide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 control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Bewust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Reactie na een fout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Omgaan met stress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255" name="TextBox 30"/>
          <p:cNvSpPr txBox="1"/>
          <p:nvPr/>
        </p:nvSpPr>
        <p:spPr>
          <a:xfrm>
            <a:off x="6231304" y="8761565"/>
            <a:ext cx="5891026" cy="748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25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“Voert zijn taken uit ongeacht de omstandigheden”</a:t>
            </a:r>
          </a:p>
        </p:txBody>
      </p:sp>
      <p:sp>
        <p:nvSpPr>
          <p:cNvPr id="1256" name="TextBox 17"/>
          <p:cNvSpPr txBox="1"/>
          <p:nvPr/>
        </p:nvSpPr>
        <p:spPr>
          <a:xfrm>
            <a:off x="6233156" y="745810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Onverstoorbaarheid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259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0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1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2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3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4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5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6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7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8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269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270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273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4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5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6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7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8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9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0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1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2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283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284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287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8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9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90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91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92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93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94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95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96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297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298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301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02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03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04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05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06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07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08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09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10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311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312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315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16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17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18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19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20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21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22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23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24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325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326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329" name="Sta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30" name="Sta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31" name="Sta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32" name="Sta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33" name="Sta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34" name="Sta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35" name="Sta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36" name="Sta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37" name="Sta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38" name="Sta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D932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339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340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TextBox 28"/>
          <p:cNvSpPr txBox="1"/>
          <p:nvPr/>
        </p:nvSpPr>
        <p:spPr>
          <a:xfrm>
            <a:off x="15307991" y="8777643"/>
            <a:ext cx="194797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rgbClr val="2769C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